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9144000" cy="5143500"/>
  <p:embeddedFontLst>
    <p:embeddedFont>
      <p:font typeface="Helvetica Neue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670ED99-9BB0-4FEE-93D4-62966059A4D6}">
  <a:tblStyle styleId="{2670ED99-9BB0-4FEE-93D4-62966059A4D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HelveticaNeue-bold.fntdata"/><Relationship Id="rId16" Type="http://schemas.openxmlformats.org/officeDocument/2006/relationships/font" Target="fonts/HelveticaNeue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HelveticaNeue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HelveticaNeue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7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8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9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9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obj">
  <p:cSld name="OBJECT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/>
          <p:nvPr/>
        </p:nvSpPr>
        <p:spPr>
          <a:xfrm>
            <a:off x="0" y="0"/>
            <a:ext cx="9144000" cy="4434840"/>
          </a:xfrm>
          <a:custGeom>
            <a:rect b="b" l="l" r="r" t="t"/>
            <a:pathLst>
              <a:path extrusionOk="0" h="4434840" w="9144000">
                <a:moveTo>
                  <a:pt x="0" y="4434839"/>
                </a:moveTo>
                <a:lnTo>
                  <a:pt x="9143999" y="4434839"/>
                </a:lnTo>
                <a:lnTo>
                  <a:pt x="9143999" y="0"/>
                </a:lnTo>
                <a:lnTo>
                  <a:pt x="0" y="0"/>
                </a:lnTo>
                <a:lnTo>
                  <a:pt x="0" y="4434839"/>
                </a:lnTo>
                <a:close/>
              </a:path>
            </a:pathLst>
          </a:custGeom>
          <a:solidFill>
            <a:srgbClr val="0D1B2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6217920" y="0"/>
            <a:ext cx="2926080" cy="4114800"/>
          </a:xfrm>
          <a:custGeom>
            <a:rect b="b" l="l" r="r" t="t"/>
            <a:pathLst>
              <a:path extrusionOk="0" h="4114800" w="2926079">
                <a:moveTo>
                  <a:pt x="2514599" y="4114799"/>
                </a:moveTo>
                <a:lnTo>
                  <a:pt x="2466262" y="4114344"/>
                </a:lnTo>
                <a:lnTo>
                  <a:pt x="2418146" y="4112984"/>
                </a:lnTo>
                <a:lnTo>
                  <a:pt x="2370259" y="4110726"/>
                </a:lnTo>
                <a:lnTo>
                  <a:pt x="2322610" y="4107580"/>
                </a:lnTo>
                <a:lnTo>
                  <a:pt x="2275207" y="4103552"/>
                </a:lnTo>
                <a:lnTo>
                  <a:pt x="2228058" y="4098653"/>
                </a:lnTo>
                <a:lnTo>
                  <a:pt x="2181172" y="4092888"/>
                </a:lnTo>
                <a:lnTo>
                  <a:pt x="2134555" y="4086268"/>
                </a:lnTo>
                <a:lnTo>
                  <a:pt x="2088217" y="4078799"/>
                </a:lnTo>
                <a:lnTo>
                  <a:pt x="2042165" y="4070490"/>
                </a:lnTo>
                <a:lnTo>
                  <a:pt x="1996409" y="4061349"/>
                </a:lnTo>
                <a:lnTo>
                  <a:pt x="1950955" y="4051384"/>
                </a:lnTo>
                <a:lnTo>
                  <a:pt x="1905812" y="4040604"/>
                </a:lnTo>
                <a:lnTo>
                  <a:pt x="1860988" y="4029016"/>
                </a:lnTo>
                <a:lnTo>
                  <a:pt x="1816492" y="4016629"/>
                </a:lnTo>
                <a:lnTo>
                  <a:pt x="1772330" y="4003451"/>
                </a:lnTo>
                <a:lnTo>
                  <a:pt x="1728513" y="3989489"/>
                </a:lnTo>
                <a:lnTo>
                  <a:pt x="1685047" y="3974753"/>
                </a:lnTo>
                <a:lnTo>
                  <a:pt x="1641941" y="3959249"/>
                </a:lnTo>
                <a:lnTo>
                  <a:pt x="1599203" y="3942987"/>
                </a:lnTo>
                <a:lnTo>
                  <a:pt x="1556841" y="3925975"/>
                </a:lnTo>
                <a:lnTo>
                  <a:pt x="1514863" y="3908220"/>
                </a:lnTo>
                <a:lnTo>
                  <a:pt x="1473278" y="3889731"/>
                </a:lnTo>
                <a:lnTo>
                  <a:pt x="1432093" y="3870516"/>
                </a:lnTo>
                <a:lnTo>
                  <a:pt x="1391317" y="3850582"/>
                </a:lnTo>
                <a:lnTo>
                  <a:pt x="1350958" y="3829939"/>
                </a:lnTo>
                <a:lnTo>
                  <a:pt x="1311023" y="3808595"/>
                </a:lnTo>
                <a:lnTo>
                  <a:pt x="1271522" y="3786556"/>
                </a:lnTo>
                <a:lnTo>
                  <a:pt x="1232462" y="3763833"/>
                </a:lnTo>
                <a:lnTo>
                  <a:pt x="1193851" y="3740432"/>
                </a:lnTo>
                <a:lnTo>
                  <a:pt x="1155698" y="3716362"/>
                </a:lnTo>
                <a:lnTo>
                  <a:pt x="1118011" y="3691630"/>
                </a:lnTo>
                <a:lnTo>
                  <a:pt x="1080797" y="3666246"/>
                </a:lnTo>
                <a:lnTo>
                  <a:pt x="1044065" y="3640218"/>
                </a:lnTo>
                <a:lnTo>
                  <a:pt x="1007823" y="3613552"/>
                </a:lnTo>
                <a:lnTo>
                  <a:pt x="972080" y="3586259"/>
                </a:lnTo>
                <a:lnTo>
                  <a:pt x="936843" y="3558345"/>
                </a:lnTo>
                <a:lnTo>
                  <a:pt x="902120" y="3529819"/>
                </a:lnTo>
                <a:lnTo>
                  <a:pt x="867920" y="3500688"/>
                </a:lnTo>
                <a:lnTo>
                  <a:pt x="834251" y="3470962"/>
                </a:lnTo>
                <a:lnTo>
                  <a:pt x="801120" y="3440648"/>
                </a:lnTo>
                <a:lnTo>
                  <a:pt x="768537" y="3409755"/>
                </a:lnTo>
                <a:lnTo>
                  <a:pt x="736509" y="3378290"/>
                </a:lnTo>
                <a:lnTo>
                  <a:pt x="705044" y="3346262"/>
                </a:lnTo>
                <a:lnTo>
                  <a:pt x="674150" y="3313679"/>
                </a:lnTo>
                <a:lnTo>
                  <a:pt x="643837" y="3280548"/>
                </a:lnTo>
                <a:lnTo>
                  <a:pt x="614111" y="3246879"/>
                </a:lnTo>
                <a:lnTo>
                  <a:pt x="584980" y="3212679"/>
                </a:lnTo>
                <a:lnTo>
                  <a:pt x="556454" y="3177956"/>
                </a:lnTo>
                <a:lnTo>
                  <a:pt x="528540" y="3142719"/>
                </a:lnTo>
                <a:lnTo>
                  <a:pt x="501246" y="3106975"/>
                </a:lnTo>
                <a:lnTo>
                  <a:pt x="474581" y="3070734"/>
                </a:lnTo>
                <a:lnTo>
                  <a:pt x="448552" y="3034002"/>
                </a:lnTo>
                <a:lnTo>
                  <a:pt x="423169" y="2996788"/>
                </a:lnTo>
                <a:lnTo>
                  <a:pt x="398437" y="2959101"/>
                </a:lnTo>
                <a:lnTo>
                  <a:pt x="374367" y="2920947"/>
                </a:lnTo>
                <a:lnTo>
                  <a:pt x="350966" y="2882337"/>
                </a:lnTo>
                <a:lnTo>
                  <a:pt x="328243" y="2843277"/>
                </a:lnTo>
                <a:lnTo>
                  <a:pt x="306204" y="2803775"/>
                </a:lnTo>
                <a:lnTo>
                  <a:pt x="284860" y="2763841"/>
                </a:lnTo>
                <a:lnTo>
                  <a:pt x="264216" y="2723482"/>
                </a:lnTo>
                <a:lnTo>
                  <a:pt x="244283" y="2682706"/>
                </a:lnTo>
                <a:lnTo>
                  <a:pt x="225068" y="2641521"/>
                </a:lnTo>
                <a:lnTo>
                  <a:pt x="206579" y="2599936"/>
                </a:lnTo>
                <a:lnTo>
                  <a:pt x="188824" y="2557958"/>
                </a:lnTo>
                <a:lnTo>
                  <a:pt x="171812" y="2515596"/>
                </a:lnTo>
                <a:lnTo>
                  <a:pt x="155550" y="2472858"/>
                </a:lnTo>
                <a:lnTo>
                  <a:pt x="140046" y="2429752"/>
                </a:lnTo>
                <a:lnTo>
                  <a:pt x="125310" y="2386286"/>
                </a:lnTo>
                <a:lnTo>
                  <a:pt x="111348" y="2342468"/>
                </a:lnTo>
                <a:lnTo>
                  <a:pt x="98170" y="2298307"/>
                </a:lnTo>
                <a:lnTo>
                  <a:pt x="85783" y="2253811"/>
                </a:lnTo>
                <a:lnTo>
                  <a:pt x="74195" y="2208987"/>
                </a:lnTo>
                <a:lnTo>
                  <a:pt x="63415" y="2163844"/>
                </a:lnTo>
                <a:lnTo>
                  <a:pt x="53450" y="2118390"/>
                </a:lnTo>
                <a:lnTo>
                  <a:pt x="44309" y="2072633"/>
                </a:lnTo>
                <a:lnTo>
                  <a:pt x="36000" y="2026582"/>
                </a:lnTo>
                <a:lnTo>
                  <a:pt x="28531" y="1980244"/>
                </a:lnTo>
                <a:lnTo>
                  <a:pt x="21911" y="1933627"/>
                </a:lnTo>
                <a:lnTo>
                  <a:pt x="16146" y="1886741"/>
                </a:lnTo>
                <a:lnTo>
                  <a:pt x="11246" y="1839592"/>
                </a:lnTo>
                <a:lnTo>
                  <a:pt x="7219" y="1792189"/>
                </a:lnTo>
                <a:lnTo>
                  <a:pt x="4073" y="1744540"/>
                </a:lnTo>
                <a:lnTo>
                  <a:pt x="1815" y="1696653"/>
                </a:lnTo>
                <a:lnTo>
                  <a:pt x="455" y="1648537"/>
                </a:lnTo>
                <a:lnTo>
                  <a:pt x="0" y="1600199"/>
                </a:lnTo>
                <a:lnTo>
                  <a:pt x="455" y="1551862"/>
                </a:lnTo>
                <a:lnTo>
                  <a:pt x="1815" y="1503746"/>
                </a:lnTo>
                <a:lnTo>
                  <a:pt x="4073" y="1455859"/>
                </a:lnTo>
                <a:lnTo>
                  <a:pt x="7219" y="1408210"/>
                </a:lnTo>
                <a:lnTo>
                  <a:pt x="11246" y="1360807"/>
                </a:lnTo>
                <a:lnTo>
                  <a:pt x="16146" y="1313658"/>
                </a:lnTo>
                <a:lnTo>
                  <a:pt x="21911" y="1266772"/>
                </a:lnTo>
                <a:lnTo>
                  <a:pt x="28531" y="1220155"/>
                </a:lnTo>
                <a:lnTo>
                  <a:pt x="36000" y="1173817"/>
                </a:lnTo>
                <a:lnTo>
                  <a:pt x="44309" y="1127766"/>
                </a:lnTo>
                <a:lnTo>
                  <a:pt x="53450" y="1082009"/>
                </a:lnTo>
                <a:lnTo>
                  <a:pt x="63415" y="1036555"/>
                </a:lnTo>
                <a:lnTo>
                  <a:pt x="74195" y="991412"/>
                </a:lnTo>
                <a:lnTo>
                  <a:pt x="85783" y="946588"/>
                </a:lnTo>
                <a:lnTo>
                  <a:pt x="98170" y="902092"/>
                </a:lnTo>
                <a:lnTo>
                  <a:pt x="111348" y="857931"/>
                </a:lnTo>
                <a:lnTo>
                  <a:pt x="125310" y="814113"/>
                </a:lnTo>
                <a:lnTo>
                  <a:pt x="140046" y="770647"/>
                </a:lnTo>
                <a:lnTo>
                  <a:pt x="155550" y="727541"/>
                </a:lnTo>
                <a:lnTo>
                  <a:pt x="171812" y="684803"/>
                </a:lnTo>
                <a:lnTo>
                  <a:pt x="188824" y="642441"/>
                </a:lnTo>
                <a:lnTo>
                  <a:pt x="206579" y="600463"/>
                </a:lnTo>
                <a:lnTo>
                  <a:pt x="225068" y="558878"/>
                </a:lnTo>
                <a:lnTo>
                  <a:pt x="244283" y="517693"/>
                </a:lnTo>
                <a:lnTo>
                  <a:pt x="264216" y="476917"/>
                </a:lnTo>
                <a:lnTo>
                  <a:pt x="284860" y="436558"/>
                </a:lnTo>
                <a:lnTo>
                  <a:pt x="306204" y="396624"/>
                </a:lnTo>
                <a:lnTo>
                  <a:pt x="328243" y="357122"/>
                </a:lnTo>
                <a:lnTo>
                  <a:pt x="350966" y="318062"/>
                </a:lnTo>
                <a:lnTo>
                  <a:pt x="374367" y="279452"/>
                </a:lnTo>
                <a:lnTo>
                  <a:pt x="398437" y="241298"/>
                </a:lnTo>
                <a:lnTo>
                  <a:pt x="423169" y="203611"/>
                </a:lnTo>
                <a:lnTo>
                  <a:pt x="448552" y="166397"/>
                </a:lnTo>
                <a:lnTo>
                  <a:pt x="474581" y="129665"/>
                </a:lnTo>
                <a:lnTo>
                  <a:pt x="501246" y="93424"/>
                </a:lnTo>
                <a:lnTo>
                  <a:pt x="528540" y="57680"/>
                </a:lnTo>
                <a:lnTo>
                  <a:pt x="556454" y="22443"/>
                </a:lnTo>
                <a:lnTo>
                  <a:pt x="574892" y="0"/>
                </a:lnTo>
                <a:lnTo>
                  <a:pt x="2926080" y="0"/>
                </a:lnTo>
                <a:lnTo>
                  <a:pt x="2926080" y="4081201"/>
                </a:lnTo>
                <a:lnTo>
                  <a:pt x="2894644" y="4086268"/>
                </a:lnTo>
                <a:lnTo>
                  <a:pt x="2848027" y="4092888"/>
                </a:lnTo>
                <a:lnTo>
                  <a:pt x="2801141" y="4098653"/>
                </a:lnTo>
                <a:lnTo>
                  <a:pt x="2753992" y="4103552"/>
                </a:lnTo>
                <a:lnTo>
                  <a:pt x="2706589" y="4107580"/>
                </a:lnTo>
                <a:lnTo>
                  <a:pt x="2658940" y="4110726"/>
                </a:lnTo>
                <a:lnTo>
                  <a:pt x="2611053" y="4112984"/>
                </a:lnTo>
                <a:lnTo>
                  <a:pt x="2562937" y="4114344"/>
                </a:lnTo>
                <a:lnTo>
                  <a:pt x="2514599" y="4114799"/>
                </a:lnTo>
                <a:close/>
              </a:path>
            </a:pathLst>
          </a:custGeom>
          <a:solidFill>
            <a:srgbClr val="C0382B">
              <a:alpha val="18039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6217920" y="0"/>
            <a:ext cx="2926080" cy="4114800"/>
          </a:xfrm>
          <a:custGeom>
            <a:rect b="b" l="l" r="r" t="t"/>
            <a:pathLst>
              <a:path extrusionOk="0" h="4114800" w="2926079">
                <a:moveTo>
                  <a:pt x="2926080" y="4081201"/>
                </a:moveTo>
                <a:lnTo>
                  <a:pt x="2848027" y="4092888"/>
                </a:lnTo>
                <a:lnTo>
                  <a:pt x="2801141" y="4098653"/>
                </a:lnTo>
                <a:lnTo>
                  <a:pt x="2753992" y="4103552"/>
                </a:lnTo>
                <a:lnTo>
                  <a:pt x="2706589" y="4107580"/>
                </a:lnTo>
                <a:lnTo>
                  <a:pt x="2658940" y="4110726"/>
                </a:lnTo>
                <a:lnTo>
                  <a:pt x="2611053" y="4112984"/>
                </a:lnTo>
                <a:lnTo>
                  <a:pt x="2562937" y="4114344"/>
                </a:lnTo>
                <a:lnTo>
                  <a:pt x="2514599" y="4114799"/>
                </a:lnTo>
                <a:lnTo>
                  <a:pt x="2466262" y="4114344"/>
                </a:lnTo>
                <a:lnTo>
                  <a:pt x="2418146" y="4112984"/>
                </a:lnTo>
                <a:lnTo>
                  <a:pt x="2370259" y="4110726"/>
                </a:lnTo>
                <a:lnTo>
                  <a:pt x="2322610" y="4107580"/>
                </a:lnTo>
                <a:lnTo>
                  <a:pt x="2275207" y="4103552"/>
                </a:lnTo>
                <a:lnTo>
                  <a:pt x="2228058" y="4098653"/>
                </a:lnTo>
                <a:lnTo>
                  <a:pt x="2181172" y="4092888"/>
                </a:lnTo>
                <a:lnTo>
                  <a:pt x="2134555" y="4086268"/>
                </a:lnTo>
                <a:lnTo>
                  <a:pt x="2088217" y="4078799"/>
                </a:lnTo>
                <a:lnTo>
                  <a:pt x="2042165" y="4070490"/>
                </a:lnTo>
                <a:lnTo>
                  <a:pt x="1996409" y="4061349"/>
                </a:lnTo>
                <a:lnTo>
                  <a:pt x="1950955" y="4051384"/>
                </a:lnTo>
                <a:lnTo>
                  <a:pt x="1905812" y="4040604"/>
                </a:lnTo>
                <a:lnTo>
                  <a:pt x="1860988" y="4029016"/>
                </a:lnTo>
                <a:lnTo>
                  <a:pt x="1816492" y="4016629"/>
                </a:lnTo>
                <a:lnTo>
                  <a:pt x="1772330" y="4003451"/>
                </a:lnTo>
                <a:lnTo>
                  <a:pt x="1728513" y="3989489"/>
                </a:lnTo>
                <a:lnTo>
                  <a:pt x="1685047" y="3974753"/>
                </a:lnTo>
                <a:lnTo>
                  <a:pt x="1641941" y="3959249"/>
                </a:lnTo>
                <a:lnTo>
                  <a:pt x="1599203" y="3942987"/>
                </a:lnTo>
                <a:lnTo>
                  <a:pt x="1556841" y="3925975"/>
                </a:lnTo>
                <a:lnTo>
                  <a:pt x="1514863" y="3908220"/>
                </a:lnTo>
                <a:lnTo>
                  <a:pt x="1473278" y="3889731"/>
                </a:lnTo>
                <a:lnTo>
                  <a:pt x="1432093" y="3870516"/>
                </a:lnTo>
                <a:lnTo>
                  <a:pt x="1391317" y="3850582"/>
                </a:lnTo>
                <a:lnTo>
                  <a:pt x="1350958" y="3829939"/>
                </a:lnTo>
                <a:lnTo>
                  <a:pt x="1311023" y="3808595"/>
                </a:lnTo>
                <a:lnTo>
                  <a:pt x="1271522" y="3786556"/>
                </a:lnTo>
                <a:lnTo>
                  <a:pt x="1232462" y="3763833"/>
                </a:lnTo>
                <a:lnTo>
                  <a:pt x="1193851" y="3740432"/>
                </a:lnTo>
                <a:lnTo>
                  <a:pt x="1155698" y="3716362"/>
                </a:lnTo>
                <a:lnTo>
                  <a:pt x="1118011" y="3691630"/>
                </a:lnTo>
                <a:lnTo>
                  <a:pt x="1080797" y="3666246"/>
                </a:lnTo>
                <a:lnTo>
                  <a:pt x="1044065" y="3640218"/>
                </a:lnTo>
                <a:lnTo>
                  <a:pt x="1007823" y="3613552"/>
                </a:lnTo>
                <a:lnTo>
                  <a:pt x="972080" y="3586259"/>
                </a:lnTo>
                <a:lnTo>
                  <a:pt x="936843" y="3558345"/>
                </a:lnTo>
                <a:lnTo>
                  <a:pt x="902120" y="3529819"/>
                </a:lnTo>
                <a:lnTo>
                  <a:pt x="867920" y="3500688"/>
                </a:lnTo>
                <a:lnTo>
                  <a:pt x="834251" y="3470962"/>
                </a:lnTo>
                <a:lnTo>
                  <a:pt x="801120" y="3440648"/>
                </a:lnTo>
                <a:lnTo>
                  <a:pt x="768537" y="3409755"/>
                </a:lnTo>
                <a:lnTo>
                  <a:pt x="736509" y="3378290"/>
                </a:lnTo>
                <a:lnTo>
                  <a:pt x="705044" y="3346262"/>
                </a:lnTo>
                <a:lnTo>
                  <a:pt x="674150" y="3313679"/>
                </a:lnTo>
                <a:lnTo>
                  <a:pt x="643837" y="3280548"/>
                </a:lnTo>
                <a:lnTo>
                  <a:pt x="614111" y="3246879"/>
                </a:lnTo>
                <a:lnTo>
                  <a:pt x="584980" y="3212679"/>
                </a:lnTo>
                <a:lnTo>
                  <a:pt x="556454" y="3177956"/>
                </a:lnTo>
                <a:lnTo>
                  <a:pt x="528540" y="3142719"/>
                </a:lnTo>
                <a:lnTo>
                  <a:pt x="501246" y="3106975"/>
                </a:lnTo>
                <a:lnTo>
                  <a:pt x="474581" y="3070734"/>
                </a:lnTo>
                <a:lnTo>
                  <a:pt x="448552" y="3034002"/>
                </a:lnTo>
                <a:lnTo>
                  <a:pt x="423169" y="2996788"/>
                </a:lnTo>
                <a:lnTo>
                  <a:pt x="398437" y="2959101"/>
                </a:lnTo>
                <a:lnTo>
                  <a:pt x="374367" y="2920947"/>
                </a:lnTo>
                <a:lnTo>
                  <a:pt x="350966" y="2882337"/>
                </a:lnTo>
                <a:lnTo>
                  <a:pt x="328243" y="2843277"/>
                </a:lnTo>
                <a:lnTo>
                  <a:pt x="306204" y="2803775"/>
                </a:lnTo>
                <a:lnTo>
                  <a:pt x="284860" y="2763841"/>
                </a:lnTo>
                <a:lnTo>
                  <a:pt x="264216" y="2723482"/>
                </a:lnTo>
                <a:lnTo>
                  <a:pt x="244283" y="2682706"/>
                </a:lnTo>
                <a:lnTo>
                  <a:pt x="225068" y="2641521"/>
                </a:lnTo>
                <a:lnTo>
                  <a:pt x="206579" y="2599936"/>
                </a:lnTo>
                <a:lnTo>
                  <a:pt x="188824" y="2557958"/>
                </a:lnTo>
                <a:lnTo>
                  <a:pt x="171812" y="2515596"/>
                </a:lnTo>
                <a:lnTo>
                  <a:pt x="155550" y="2472858"/>
                </a:lnTo>
                <a:lnTo>
                  <a:pt x="140046" y="2429752"/>
                </a:lnTo>
                <a:lnTo>
                  <a:pt x="125310" y="2386286"/>
                </a:lnTo>
                <a:lnTo>
                  <a:pt x="111348" y="2342468"/>
                </a:lnTo>
                <a:lnTo>
                  <a:pt x="98170" y="2298307"/>
                </a:lnTo>
                <a:lnTo>
                  <a:pt x="85783" y="2253811"/>
                </a:lnTo>
                <a:lnTo>
                  <a:pt x="74195" y="2208987"/>
                </a:lnTo>
                <a:lnTo>
                  <a:pt x="63415" y="2163844"/>
                </a:lnTo>
                <a:lnTo>
                  <a:pt x="53450" y="2118390"/>
                </a:lnTo>
                <a:lnTo>
                  <a:pt x="44309" y="2072633"/>
                </a:lnTo>
                <a:lnTo>
                  <a:pt x="36000" y="2026582"/>
                </a:lnTo>
                <a:lnTo>
                  <a:pt x="28531" y="1980244"/>
                </a:lnTo>
                <a:lnTo>
                  <a:pt x="21911" y="1933627"/>
                </a:lnTo>
                <a:lnTo>
                  <a:pt x="16146" y="1886741"/>
                </a:lnTo>
                <a:lnTo>
                  <a:pt x="11246" y="1839592"/>
                </a:lnTo>
                <a:lnTo>
                  <a:pt x="7219" y="1792189"/>
                </a:lnTo>
                <a:lnTo>
                  <a:pt x="4073" y="1744540"/>
                </a:lnTo>
                <a:lnTo>
                  <a:pt x="1815" y="1696653"/>
                </a:lnTo>
                <a:lnTo>
                  <a:pt x="455" y="1648537"/>
                </a:lnTo>
                <a:lnTo>
                  <a:pt x="0" y="1600199"/>
                </a:lnTo>
                <a:lnTo>
                  <a:pt x="455" y="1551862"/>
                </a:lnTo>
                <a:lnTo>
                  <a:pt x="1815" y="1503746"/>
                </a:lnTo>
                <a:lnTo>
                  <a:pt x="4073" y="1455859"/>
                </a:lnTo>
                <a:lnTo>
                  <a:pt x="7219" y="1408210"/>
                </a:lnTo>
                <a:lnTo>
                  <a:pt x="11246" y="1360807"/>
                </a:lnTo>
                <a:lnTo>
                  <a:pt x="16146" y="1313658"/>
                </a:lnTo>
                <a:lnTo>
                  <a:pt x="21911" y="1266772"/>
                </a:lnTo>
                <a:lnTo>
                  <a:pt x="28531" y="1220155"/>
                </a:lnTo>
                <a:lnTo>
                  <a:pt x="36000" y="1173817"/>
                </a:lnTo>
                <a:lnTo>
                  <a:pt x="44309" y="1127766"/>
                </a:lnTo>
                <a:lnTo>
                  <a:pt x="53450" y="1082009"/>
                </a:lnTo>
                <a:lnTo>
                  <a:pt x="63415" y="1036555"/>
                </a:lnTo>
                <a:lnTo>
                  <a:pt x="74195" y="991412"/>
                </a:lnTo>
                <a:lnTo>
                  <a:pt x="85783" y="946588"/>
                </a:lnTo>
                <a:lnTo>
                  <a:pt x="98170" y="902092"/>
                </a:lnTo>
                <a:lnTo>
                  <a:pt x="111348" y="857931"/>
                </a:lnTo>
                <a:lnTo>
                  <a:pt x="125310" y="814113"/>
                </a:lnTo>
                <a:lnTo>
                  <a:pt x="140046" y="770647"/>
                </a:lnTo>
                <a:lnTo>
                  <a:pt x="155550" y="727541"/>
                </a:lnTo>
                <a:lnTo>
                  <a:pt x="171812" y="684803"/>
                </a:lnTo>
                <a:lnTo>
                  <a:pt x="188824" y="642441"/>
                </a:lnTo>
                <a:lnTo>
                  <a:pt x="206579" y="600463"/>
                </a:lnTo>
                <a:lnTo>
                  <a:pt x="225068" y="558878"/>
                </a:lnTo>
                <a:lnTo>
                  <a:pt x="244283" y="517693"/>
                </a:lnTo>
                <a:lnTo>
                  <a:pt x="264216" y="476917"/>
                </a:lnTo>
                <a:lnTo>
                  <a:pt x="284860" y="436558"/>
                </a:lnTo>
                <a:lnTo>
                  <a:pt x="306204" y="396624"/>
                </a:lnTo>
                <a:lnTo>
                  <a:pt x="328243" y="357122"/>
                </a:lnTo>
                <a:lnTo>
                  <a:pt x="350966" y="318062"/>
                </a:lnTo>
                <a:lnTo>
                  <a:pt x="374367" y="279452"/>
                </a:lnTo>
                <a:lnTo>
                  <a:pt x="398437" y="241298"/>
                </a:lnTo>
                <a:lnTo>
                  <a:pt x="423169" y="203611"/>
                </a:lnTo>
                <a:lnTo>
                  <a:pt x="448552" y="166397"/>
                </a:lnTo>
                <a:lnTo>
                  <a:pt x="474581" y="129665"/>
                </a:lnTo>
                <a:lnTo>
                  <a:pt x="501246" y="93424"/>
                </a:lnTo>
                <a:lnTo>
                  <a:pt x="528540" y="57680"/>
                </a:lnTo>
                <a:lnTo>
                  <a:pt x="556454" y="22443"/>
                </a:lnTo>
                <a:lnTo>
                  <a:pt x="574892" y="0"/>
                </a:lnTo>
              </a:path>
            </a:pathLst>
          </a:custGeom>
          <a:noFill/>
          <a:ln cap="flat" cmpd="sng" w="12675">
            <a:solidFill>
              <a:srgbClr val="C038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6675119" y="0"/>
            <a:ext cx="2468880" cy="3657600"/>
          </a:xfrm>
          <a:custGeom>
            <a:rect b="b" l="l" r="r" t="t"/>
            <a:pathLst>
              <a:path extrusionOk="0" h="3657600" w="2468879">
                <a:moveTo>
                  <a:pt x="2057399" y="3657599"/>
                </a:moveTo>
                <a:lnTo>
                  <a:pt x="2008836" y="3657038"/>
                </a:lnTo>
                <a:lnTo>
                  <a:pt x="1960548" y="3655360"/>
                </a:lnTo>
                <a:lnTo>
                  <a:pt x="1912549" y="3652579"/>
                </a:lnTo>
                <a:lnTo>
                  <a:pt x="1864849" y="3648708"/>
                </a:lnTo>
                <a:lnTo>
                  <a:pt x="1817463" y="3643758"/>
                </a:lnTo>
                <a:lnTo>
                  <a:pt x="1770402" y="3637742"/>
                </a:lnTo>
                <a:lnTo>
                  <a:pt x="1723678" y="3630672"/>
                </a:lnTo>
                <a:lnTo>
                  <a:pt x="1677305" y="3622560"/>
                </a:lnTo>
                <a:lnTo>
                  <a:pt x="1631293" y="3613419"/>
                </a:lnTo>
                <a:lnTo>
                  <a:pt x="1585657" y="3603262"/>
                </a:lnTo>
                <a:lnTo>
                  <a:pt x="1540407" y="3592100"/>
                </a:lnTo>
                <a:lnTo>
                  <a:pt x="1495556" y="3579946"/>
                </a:lnTo>
                <a:lnTo>
                  <a:pt x="1451117" y="3566813"/>
                </a:lnTo>
                <a:lnTo>
                  <a:pt x="1407102" y="3552712"/>
                </a:lnTo>
                <a:lnTo>
                  <a:pt x="1363523" y="3537656"/>
                </a:lnTo>
                <a:lnTo>
                  <a:pt x="1320393" y="3521657"/>
                </a:lnTo>
                <a:lnTo>
                  <a:pt x="1277724" y="3504728"/>
                </a:lnTo>
                <a:lnTo>
                  <a:pt x="1235529" y="3486881"/>
                </a:lnTo>
                <a:lnTo>
                  <a:pt x="1193819" y="3468129"/>
                </a:lnTo>
                <a:lnTo>
                  <a:pt x="1152607" y="3448483"/>
                </a:lnTo>
                <a:lnTo>
                  <a:pt x="1111906" y="3427956"/>
                </a:lnTo>
                <a:lnTo>
                  <a:pt x="1071727" y="3406561"/>
                </a:lnTo>
                <a:lnTo>
                  <a:pt x="1032084" y="3384309"/>
                </a:lnTo>
                <a:lnTo>
                  <a:pt x="992988" y="3361214"/>
                </a:lnTo>
                <a:lnTo>
                  <a:pt x="954452" y="3337287"/>
                </a:lnTo>
                <a:lnTo>
                  <a:pt x="916488" y="3312541"/>
                </a:lnTo>
                <a:lnTo>
                  <a:pt x="879108" y="3286988"/>
                </a:lnTo>
                <a:lnTo>
                  <a:pt x="842326" y="3260641"/>
                </a:lnTo>
                <a:lnTo>
                  <a:pt x="806152" y="3233511"/>
                </a:lnTo>
                <a:lnTo>
                  <a:pt x="770601" y="3205612"/>
                </a:lnTo>
                <a:lnTo>
                  <a:pt x="735683" y="3176955"/>
                </a:lnTo>
                <a:lnTo>
                  <a:pt x="701411" y="3147553"/>
                </a:lnTo>
                <a:lnTo>
                  <a:pt x="667798" y="3117419"/>
                </a:lnTo>
                <a:lnTo>
                  <a:pt x="634857" y="3086564"/>
                </a:lnTo>
                <a:lnTo>
                  <a:pt x="602598" y="3055001"/>
                </a:lnTo>
                <a:lnTo>
                  <a:pt x="571035" y="3022742"/>
                </a:lnTo>
                <a:lnTo>
                  <a:pt x="540180" y="2989800"/>
                </a:lnTo>
                <a:lnTo>
                  <a:pt x="510046" y="2956188"/>
                </a:lnTo>
                <a:lnTo>
                  <a:pt x="480644" y="2921916"/>
                </a:lnTo>
                <a:lnTo>
                  <a:pt x="451987" y="2886998"/>
                </a:lnTo>
                <a:lnTo>
                  <a:pt x="424088" y="2851447"/>
                </a:lnTo>
                <a:lnTo>
                  <a:pt x="396958" y="2815273"/>
                </a:lnTo>
                <a:lnTo>
                  <a:pt x="370611" y="2778491"/>
                </a:lnTo>
                <a:lnTo>
                  <a:pt x="345058" y="2741111"/>
                </a:lnTo>
                <a:lnTo>
                  <a:pt x="320312" y="2703147"/>
                </a:lnTo>
                <a:lnTo>
                  <a:pt x="296385" y="2664611"/>
                </a:lnTo>
                <a:lnTo>
                  <a:pt x="273290" y="2625515"/>
                </a:lnTo>
                <a:lnTo>
                  <a:pt x="251038" y="2585872"/>
                </a:lnTo>
                <a:lnTo>
                  <a:pt x="229643" y="2545693"/>
                </a:lnTo>
                <a:lnTo>
                  <a:pt x="209116" y="2504992"/>
                </a:lnTo>
                <a:lnTo>
                  <a:pt x="189470" y="2463780"/>
                </a:lnTo>
                <a:lnTo>
                  <a:pt x="170718" y="2422070"/>
                </a:lnTo>
                <a:lnTo>
                  <a:pt x="152871" y="2379875"/>
                </a:lnTo>
                <a:lnTo>
                  <a:pt x="135942" y="2337206"/>
                </a:lnTo>
                <a:lnTo>
                  <a:pt x="119943" y="2294076"/>
                </a:lnTo>
                <a:lnTo>
                  <a:pt x="104887" y="2250497"/>
                </a:lnTo>
                <a:lnTo>
                  <a:pt x="90786" y="2206482"/>
                </a:lnTo>
                <a:lnTo>
                  <a:pt x="77653" y="2162043"/>
                </a:lnTo>
                <a:lnTo>
                  <a:pt x="65499" y="2117192"/>
                </a:lnTo>
                <a:lnTo>
                  <a:pt x="54337" y="2071942"/>
                </a:lnTo>
                <a:lnTo>
                  <a:pt x="44180" y="2026306"/>
                </a:lnTo>
                <a:lnTo>
                  <a:pt x="35039" y="1980294"/>
                </a:lnTo>
                <a:lnTo>
                  <a:pt x="26927" y="1933920"/>
                </a:lnTo>
                <a:lnTo>
                  <a:pt x="19857" y="1887197"/>
                </a:lnTo>
                <a:lnTo>
                  <a:pt x="13841" y="1840136"/>
                </a:lnTo>
                <a:lnTo>
                  <a:pt x="8891" y="1792750"/>
                </a:lnTo>
                <a:lnTo>
                  <a:pt x="5020" y="1745050"/>
                </a:lnTo>
                <a:lnTo>
                  <a:pt x="2239" y="1697051"/>
                </a:lnTo>
                <a:lnTo>
                  <a:pt x="561" y="1648763"/>
                </a:lnTo>
                <a:lnTo>
                  <a:pt x="0" y="1600199"/>
                </a:lnTo>
                <a:lnTo>
                  <a:pt x="561" y="1551636"/>
                </a:lnTo>
                <a:lnTo>
                  <a:pt x="2239" y="1503348"/>
                </a:lnTo>
                <a:lnTo>
                  <a:pt x="5020" y="1455349"/>
                </a:lnTo>
                <a:lnTo>
                  <a:pt x="8891" y="1407649"/>
                </a:lnTo>
                <a:lnTo>
                  <a:pt x="13841" y="1360263"/>
                </a:lnTo>
                <a:lnTo>
                  <a:pt x="19857" y="1313202"/>
                </a:lnTo>
                <a:lnTo>
                  <a:pt x="26927" y="1266479"/>
                </a:lnTo>
                <a:lnTo>
                  <a:pt x="35039" y="1220105"/>
                </a:lnTo>
                <a:lnTo>
                  <a:pt x="44180" y="1174093"/>
                </a:lnTo>
                <a:lnTo>
                  <a:pt x="54337" y="1128457"/>
                </a:lnTo>
                <a:lnTo>
                  <a:pt x="65499" y="1083207"/>
                </a:lnTo>
                <a:lnTo>
                  <a:pt x="77653" y="1038356"/>
                </a:lnTo>
                <a:lnTo>
                  <a:pt x="90786" y="993917"/>
                </a:lnTo>
                <a:lnTo>
                  <a:pt x="104887" y="949902"/>
                </a:lnTo>
                <a:lnTo>
                  <a:pt x="119943" y="906323"/>
                </a:lnTo>
                <a:lnTo>
                  <a:pt x="135942" y="863193"/>
                </a:lnTo>
                <a:lnTo>
                  <a:pt x="152871" y="820524"/>
                </a:lnTo>
                <a:lnTo>
                  <a:pt x="170718" y="778329"/>
                </a:lnTo>
                <a:lnTo>
                  <a:pt x="189470" y="736619"/>
                </a:lnTo>
                <a:lnTo>
                  <a:pt x="209116" y="695407"/>
                </a:lnTo>
                <a:lnTo>
                  <a:pt x="229643" y="654706"/>
                </a:lnTo>
                <a:lnTo>
                  <a:pt x="251038" y="614527"/>
                </a:lnTo>
                <a:lnTo>
                  <a:pt x="273290" y="574884"/>
                </a:lnTo>
                <a:lnTo>
                  <a:pt x="296385" y="535788"/>
                </a:lnTo>
                <a:lnTo>
                  <a:pt x="320312" y="497252"/>
                </a:lnTo>
                <a:lnTo>
                  <a:pt x="345058" y="459288"/>
                </a:lnTo>
                <a:lnTo>
                  <a:pt x="370611" y="421908"/>
                </a:lnTo>
                <a:lnTo>
                  <a:pt x="396958" y="385126"/>
                </a:lnTo>
                <a:lnTo>
                  <a:pt x="424088" y="348952"/>
                </a:lnTo>
                <a:lnTo>
                  <a:pt x="451987" y="313401"/>
                </a:lnTo>
                <a:lnTo>
                  <a:pt x="480644" y="278483"/>
                </a:lnTo>
                <a:lnTo>
                  <a:pt x="510046" y="244211"/>
                </a:lnTo>
                <a:lnTo>
                  <a:pt x="540180" y="210599"/>
                </a:lnTo>
                <a:lnTo>
                  <a:pt x="571035" y="177657"/>
                </a:lnTo>
                <a:lnTo>
                  <a:pt x="602598" y="145398"/>
                </a:lnTo>
                <a:lnTo>
                  <a:pt x="634857" y="113835"/>
                </a:lnTo>
                <a:lnTo>
                  <a:pt x="667798" y="82980"/>
                </a:lnTo>
                <a:lnTo>
                  <a:pt x="701411" y="52846"/>
                </a:lnTo>
                <a:lnTo>
                  <a:pt x="735683" y="23444"/>
                </a:lnTo>
                <a:lnTo>
                  <a:pt x="764250" y="0"/>
                </a:lnTo>
                <a:lnTo>
                  <a:pt x="2468880" y="0"/>
                </a:lnTo>
                <a:lnTo>
                  <a:pt x="2468880" y="3616325"/>
                </a:lnTo>
                <a:lnTo>
                  <a:pt x="2437494" y="3622560"/>
                </a:lnTo>
                <a:lnTo>
                  <a:pt x="2391120" y="3630672"/>
                </a:lnTo>
                <a:lnTo>
                  <a:pt x="2344397" y="3637742"/>
                </a:lnTo>
                <a:lnTo>
                  <a:pt x="2297336" y="3643758"/>
                </a:lnTo>
                <a:lnTo>
                  <a:pt x="2249949" y="3648708"/>
                </a:lnTo>
                <a:lnTo>
                  <a:pt x="2202250" y="3652579"/>
                </a:lnTo>
                <a:lnTo>
                  <a:pt x="2154251" y="3655360"/>
                </a:lnTo>
                <a:lnTo>
                  <a:pt x="2105963" y="3657038"/>
                </a:lnTo>
                <a:lnTo>
                  <a:pt x="2057399" y="3657599"/>
                </a:lnTo>
                <a:close/>
              </a:path>
            </a:pathLst>
          </a:custGeom>
          <a:solidFill>
            <a:srgbClr val="E67E22">
              <a:alpha val="1215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6675119" y="0"/>
            <a:ext cx="2468880" cy="3657600"/>
          </a:xfrm>
          <a:custGeom>
            <a:rect b="b" l="l" r="r" t="t"/>
            <a:pathLst>
              <a:path extrusionOk="0" h="3657600" w="2468879">
                <a:moveTo>
                  <a:pt x="2468880" y="3616325"/>
                </a:moveTo>
                <a:lnTo>
                  <a:pt x="2391120" y="3630672"/>
                </a:lnTo>
                <a:lnTo>
                  <a:pt x="2344397" y="3637742"/>
                </a:lnTo>
                <a:lnTo>
                  <a:pt x="2297336" y="3643758"/>
                </a:lnTo>
                <a:lnTo>
                  <a:pt x="2249949" y="3648708"/>
                </a:lnTo>
                <a:lnTo>
                  <a:pt x="2202250" y="3652579"/>
                </a:lnTo>
                <a:lnTo>
                  <a:pt x="2154251" y="3655360"/>
                </a:lnTo>
                <a:lnTo>
                  <a:pt x="2105963" y="3657038"/>
                </a:lnTo>
                <a:lnTo>
                  <a:pt x="2057399" y="3657599"/>
                </a:lnTo>
                <a:lnTo>
                  <a:pt x="2008836" y="3657038"/>
                </a:lnTo>
                <a:lnTo>
                  <a:pt x="1960548" y="3655360"/>
                </a:lnTo>
                <a:lnTo>
                  <a:pt x="1912549" y="3652579"/>
                </a:lnTo>
                <a:lnTo>
                  <a:pt x="1864849" y="3648708"/>
                </a:lnTo>
                <a:lnTo>
                  <a:pt x="1817463" y="3643758"/>
                </a:lnTo>
                <a:lnTo>
                  <a:pt x="1770402" y="3637742"/>
                </a:lnTo>
                <a:lnTo>
                  <a:pt x="1723678" y="3630672"/>
                </a:lnTo>
                <a:lnTo>
                  <a:pt x="1677305" y="3622560"/>
                </a:lnTo>
                <a:lnTo>
                  <a:pt x="1631293" y="3613419"/>
                </a:lnTo>
                <a:lnTo>
                  <a:pt x="1585657" y="3603262"/>
                </a:lnTo>
                <a:lnTo>
                  <a:pt x="1540407" y="3592100"/>
                </a:lnTo>
                <a:lnTo>
                  <a:pt x="1495556" y="3579946"/>
                </a:lnTo>
                <a:lnTo>
                  <a:pt x="1451117" y="3566813"/>
                </a:lnTo>
                <a:lnTo>
                  <a:pt x="1407102" y="3552712"/>
                </a:lnTo>
                <a:lnTo>
                  <a:pt x="1363523" y="3537656"/>
                </a:lnTo>
                <a:lnTo>
                  <a:pt x="1320393" y="3521657"/>
                </a:lnTo>
                <a:lnTo>
                  <a:pt x="1277724" y="3504728"/>
                </a:lnTo>
                <a:lnTo>
                  <a:pt x="1235529" y="3486881"/>
                </a:lnTo>
                <a:lnTo>
                  <a:pt x="1193819" y="3468129"/>
                </a:lnTo>
                <a:lnTo>
                  <a:pt x="1152607" y="3448483"/>
                </a:lnTo>
                <a:lnTo>
                  <a:pt x="1111906" y="3427956"/>
                </a:lnTo>
                <a:lnTo>
                  <a:pt x="1071727" y="3406561"/>
                </a:lnTo>
                <a:lnTo>
                  <a:pt x="1032084" y="3384309"/>
                </a:lnTo>
                <a:lnTo>
                  <a:pt x="992988" y="3361214"/>
                </a:lnTo>
                <a:lnTo>
                  <a:pt x="954452" y="3337287"/>
                </a:lnTo>
                <a:lnTo>
                  <a:pt x="916488" y="3312541"/>
                </a:lnTo>
                <a:lnTo>
                  <a:pt x="879108" y="3286988"/>
                </a:lnTo>
                <a:lnTo>
                  <a:pt x="842326" y="3260641"/>
                </a:lnTo>
                <a:lnTo>
                  <a:pt x="806152" y="3233511"/>
                </a:lnTo>
                <a:lnTo>
                  <a:pt x="770601" y="3205612"/>
                </a:lnTo>
                <a:lnTo>
                  <a:pt x="735683" y="3176955"/>
                </a:lnTo>
                <a:lnTo>
                  <a:pt x="701411" y="3147553"/>
                </a:lnTo>
                <a:lnTo>
                  <a:pt x="667798" y="3117419"/>
                </a:lnTo>
                <a:lnTo>
                  <a:pt x="634857" y="3086564"/>
                </a:lnTo>
                <a:lnTo>
                  <a:pt x="602598" y="3055001"/>
                </a:lnTo>
                <a:lnTo>
                  <a:pt x="571035" y="3022742"/>
                </a:lnTo>
                <a:lnTo>
                  <a:pt x="540180" y="2989800"/>
                </a:lnTo>
                <a:lnTo>
                  <a:pt x="510046" y="2956188"/>
                </a:lnTo>
                <a:lnTo>
                  <a:pt x="480644" y="2921916"/>
                </a:lnTo>
                <a:lnTo>
                  <a:pt x="451987" y="2886998"/>
                </a:lnTo>
                <a:lnTo>
                  <a:pt x="424088" y="2851447"/>
                </a:lnTo>
                <a:lnTo>
                  <a:pt x="396958" y="2815273"/>
                </a:lnTo>
                <a:lnTo>
                  <a:pt x="370611" y="2778491"/>
                </a:lnTo>
                <a:lnTo>
                  <a:pt x="345058" y="2741111"/>
                </a:lnTo>
                <a:lnTo>
                  <a:pt x="320312" y="2703147"/>
                </a:lnTo>
                <a:lnTo>
                  <a:pt x="296385" y="2664611"/>
                </a:lnTo>
                <a:lnTo>
                  <a:pt x="273290" y="2625515"/>
                </a:lnTo>
                <a:lnTo>
                  <a:pt x="251038" y="2585872"/>
                </a:lnTo>
                <a:lnTo>
                  <a:pt x="229643" y="2545693"/>
                </a:lnTo>
                <a:lnTo>
                  <a:pt x="209116" y="2504992"/>
                </a:lnTo>
                <a:lnTo>
                  <a:pt x="189470" y="2463780"/>
                </a:lnTo>
                <a:lnTo>
                  <a:pt x="170718" y="2422070"/>
                </a:lnTo>
                <a:lnTo>
                  <a:pt x="152871" y="2379875"/>
                </a:lnTo>
                <a:lnTo>
                  <a:pt x="135942" y="2337206"/>
                </a:lnTo>
                <a:lnTo>
                  <a:pt x="119943" y="2294076"/>
                </a:lnTo>
                <a:lnTo>
                  <a:pt x="104887" y="2250497"/>
                </a:lnTo>
                <a:lnTo>
                  <a:pt x="90786" y="2206482"/>
                </a:lnTo>
                <a:lnTo>
                  <a:pt x="77653" y="2162043"/>
                </a:lnTo>
                <a:lnTo>
                  <a:pt x="65499" y="2117192"/>
                </a:lnTo>
                <a:lnTo>
                  <a:pt x="54337" y="2071942"/>
                </a:lnTo>
                <a:lnTo>
                  <a:pt x="44180" y="2026306"/>
                </a:lnTo>
                <a:lnTo>
                  <a:pt x="35039" y="1980294"/>
                </a:lnTo>
                <a:lnTo>
                  <a:pt x="26927" y="1933920"/>
                </a:lnTo>
                <a:lnTo>
                  <a:pt x="19857" y="1887197"/>
                </a:lnTo>
                <a:lnTo>
                  <a:pt x="13841" y="1840136"/>
                </a:lnTo>
                <a:lnTo>
                  <a:pt x="8891" y="1792750"/>
                </a:lnTo>
                <a:lnTo>
                  <a:pt x="5020" y="1745050"/>
                </a:lnTo>
                <a:lnTo>
                  <a:pt x="2239" y="1697051"/>
                </a:lnTo>
                <a:lnTo>
                  <a:pt x="561" y="1648763"/>
                </a:lnTo>
                <a:lnTo>
                  <a:pt x="0" y="1600199"/>
                </a:lnTo>
                <a:lnTo>
                  <a:pt x="561" y="1551636"/>
                </a:lnTo>
                <a:lnTo>
                  <a:pt x="2239" y="1503348"/>
                </a:lnTo>
                <a:lnTo>
                  <a:pt x="5020" y="1455349"/>
                </a:lnTo>
                <a:lnTo>
                  <a:pt x="8891" y="1407649"/>
                </a:lnTo>
                <a:lnTo>
                  <a:pt x="13841" y="1360263"/>
                </a:lnTo>
                <a:lnTo>
                  <a:pt x="19857" y="1313202"/>
                </a:lnTo>
                <a:lnTo>
                  <a:pt x="26927" y="1266479"/>
                </a:lnTo>
                <a:lnTo>
                  <a:pt x="35039" y="1220105"/>
                </a:lnTo>
                <a:lnTo>
                  <a:pt x="44180" y="1174093"/>
                </a:lnTo>
                <a:lnTo>
                  <a:pt x="54337" y="1128457"/>
                </a:lnTo>
                <a:lnTo>
                  <a:pt x="65499" y="1083207"/>
                </a:lnTo>
                <a:lnTo>
                  <a:pt x="77653" y="1038356"/>
                </a:lnTo>
                <a:lnTo>
                  <a:pt x="90786" y="993917"/>
                </a:lnTo>
                <a:lnTo>
                  <a:pt x="104887" y="949902"/>
                </a:lnTo>
                <a:lnTo>
                  <a:pt x="119943" y="906323"/>
                </a:lnTo>
                <a:lnTo>
                  <a:pt x="135942" y="863193"/>
                </a:lnTo>
                <a:lnTo>
                  <a:pt x="152871" y="820524"/>
                </a:lnTo>
                <a:lnTo>
                  <a:pt x="170718" y="778329"/>
                </a:lnTo>
                <a:lnTo>
                  <a:pt x="189470" y="736619"/>
                </a:lnTo>
                <a:lnTo>
                  <a:pt x="209116" y="695407"/>
                </a:lnTo>
                <a:lnTo>
                  <a:pt x="229643" y="654706"/>
                </a:lnTo>
                <a:lnTo>
                  <a:pt x="251038" y="614527"/>
                </a:lnTo>
                <a:lnTo>
                  <a:pt x="273290" y="574884"/>
                </a:lnTo>
                <a:lnTo>
                  <a:pt x="296385" y="535788"/>
                </a:lnTo>
                <a:lnTo>
                  <a:pt x="320312" y="497252"/>
                </a:lnTo>
                <a:lnTo>
                  <a:pt x="345058" y="459288"/>
                </a:lnTo>
                <a:lnTo>
                  <a:pt x="370611" y="421908"/>
                </a:lnTo>
                <a:lnTo>
                  <a:pt x="396958" y="385126"/>
                </a:lnTo>
                <a:lnTo>
                  <a:pt x="424088" y="348952"/>
                </a:lnTo>
                <a:lnTo>
                  <a:pt x="451987" y="313401"/>
                </a:lnTo>
                <a:lnTo>
                  <a:pt x="480644" y="278483"/>
                </a:lnTo>
                <a:lnTo>
                  <a:pt x="510046" y="244211"/>
                </a:lnTo>
                <a:lnTo>
                  <a:pt x="540180" y="210599"/>
                </a:lnTo>
                <a:lnTo>
                  <a:pt x="571035" y="177657"/>
                </a:lnTo>
                <a:lnTo>
                  <a:pt x="602598" y="145398"/>
                </a:lnTo>
                <a:lnTo>
                  <a:pt x="634857" y="113835"/>
                </a:lnTo>
                <a:lnTo>
                  <a:pt x="667798" y="82980"/>
                </a:lnTo>
                <a:lnTo>
                  <a:pt x="701411" y="52846"/>
                </a:lnTo>
                <a:lnTo>
                  <a:pt x="735683" y="23444"/>
                </a:lnTo>
                <a:lnTo>
                  <a:pt x="764250" y="0"/>
                </a:lnTo>
              </a:path>
            </a:pathLst>
          </a:custGeom>
          <a:noFill/>
          <a:ln cap="flat" cmpd="sng" w="12675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365759" y="914399"/>
            <a:ext cx="64135" cy="2560320"/>
          </a:xfrm>
          <a:custGeom>
            <a:rect b="b" l="l" r="r" t="t"/>
            <a:pathLst>
              <a:path extrusionOk="0" h="2560320" w="64134">
                <a:moveTo>
                  <a:pt x="64007" y="2560319"/>
                </a:moveTo>
                <a:lnTo>
                  <a:pt x="0" y="2560319"/>
                </a:lnTo>
                <a:lnTo>
                  <a:pt x="0" y="0"/>
                </a:lnTo>
                <a:lnTo>
                  <a:pt x="64007" y="0"/>
                </a:lnTo>
                <a:lnTo>
                  <a:pt x="64007" y="2560319"/>
                </a:lnTo>
                <a:close/>
              </a:path>
            </a:pathLst>
          </a:custGeom>
          <a:solidFill>
            <a:srgbClr val="C0382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365759" y="914399"/>
            <a:ext cx="64135" cy="2560320"/>
          </a:xfrm>
          <a:custGeom>
            <a:rect b="b" l="l" r="r" t="t"/>
            <a:pathLst>
              <a:path extrusionOk="0" h="2560320" w="64134">
                <a:moveTo>
                  <a:pt x="0" y="0"/>
                </a:moveTo>
                <a:lnTo>
                  <a:pt x="64007" y="0"/>
                </a:lnTo>
                <a:lnTo>
                  <a:pt x="64007" y="2560319"/>
                </a:lnTo>
                <a:lnTo>
                  <a:pt x="0" y="2560319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12675">
            <a:solidFill>
              <a:srgbClr val="C038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2"/>
          <p:cNvSpPr txBox="1"/>
          <p:nvPr>
            <p:ph type="ctrTitle"/>
          </p:nvPr>
        </p:nvSpPr>
        <p:spPr>
          <a:xfrm>
            <a:off x="535940" y="997711"/>
            <a:ext cx="464947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"/>
          <p:cNvSpPr txBox="1"/>
          <p:nvPr>
            <p:ph type="title"/>
          </p:nvPr>
        </p:nvSpPr>
        <p:spPr>
          <a:xfrm>
            <a:off x="353060" y="239776"/>
            <a:ext cx="543496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" type="body"/>
          </p:nvPr>
        </p:nvSpPr>
        <p:spPr>
          <a:xfrm>
            <a:off x="322897" y="1260157"/>
            <a:ext cx="8486140" cy="1292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/>
          <p:nvPr>
            <p:ph type="title"/>
          </p:nvPr>
        </p:nvSpPr>
        <p:spPr>
          <a:xfrm>
            <a:off x="353060" y="239776"/>
            <a:ext cx="543496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53060" y="239776"/>
            <a:ext cx="543496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5143500" w="91440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D1B2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353060" y="239776"/>
            <a:ext cx="543496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22897" y="1260157"/>
            <a:ext cx="8486140" cy="1292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1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26.png"/><Relationship Id="rId5" Type="http://schemas.openxmlformats.org/officeDocument/2006/relationships/image" Target="../media/image4.png"/><Relationship Id="rId6" Type="http://schemas.openxmlformats.org/officeDocument/2006/relationships/image" Target="../media/image22.png"/><Relationship Id="rId7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9.png"/><Relationship Id="rId5" Type="http://schemas.openxmlformats.org/officeDocument/2006/relationships/image" Target="../media/image12.png"/><Relationship Id="rId6" Type="http://schemas.openxmlformats.org/officeDocument/2006/relationships/image" Target="../media/image20.png"/><Relationship Id="rId7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15.png"/><Relationship Id="rId5" Type="http://schemas.openxmlformats.org/officeDocument/2006/relationships/image" Target="../media/image18.png"/><Relationship Id="rId6" Type="http://schemas.openxmlformats.org/officeDocument/2006/relationships/image" Target="../media/image27.png"/><Relationship Id="rId7" Type="http://schemas.openxmlformats.org/officeDocument/2006/relationships/image" Target="../media/image24.png"/><Relationship Id="rId8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23.png"/><Relationship Id="rId9" Type="http://schemas.openxmlformats.org/officeDocument/2006/relationships/image" Target="../media/image12.png"/><Relationship Id="rId5" Type="http://schemas.openxmlformats.org/officeDocument/2006/relationships/image" Target="../media/image7.png"/><Relationship Id="rId6" Type="http://schemas.openxmlformats.org/officeDocument/2006/relationships/image" Target="../media/image16.png"/><Relationship Id="rId7" Type="http://schemas.openxmlformats.org/officeDocument/2006/relationships/image" Target="../media/image22.png"/><Relationship Id="rId8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51" name="Google Shape;51;p7"/>
          <p:cNvSpPr txBox="1"/>
          <p:nvPr>
            <p:ph type="ctrTitle"/>
          </p:nvPr>
        </p:nvSpPr>
        <p:spPr>
          <a:xfrm>
            <a:off x="535940" y="997711"/>
            <a:ext cx="464947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Atmosphere in Numbers</a:t>
            </a:r>
            <a:endParaRPr sz="3600"/>
          </a:p>
        </p:txBody>
      </p:sp>
      <p:sp>
        <p:nvSpPr>
          <p:cNvPr id="52" name="Google Shape;52;p7"/>
          <p:cNvSpPr txBox="1"/>
          <p:nvPr/>
        </p:nvSpPr>
        <p:spPr>
          <a:xfrm>
            <a:off x="535940" y="1792224"/>
            <a:ext cx="4238625" cy="2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700">
                <a:solidFill>
                  <a:srgbClr val="1ABB9B"/>
                </a:solidFill>
                <a:latin typeface="Calibri"/>
                <a:ea typeface="Calibri"/>
                <a:cs typeface="Calibri"/>
                <a:sym typeface="Calibri"/>
              </a:rPr>
              <a:t>Learning Air Quality Patterns from Satellite Data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7"/>
          <p:cNvSpPr txBox="1"/>
          <p:nvPr/>
        </p:nvSpPr>
        <p:spPr>
          <a:xfrm>
            <a:off x="535940" y="2412492"/>
            <a:ext cx="3738245" cy="1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BDC3C7"/>
                </a:solidFill>
                <a:latin typeface="Calibri"/>
                <a:ea typeface="Calibri"/>
                <a:cs typeface="Calibri"/>
                <a:sym typeface="Calibri"/>
              </a:rPr>
              <a:t>Delhi AQI Case Study | January 2023 | 561 Hourly Observations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4" name="Google Shape;54;p7"/>
          <p:cNvGrpSpPr/>
          <p:nvPr/>
        </p:nvGrpSpPr>
        <p:grpSpPr>
          <a:xfrm>
            <a:off x="0" y="4434839"/>
            <a:ext cx="9144000" cy="708660"/>
            <a:chOff x="0" y="4434839"/>
            <a:chExt cx="9144000" cy="708660"/>
          </a:xfrm>
        </p:grpSpPr>
        <p:sp>
          <p:nvSpPr>
            <p:cNvPr id="55" name="Google Shape;55;p7"/>
            <p:cNvSpPr/>
            <p:nvPr/>
          </p:nvSpPr>
          <p:spPr>
            <a:xfrm>
              <a:off x="0" y="4434839"/>
              <a:ext cx="9144000" cy="708660"/>
            </a:xfrm>
            <a:custGeom>
              <a:rect b="b" l="l" r="r" t="t"/>
              <a:pathLst>
                <a:path extrusionOk="0" h="708660" w="9144000">
                  <a:moveTo>
                    <a:pt x="0" y="708660"/>
                  </a:moveTo>
                  <a:lnTo>
                    <a:pt x="0" y="0"/>
                  </a:lnTo>
                  <a:lnTo>
                    <a:pt x="9143999" y="0"/>
                  </a:lnTo>
                  <a:lnTo>
                    <a:pt x="9143999" y="708660"/>
                  </a:lnTo>
                  <a:lnTo>
                    <a:pt x="0" y="708660"/>
                  </a:lnTo>
                  <a:close/>
                </a:path>
              </a:pathLst>
            </a:custGeom>
            <a:solidFill>
              <a:srgbClr val="1B2A3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7"/>
            <p:cNvSpPr/>
            <p:nvPr/>
          </p:nvSpPr>
          <p:spPr>
            <a:xfrm>
              <a:off x="0" y="4434839"/>
              <a:ext cx="9144000" cy="708660"/>
            </a:xfrm>
            <a:custGeom>
              <a:rect b="b" l="l" r="r" t="t"/>
              <a:pathLst>
                <a:path extrusionOk="0" h="708660" w="9144000">
                  <a:moveTo>
                    <a:pt x="0" y="708660"/>
                  </a:moveTo>
                  <a:lnTo>
                    <a:pt x="0" y="0"/>
                  </a:lnTo>
                  <a:lnTo>
                    <a:pt x="9143999" y="0"/>
                  </a:lnTo>
                  <a:lnTo>
                    <a:pt x="9143999" y="708660"/>
                  </a:lnTo>
                </a:path>
              </a:pathLst>
            </a:custGeom>
            <a:noFill/>
            <a:ln cap="flat" cmpd="sng" w="12675">
              <a:solidFill>
                <a:srgbClr val="1B2A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7"/>
          <p:cNvSpPr txBox="1"/>
          <p:nvPr/>
        </p:nvSpPr>
        <p:spPr>
          <a:xfrm>
            <a:off x="2209912" y="4587748"/>
            <a:ext cx="472186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BDC3C7"/>
                </a:solidFill>
                <a:latin typeface="Calibri"/>
                <a:ea typeface="Calibri"/>
                <a:cs typeface="Calibri"/>
                <a:sym typeface="Calibri"/>
              </a:rPr>
              <a:t>Data Science Research Project • Machine Learning • Urban Air Quality • Climate Change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62" name="Google Shape;62;p8"/>
          <p:cNvSpPr txBox="1"/>
          <p:nvPr>
            <p:ph type="title"/>
          </p:nvPr>
        </p:nvSpPr>
        <p:spPr>
          <a:xfrm>
            <a:off x="353060" y="239776"/>
            <a:ext cx="543496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Presentation Outline</a:t>
            </a:r>
            <a:endParaRPr sz="2800"/>
          </a:p>
        </p:txBody>
      </p:sp>
      <p:grpSp>
        <p:nvGrpSpPr>
          <p:cNvPr id="63" name="Google Shape;63;p8"/>
          <p:cNvGrpSpPr/>
          <p:nvPr/>
        </p:nvGrpSpPr>
        <p:grpSpPr>
          <a:xfrm>
            <a:off x="365759" y="822960"/>
            <a:ext cx="8412480" cy="27940"/>
            <a:chOff x="365759" y="822960"/>
            <a:chExt cx="8412480" cy="27940"/>
          </a:xfrm>
        </p:grpSpPr>
        <p:sp>
          <p:nvSpPr>
            <p:cNvPr id="64" name="Google Shape;64;p8"/>
            <p:cNvSpPr/>
            <p:nvPr/>
          </p:nvSpPr>
          <p:spPr>
            <a:xfrm>
              <a:off x="365759" y="822960"/>
              <a:ext cx="8412480" cy="27940"/>
            </a:xfrm>
            <a:custGeom>
              <a:rect b="b" l="l" r="r" t="t"/>
              <a:pathLst>
                <a:path extrusionOk="0" h="27940" w="8412480">
                  <a:moveTo>
                    <a:pt x="8412479" y="27431"/>
                  </a:moveTo>
                  <a:lnTo>
                    <a:pt x="0" y="27431"/>
                  </a:lnTo>
                  <a:lnTo>
                    <a:pt x="0" y="0"/>
                  </a:lnTo>
                  <a:lnTo>
                    <a:pt x="8412479" y="0"/>
                  </a:lnTo>
                  <a:lnTo>
                    <a:pt x="8412479" y="27431"/>
                  </a:lnTo>
                  <a:close/>
                </a:path>
              </a:pathLst>
            </a:custGeom>
            <a:solidFill>
              <a:srgbClr val="C038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8"/>
            <p:cNvSpPr/>
            <p:nvPr/>
          </p:nvSpPr>
          <p:spPr>
            <a:xfrm>
              <a:off x="365759" y="822960"/>
              <a:ext cx="8412480" cy="27940"/>
            </a:xfrm>
            <a:custGeom>
              <a:rect b="b" l="l" r="r" t="t"/>
              <a:pathLst>
                <a:path extrusionOk="0" h="27940" w="8412480">
                  <a:moveTo>
                    <a:pt x="0" y="0"/>
                  </a:moveTo>
                  <a:lnTo>
                    <a:pt x="8412479" y="0"/>
                  </a:lnTo>
                  <a:lnTo>
                    <a:pt x="8412479" y="27431"/>
                  </a:lnTo>
                  <a:lnTo>
                    <a:pt x="0" y="2743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2675">
              <a:solidFill>
                <a:srgbClr val="C038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8"/>
          <p:cNvSpPr txBox="1"/>
          <p:nvPr/>
        </p:nvSpPr>
        <p:spPr>
          <a:xfrm>
            <a:off x="359409" y="999489"/>
            <a:ext cx="515620" cy="515620"/>
          </a:xfrm>
          <a:prstGeom prst="rect">
            <a:avLst/>
          </a:prstGeom>
          <a:solidFill>
            <a:srgbClr val="C0382B"/>
          </a:solidFill>
          <a:ln cap="flat" cmpd="sng" w="9525">
            <a:solidFill>
              <a:srgbClr val="C038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44125">
            <a:spAutoFit/>
          </a:bodyPr>
          <a:lstStyle/>
          <a:p>
            <a:pPr indent="0" lvl="0" marL="1676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8"/>
          <p:cNvSpPr txBox="1"/>
          <p:nvPr/>
        </p:nvSpPr>
        <p:spPr>
          <a:xfrm>
            <a:off x="993140" y="1135379"/>
            <a:ext cx="3034665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 Definition &amp; Research Objectives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8"/>
          <p:cNvSpPr txBox="1"/>
          <p:nvPr/>
        </p:nvSpPr>
        <p:spPr>
          <a:xfrm>
            <a:off x="359409" y="1657857"/>
            <a:ext cx="515620" cy="515620"/>
          </a:xfrm>
          <a:prstGeom prst="rect">
            <a:avLst/>
          </a:prstGeom>
          <a:solidFill>
            <a:srgbClr val="E67E22"/>
          </a:solidFill>
          <a:ln cap="flat" cmpd="sng" w="9525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44125">
            <a:spAutoFit/>
          </a:bodyPr>
          <a:lstStyle/>
          <a:p>
            <a:pPr indent="0" lvl="0" marL="1676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8"/>
          <p:cNvSpPr txBox="1"/>
          <p:nvPr/>
        </p:nvSpPr>
        <p:spPr>
          <a:xfrm>
            <a:off x="993140" y="1793748"/>
            <a:ext cx="3467735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Description &amp; Exploratory Data Analysis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8"/>
          <p:cNvSpPr txBox="1"/>
          <p:nvPr/>
        </p:nvSpPr>
        <p:spPr>
          <a:xfrm>
            <a:off x="359409" y="2316226"/>
            <a:ext cx="515620" cy="515620"/>
          </a:xfrm>
          <a:prstGeom prst="rect">
            <a:avLst/>
          </a:prstGeom>
          <a:solidFill>
            <a:srgbClr val="F1C40F"/>
          </a:solidFill>
          <a:ln cap="flat" cmpd="sng" w="9525">
            <a:solidFill>
              <a:srgbClr val="F1C4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44125">
            <a:spAutoFit/>
          </a:bodyPr>
          <a:lstStyle/>
          <a:p>
            <a:pPr indent="0" lvl="0" marL="1676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8"/>
          <p:cNvSpPr txBox="1"/>
          <p:nvPr/>
        </p:nvSpPr>
        <p:spPr>
          <a:xfrm>
            <a:off x="993140" y="2452116"/>
            <a:ext cx="3053715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Preprocessing &amp; Feature Engineering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8"/>
          <p:cNvSpPr txBox="1"/>
          <p:nvPr/>
        </p:nvSpPr>
        <p:spPr>
          <a:xfrm>
            <a:off x="359409" y="2974594"/>
            <a:ext cx="515620" cy="515620"/>
          </a:xfrm>
          <a:prstGeom prst="rect">
            <a:avLst/>
          </a:prstGeom>
          <a:solidFill>
            <a:srgbClr val="1ABB9B"/>
          </a:solidFill>
          <a:ln cap="flat" cmpd="sng" w="9525">
            <a:solidFill>
              <a:srgbClr val="1ABB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44125">
            <a:spAutoFit/>
          </a:bodyPr>
          <a:lstStyle/>
          <a:p>
            <a:pPr indent="0" lvl="0" marL="1676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8"/>
          <p:cNvSpPr txBox="1"/>
          <p:nvPr/>
        </p:nvSpPr>
        <p:spPr>
          <a:xfrm>
            <a:off x="993140" y="3110484"/>
            <a:ext cx="380746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 Models &amp; Hyperparameter Tuning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8"/>
          <p:cNvSpPr txBox="1"/>
          <p:nvPr/>
        </p:nvSpPr>
        <p:spPr>
          <a:xfrm>
            <a:off x="359409" y="3632961"/>
            <a:ext cx="515620" cy="515620"/>
          </a:xfrm>
          <a:prstGeom prst="rect">
            <a:avLst/>
          </a:prstGeom>
          <a:solidFill>
            <a:srgbClr val="8E44AD"/>
          </a:solidFill>
          <a:ln cap="flat" cmpd="sng" w="9525">
            <a:solidFill>
              <a:srgbClr val="8E44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44125">
            <a:spAutoFit/>
          </a:bodyPr>
          <a:lstStyle/>
          <a:p>
            <a:pPr indent="0" lvl="0" marL="1676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8"/>
          <p:cNvSpPr txBox="1"/>
          <p:nvPr/>
        </p:nvSpPr>
        <p:spPr>
          <a:xfrm>
            <a:off x="993140" y="3768852"/>
            <a:ext cx="3114675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Results, Evaluation &amp; Comparative Analysis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8"/>
          <p:cNvSpPr txBox="1"/>
          <p:nvPr/>
        </p:nvSpPr>
        <p:spPr>
          <a:xfrm>
            <a:off x="359409" y="4291329"/>
            <a:ext cx="515620" cy="515620"/>
          </a:xfrm>
          <a:prstGeom prst="rect">
            <a:avLst/>
          </a:prstGeom>
          <a:solidFill>
            <a:srgbClr val="1ABB9B"/>
          </a:solidFill>
          <a:ln cap="flat" cmpd="sng" w="9525">
            <a:solidFill>
              <a:srgbClr val="1ABB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44125">
            <a:spAutoFit/>
          </a:bodyPr>
          <a:lstStyle/>
          <a:p>
            <a:pPr indent="0" lvl="0" marL="1676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8"/>
          <p:cNvSpPr txBox="1"/>
          <p:nvPr/>
        </p:nvSpPr>
        <p:spPr>
          <a:xfrm>
            <a:off x="993140" y="4427220"/>
            <a:ext cx="1979295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Findings &amp; Conclusions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82" name="Google Shape;82;p9"/>
          <p:cNvSpPr txBox="1"/>
          <p:nvPr>
            <p:ph type="title"/>
          </p:nvPr>
        </p:nvSpPr>
        <p:spPr>
          <a:xfrm>
            <a:off x="353060" y="239776"/>
            <a:ext cx="543496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Problem Definition</a:t>
            </a:r>
            <a:endParaRPr sz="2800"/>
          </a:p>
        </p:txBody>
      </p:sp>
      <p:grpSp>
        <p:nvGrpSpPr>
          <p:cNvPr id="83" name="Google Shape;83;p9"/>
          <p:cNvGrpSpPr/>
          <p:nvPr/>
        </p:nvGrpSpPr>
        <p:grpSpPr>
          <a:xfrm>
            <a:off x="230869" y="822960"/>
            <a:ext cx="8547371" cy="3701051"/>
            <a:chOff x="230869" y="822960"/>
            <a:chExt cx="8547371" cy="3701051"/>
          </a:xfrm>
        </p:grpSpPr>
        <p:sp>
          <p:nvSpPr>
            <p:cNvPr id="84" name="Google Shape;84;p9"/>
            <p:cNvSpPr/>
            <p:nvPr/>
          </p:nvSpPr>
          <p:spPr>
            <a:xfrm>
              <a:off x="365760" y="822960"/>
              <a:ext cx="8412480" cy="27940"/>
            </a:xfrm>
            <a:custGeom>
              <a:rect b="b" l="l" r="r" t="t"/>
              <a:pathLst>
                <a:path extrusionOk="0" h="27940" w="8412480">
                  <a:moveTo>
                    <a:pt x="8412479" y="27431"/>
                  </a:moveTo>
                  <a:lnTo>
                    <a:pt x="0" y="27431"/>
                  </a:lnTo>
                  <a:lnTo>
                    <a:pt x="0" y="0"/>
                  </a:lnTo>
                  <a:lnTo>
                    <a:pt x="8412479" y="0"/>
                  </a:lnTo>
                  <a:lnTo>
                    <a:pt x="8412479" y="27431"/>
                  </a:lnTo>
                  <a:close/>
                </a:path>
              </a:pathLst>
            </a:custGeom>
            <a:solidFill>
              <a:srgbClr val="C038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9"/>
            <p:cNvSpPr/>
            <p:nvPr/>
          </p:nvSpPr>
          <p:spPr>
            <a:xfrm>
              <a:off x="365760" y="822960"/>
              <a:ext cx="8412480" cy="27940"/>
            </a:xfrm>
            <a:custGeom>
              <a:rect b="b" l="l" r="r" t="t"/>
              <a:pathLst>
                <a:path extrusionOk="0" h="27940" w="8412480">
                  <a:moveTo>
                    <a:pt x="0" y="0"/>
                  </a:moveTo>
                  <a:lnTo>
                    <a:pt x="8412479" y="0"/>
                  </a:lnTo>
                  <a:lnTo>
                    <a:pt x="8412479" y="27431"/>
                  </a:lnTo>
                  <a:lnTo>
                    <a:pt x="0" y="2743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2675">
              <a:solidFill>
                <a:srgbClr val="C038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6" name="Google Shape;86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0869" y="833391"/>
              <a:ext cx="4239260" cy="36906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" name="Google Shape;87;p9"/>
            <p:cNvSpPr/>
            <p:nvPr/>
          </p:nvSpPr>
          <p:spPr>
            <a:xfrm>
              <a:off x="365760" y="914400"/>
              <a:ext cx="4023360" cy="3474720"/>
            </a:xfrm>
            <a:custGeom>
              <a:rect b="b" l="l" r="r" t="t"/>
              <a:pathLst>
                <a:path extrusionOk="0" h="3474720" w="4023360">
                  <a:moveTo>
                    <a:pt x="4023359" y="3474719"/>
                  </a:moveTo>
                  <a:lnTo>
                    <a:pt x="0" y="3474719"/>
                  </a:lnTo>
                  <a:lnTo>
                    <a:pt x="0" y="0"/>
                  </a:lnTo>
                  <a:lnTo>
                    <a:pt x="4023359" y="0"/>
                  </a:lnTo>
                  <a:lnTo>
                    <a:pt x="4023359" y="3474719"/>
                  </a:lnTo>
                  <a:close/>
                </a:path>
              </a:pathLst>
            </a:custGeom>
            <a:solidFill>
              <a:srgbClr val="1B2A3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9"/>
            <p:cNvSpPr/>
            <p:nvPr/>
          </p:nvSpPr>
          <p:spPr>
            <a:xfrm>
              <a:off x="365760" y="914400"/>
              <a:ext cx="4023360" cy="3474720"/>
            </a:xfrm>
            <a:custGeom>
              <a:rect b="b" l="l" r="r" t="t"/>
              <a:pathLst>
                <a:path extrusionOk="0" h="3474720" w="4023360">
                  <a:moveTo>
                    <a:pt x="0" y="0"/>
                  </a:moveTo>
                  <a:lnTo>
                    <a:pt x="4023359" y="0"/>
                  </a:lnTo>
                  <a:lnTo>
                    <a:pt x="4023359" y="3474719"/>
                  </a:lnTo>
                  <a:lnTo>
                    <a:pt x="0" y="347471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2675">
              <a:solidFill>
                <a:srgbClr val="1B2A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9" name="Google Shape;8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48640" y="1087868"/>
              <a:ext cx="221258" cy="20824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0" name="Google Shape;90;p9"/>
          <p:cNvSpPr txBox="1"/>
          <p:nvPr/>
        </p:nvSpPr>
        <p:spPr>
          <a:xfrm>
            <a:off x="810081" y="1062228"/>
            <a:ext cx="71120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C0382B"/>
                </a:solidFill>
                <a:latin typeface="Calibri"/>
                <a:ea typeface="Calibri"/>
                <a:cs typeface="Calibri"/>
                <a:sym typeface="Calibri"/>
              </a:rPr>
              <a:t>The Crisis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9"/>
          <p:cNvSpPr txBox="1"/>
          <p:nvPr/>
        </p:nvSpPr>
        <p:spPr>
          <a:xfrm>
            <a:off x="634687" y="1987296"/>
            <a:ext cx="3318510" cy="1433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375">
            <a:spAutoFit/>
          </a:bodyPr>
          <a:lstStyle/>
          <a:p>
            <a:pPr indent="-342265" lvl="0" marL="342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Delhi's PM2.5 averages 266 µg/m³ — 53× WHO limit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342265" lvl="0" marL="342265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Clr>
                <a:srgbClr val="ECF0F1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AQI exceeds 300 (Hazardous) 63% of recorded hours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342265" lvl="0" marL="342265" marR="81915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Winter atmospheric inversions trap pollutants near ground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342265" lvl="0" marL="342265" marR="28194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Urban Heat Island amplifies nocturnal pollution accumulation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2" name="Google Shape;92;p9"/>
          <p:cNvGrpSpPr/>
          <p:nvPr/>
        </p:nvGrpSpPr>
        <p:grpSpPr>
          <a:xfrm>
            <a:off x="4437109" y="833390"/>
            <a:ext cx="4422140" cy="3690620"/>
            <a:chOff x="4437109" y="833390"/>
            <a:chExt cx="4422140" cy="3690620"/>
          </a:xfrm>
        </p:grpSpPr>
        <p:pic>
          <p:nvPicPr>
            <p:cNvPr id="93" name="Google Shape;93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437109" y="833390"/>
              <a:ext cx="4422140" cy="36906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" name="Google Shape;94;p9"/>
            <p:cNvSpPr/>
            <p:nvPr/>
          </p:nvSpPr>
          <p:spPr>
            <a:xfrm>
              <a:off x="4572000" y="914399"/>
              <a:ext cx="4206240" cy="3474720"/>
            </a:xfrm>
            <a:custGeom>
              <a:rect b="b" l="l" r="r" t="t"/>
              <a:pathLst>
                <a:path extrusionOk="0" h="3474720" w="4206240">
                  <a:moveTo>
                    <a:pt x="4206239" y="3474719"/>
                  </a:moveTo>
                  <a:lnTo>
                    <a:pt x="0" y="3474719"/>
                  </a:lnTo>
                  <a:lnTo>
                    <a:pt x="0" y="0"/>
                  </a:lnTo>
                  <a:lnTo>
                    <a:pt x="4206239" y="0"/>
                  </a:lnTo>
                  <a:lnTo>
                    <a:pt x="4206239" y="3474719"/>
                  </a:lnTo>
                  <a:close/>
                </a:path>
              </a:pathLst>
            </a:custGeom>
            <a:solidFill>
              <a:srgbClr val="1B2A3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9"/>
            <p:cNvSpPr/>
            <p:nvPr/>
          </p:nvSpPr>
          <p:spPr>
            <a:xfrm>
              <a:off x="4572000" y="914399"/>
              <a:ext cx="4206240" cy="3474720"/>
            </a:xfrm>
            <a:custGeom>
              <a:rect b="b" l="l" r="r" t="t"/>
              <a:pathLst>
                <a:path extrusionOk="0" h="3474720" w="4206240">
                  <a:moveTo>
                    <a:pt x="0" y="0"/>
                  </a:moveTo>
                  <a:lnTo>
                    <a:pt x="4206239" y="0"/>
                  </a:lnTo>
                  <a:lnTo>
                    <a:pt x="4206239" y="3474719"/>
                  </a:lnTo>
                  <a:lnTo>
                    <a:pt x="0" y="347471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2675">
              <a:solidFill>
                <a:srgbClr val="1B2A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96" name="Google Shape;96;p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754880" y="1087868"/>
              <a:ext cx="221258" cy="20824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7" name="Google Shape;97;p9"/>
          <p:cNvSpPr txBox="1"/>
          <p:nvPr/>
        </p:nvSpPr>
        <p:spPr>
          <a:xfrm>
            <a:off x="5016321" y="1062228"/>
            <a:ext cx="149098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ABB9B"/>
                </a:solidFill>
                <a:latin typeface="Calibri"/>
                <a:ea typeface="Calibri"/>
                <a:cs typeface="Calibri"/>
                <a:sym typeface="Calibri"/>
              </a:rPr>
              <a:t>Research Objectives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9"/>
          <p:cNvSpPr txBox="1"/>
          <p:nvPr/>
        </p:nvSpPr>
        <p:spPr>
          <a:xfrm>
            <a:off x="4840927" y="2104644"/>
            <a:ext cx="3261995" cy="119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9375">
            <a:spAutoFit/>
          </a:bodyPr>
          <a:lstStyle/>
          <a:p>
            <a:pPr indent="-342265" lvl="0" marL="342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Classify AQI categories from multi-pollutant data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342265" lvl="0" marL="342265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Clr>
                <a:srgbClr val="ECF0F1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Identify key pollutants driving hazardous air quality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342265" lvl="0" marL="342265" rtl="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Clr>
                <a:srgbClr val="ECF0F1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Uncover diurnal &amp; seasonal temporal patterns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342265" lvl="0" marL="342265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Clr>
                <a:srgbClr val="ECF0F1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Compare 4 ML models with hyperparameter tuning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342265" lvl="0" marL="342265" rtl="0" algn="l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Clr>
                <a:srgbClr val="ECF0F1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Support climate change &amp; UHI policy decisions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9"/>
          <p:cNvSpPr txBox="1"/>
          <p:nvPr/>
        </p:nvSpPr>
        <p:spPr>
          <a:xfrm>
            <a:off x="2278685" y="4600448"/>
            <a:ext cx="458279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F1C40F"/>
                </a:solidFill>
                <a:latin typeface="Calibri"/>
                <a:ea typeface="Calibri"/>
                <a:cs typeface="Calibri"/>
                <a:sym typeface="Calibri"/>
              </a:rPr>
              <a:t>Bonus domain relevance: Urban Heat Island • Climate Change • Remote Sensing &amp; Satellite Data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04" name="Google Shape;104;p10"/>
          <p:cNvSpPr txBox="1"/>
          <p:nvPr>
            <p:ph type="title"/>
          </p:nvPr>
        </p:nvSpPr>
        <p:spPr>
          <a:xfrm>
            <a:off x="353060" y="239776"/>
            <a:ext cx="543496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Dataset Overview &amp; EDA</a:t>
            </a:r>
            <a:endParaRPr sz="2800"/>
          </a:p>
        </p:txBody>
      </p:sp>
      <p:grpSp>
        <p:nvGrpSpPr>
          <p:cNvPr id="105" name="Google Shape;105;p10"/>
          <p:cNvGrpSpPr/>
          <p:nvPr/>
        </p:nvGrpSpPr>
        <p:grpSpPr>
          <a:xfrm>
            <a:off x="230869" y="822960"/>
            <a:ext cx="8547371" cy="1460770"/>
            <a:chOff x="230869" y="822960"/>
            <a:chExt cx="8547371" cy="1460770"/>
          </a:xfrm>
        </p:grpSpPr>
        <p:sp>
          <p:nvSpPr>
            <p:cNvPr id="106" name="Google Shape;106;p10"/>
            <p:cNvSpPr/>
            <p:nvPr/>
          </p:nvSpPr>
          <p:spPr>
            <a:xfrm>
              <a:off x="365760" y="822960"/>
              <a:ext cx="8412480" cy="27940"/>
            </a:xfrm>
            <a:custGeom>
              <a:rect b="b" l="l" r="r" t="t"/>
              <a:pathLst>
                <a:path extrusionOk="0" h="27940" w="8412480">
                  <a:moveTo>
                    <a:pt x="8412479" y="27431"/>
                  </a:moveTo>
                  <a:lnTo>
                    <a:pt x="0" y="27431"/>
                  </a:lnTo>
                  <a:lnTo>
                    <a:pt x="0" y="0"/>
                  </a:lnTo>
                  <a:lnTo>
                    <a:pt x="8412479" y="0"/>
                  </a:lnTo>
                  <a:lnTo>
                    <a:pt x="8412479" y="27431"/>
                  </a:lnTo>
                  <a:close/>
                </a:path>
              </a:pathLst>
            </a:custGeom>
            <a:solidFill>
              <a:srgbClr val="E67E2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0"/>
            <p:cNvSpPr/>
            <p:nvPr/>
          </p:nvSpPr>
          <p:spPr>
            <a:xfrm>
              <a:off x="365760" y="822960"/>
              <a:ext cx="8412480" cy="27940"/>
            </a:xfrm>
            <a:custGeom>
              <a:rect b="b" l="l" r="r" t="t"/>
              <a:pathLst>
                <a:path extrusionOk="0" h="27940" w="8412480">
                  <a:moveTo>
                    <a:pt x="0" y="0"/>
                  </a:moveTo>
                  <a:lnTo>
                    <a:pt x="8412479" y="0"/>
                  </a:lnTo>
                  <a:lnTo>
                    <a:pt x="8412479" y="27431"/>
                  </a:lnTo>
                  <a:lnTo>
                    <a:pt x="0" y="2743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2675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8" name="Google Shape;108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0869" y="879110"/>
              <a:ext cx="2227580" cy="14046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" name="Google Shape;109;p10"/>
            <p:cNvSpPr/>
            <p:nvPr/>
          </p:nvSpPr>
          <p:spPr>
            <a:xfrm>
              <a:off x="365760" y="960120"/>
              <a:ext cx="2011680" cy="1188720"/>
            </a:xfrm>
            <a:custGeom>
              <a:rect b="b" l="l" r="r" t="t"/>
              <a:pathLst>
                <a:path extrusionOk="0" h="1188720" w="2011680">
                  <a:moveTo>
                    <a:pt x="2011679" y="1188719"/>
                  </a:moveTo>
                  <a:lnTo>
                    <a:pt x="0" y="1188719"/>
                  </a:lnTo>
                  <a:lnTo>
                    <a:pt x="0" y="0"/>
                  </a:lnTo>
                  <a:lnTo>
                    <a:pt x="2011679" y="0"/>
                  </a:lnTo>
                  <a:lnTo>
                    <a:pt x="2011679" y="1188719"/>
                  </a:lnTo>
                  <a:close/>
                </a:path>
              </a:pathLst>
            </a:custGeom>
            <a:solidFill>
              <a:srgbClr val="1B2A3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0"/>
            <p:cNvSpPr/>
            <p:nvPr/>
          </p:nvSpPr>
          <p:spPr>
            <a:xfrm>
              <a:off x="365760" y="960120"/>
              <a:ext cx="2011680" cy="1188720"/>
            </a:xfrm>
            <a:custGeom>
              <a:rect b="b" l="l" r="r" t="t"/>
              <a:pathLst>
                <a:path extrusionOk="0" h="1188720" w="2011680">
                  <a:moveTo>
                    <a:pt x="0" y="0"/>
                  </a:moveTo>
                  <a:lnTo>
                    <a:pt x="2011679" y="0"/>
                  </a:lnTo>
                  <a:lnTo>
                    <a:pt x="2011679" y="1188719"/>
                  </a:lnTo>
                  <a:lnTo>
                    <a:pt x="0" y="118871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2675">
              <a:solidFill>
                <a:srgbClr val="1B2A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" name="Google Shape;111;p10"/>
          <p:cNvSpPr txBox="1"/>
          <p:nvPr/>
        </p:nvSpPr>
        <p:spPr>
          <a:xfrm>
            <a:off x="860010" y="1075944"/>
            <a:ext cx="1023619" cy="869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BB9B"/>
                </a:solidFill>
                <a:latin typeface="Calibri"/>
                <a:ea typeface="Calibri"/>
                <a:cs typeface="Calibri"/>
                <a:sym typeface="Calibri"/>
              </a:rPr>
              <a:t>561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1664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BDC3C7"/>
                </a:solidFill>
                <a:latin typeface="Calibri"/>
                <a:ea typeface="Calibri"/>
                <a:cs typeface="Calibri"/>
                <a:sym typeface="Calibri"/>
              </a:rPr>
              <a:t>Hourly Observations</a:t>
            </a:r>
            <a:endParaRPr sz="95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2" name="Google Shape;112;p10"/>
          <p:cNvGrpSpPr/>
          <p:nvPr/>
        </p:nvGrpSpPr>
        <p:grpSpPr>
          <a:xfrm>
            <a:off x="2333989" y="879110"/>
            <a:ext cx="2227580" cy="1404620"/>
            <a:chOff x="2333989" y="879110"/>
            <a:chExt cx="2227580" cy="1404620"/>
          </a:xfrm>
        </p:grpSpPr>
        <p:pic>
          <p:nvPicPr>
            <p:cNvPr id="113" name="Google Shape;113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33989" y="879110"/>
              <a:ext cx="2227580" cy="14046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" name="Google Shape;114;p10"/>
            <p:cNvSpPr/>
            <p:nvPr/>
          </p:nvSpPr>
          <p:spPr>
            <a:xfrm>
              <a:off x="2468879" y="960119"/>
              <a:ext cx="2011680" cy="1188720"/>
            </a:xfrm>
            <a:custGeom>
              <a:rect b="b" l="l" r="r" t="t"/>
              <a:pathLst>
                <a:path extrusionOk="0" h="1188720" w="2011679">
                  <a:moveTo>
                    <a:pt x="2011679" y="1188719"/>
                  </a:moveTo>
                  <a:lnTo>
                    <a:pt x="0" y="1188719"/>
                  </a:lnTo>
                  <a:lnTo>
                    <a:pt x="0" y="0"/>
                  </a:lnTo>
                  <a:lnTo>
                    <a:pt x="2011679" y="0"/>
                  </a:lnTo>
                  <a:lnTo>
                    <a:pt x="2011679" y="1188719"/>
                  </a:lnTo>
                  <a:close/>
                </a:path>
              </a:pathLst>
            </a:custGeom>
            <a:solidFill>
              <a:srgbClr val="1B2A3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0"/>
            <p:cNvSpPr/>
            <p:nvPr/>
          </p:nvSpPr>
          <p:spPr>
            <a:xfrm>
              <a:off x="2468879" y="960119"/>
              <a:ext cx="2011680" cy="1188720"/>
            </a:xfrm>
            <a:custGeom>
              <a:rect b="b" l="l" r="r" t="t"/>
              <a:pathLst>
                <a:path extrusionOk="0" h="1188720" w="2011679">
                  <a:moveTo>
                    <a:pt x="0" y="0"/>
                  </a:moveTo>
                  <a:lnTo>
                    <a:pt x="2011679" y="0"/>
                  </a:lnTo>
                  <a:lnTo>
                    <a:pt x="2011679" y="1188719"/>
                  </a:lnTo>
                  <a:lnTo>
                    <a:pt x="0" y="118871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2675">
              <a:solidFill>
                <a:srgbClr val="1B2A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6" name="Google Shape;116;p10"/>
          <p:cNvSpPr txBox="1"/>
          <p:nvPr/>
        </p:nvSpPr>
        <p:spPr>
          <a:xfrm>
            <a:off x="3004305" y="1075944"/>
            <a:ext cx="941069" cy="869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1664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BDC3C7"/>
                </a:solidFill>
                <a:latin typeface="Calibri"/>
                <a:ea typeface="Calibri"/>
                <a:cs typeface="Calibri"/>
                <a:sym typeface="Calibri"/>
              </a:rPr>
              <a:t>Pollutant Channels</a:t>
            </a:r>
            <a:endParaRPr sz="95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7" name="Google Shape;117;p10"/>
          <p:cNvGrpSpPr/>
          <p:nvPr/>
        </p:nvGrpSpPr>
        <p:grpSpPr>
          <a:xfrm>
            <a:off x="4437109" y="879110"/>
            <a:ext cx="2227580" cy="1404620"/>
            <a:chOff x="4437109" y="879110"/>
            <a:chExt cx="2227580" cy="1404620"/>
          </a:xfrm>
        </p:grpSpPr>
        <p:pic>
          <p:nvPicPr>
            <p:cNvPr id="118" name="Google Shape;118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437109" y="879110"/>
              <a:ext cx="2227580" cy="14046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" name="Google Shape;119;p10"/>
            <p:cNvSpPr/>
            <p:nvPr/>
          </p:nvSpPr>
          <p:spPr>
            <a:xfrm>
              <a:off x="4572000" y="960119"/>
              <a:ext cx="2011680" cy="1188720"/>
            </a:xfrm>
            <a:custGeom>
              <a:rect b="b" l="l" r="r" t="t"/>
              <a:pathLst>
                <a:path extrusionOk="0" h="1188720" w="2011679">
                  <a:moveTo>
                    <a:pt x="2011679" y="1188719"/>
                  </a:moveTo>
                  <a:lnTo>
                    <a:pt x="0" y="1188719"/>
                  </a:lnTo>
                  <a:lnTo>
                    <a:pt x="0" y="0"/>
                  </a:lnTo>
                  <a:lnTo>
                    <a:pt x="2011679" y="0"/>
                  </a:lnTo>
                  <a:lnTo>
                    <a:pt x="2011679" y="1188719"/>
                  </a:lnTo>
                  <a:close/>
                </a:path>
              </a:pathLst>
            </a:custGeom>
            <a:solidFill>
              <a:srgbClr val="1B2A3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0"/>
            <p:cNvSpPr/>
            <p:nvPr/>
          </p:nvSpPr>
          <p:spPr>
            <a:xfrm>
              <a:off x="4572000" y="960119"/>
              <a:ext cx="2011680" cy="1188720"/>
            </a:xfrm>
            <a:custGeom>
              <a:rect b="b" l="l" r="r" t="t"/>
              <a:pathLst>
                <a:path extrusionOk="0" h="1188720" w="2011679">
                  <a:moveTo>
                    <a:pt x="0" y="0"/>
                  </a:moveTo>
                  <a:lnTo>
                    <a:pt x="2011679" y="0"/>
                  </a:lnTo>
                  <a:lnTo>
                    <a:pt x="2011679" y="1188719"/>
                  </a:lnTo>
                  <a:lnTo>
                    <a:pt x="0" y="118871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2675">
              <a:solidFill>
                <a:srgbClr val="1B2A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1" name="Google Shape;121;p10"/>
          <p:cNvSpPr txBox="1"/>
          <p:nvPr/>
        </p:nvSpPr>
        <p:spPr>
          <a:xfrm>
            <a:off x="5286013" y="1075944"/>
            <a:ext cx="584200" cy="869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C0382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1664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BDC3C7"/>
                </a:solidFill>
                <a:latin typeface="Calibri"/>
                <a:ea typeface="Calibri"/>
                <a:cs typeface="Calibri"/>
                <a:sym typeface="Calibri"/>
              </a:rPr>
              <a:t>AQI Classes</a:t>
            </a:r>
            <a:endParaRPr sz="95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2" name="Google Shape;122;p10"/>
          <p:cNvGrpSpPr/>
          <p:nvPr/>
        </p:nvGrpSpPr>
        <p:grpSpPr>
          <a:xfrm>
            <a:off x="6540229" y="879110"/>
            <a:ext cx="2227580" cy="1404620"/>
            <a:chOff x="6540229" y="879110"/>
            <a:chExt cx="2227580" cy="1404620"/>
          </a:xfrm>
        </p:grpSpPr>
        <p:pic>
          <p:nvPicPr>
            <p:cNvPr id="123" name="Google Shape;123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540229" y="879110"/>
              <a:ext cx="2227580" cy="14046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" name="Google Shape;124;p10"/>
            <p:cNvSpPr/>
            <p:nvPr/>
          </p:nvSpPr>
          <p:spPr>
            <a:xfrm>
              <a:off x="6675119" y="960119"/>
              <a:ext cx="2011680" cy="1188720"/>
            </a:xfrm>
            <a:custGeom>
              <a:rect b="b" l="l" r="r" t="t"/>
              <a:pathLst>
                <a:path extrusionOk="0" h="1188720" w="2011679">
                  <a:moveTo>
                    <a:pt x="2011679" y="1188719"/>
                  </a:moveTo>
                  <a:lnTo>
                    <a:pt x="0" y="1188719"/>
                  </a:lnTo>
                  <a:lnTo>
                    <a:pt x="0" y="0"/>
                  </a:lnTo>
                  <a:lnTo>
                    <a:pt x="2011679" y="0"/>
                  </a:lnTo>
                  <a:lnTo>
                    <a:pt x="2011679" y="1188719"/>
                  </a:lnTo>
                  <a:close/>
                </a:path>
              </a:pathLst>
            </a:custGeom>
            <a:solidFill>
              <a:srgbClr val="1B2A3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0"/>
            <p:cNvSpPr/>
            <p:nvPr/>
          </p:nvSpPr>
          <p:spPr>
            <a:xfrm>
              <a:off x="6675119" y="960119"/>
              <a:ext cx="2011680" cy="1188720"/>
            </a:xfrm>
            <a:custGeom>
              <a:rect b="b" l="l" r="r" t="t"/>
              <a:pathLst>
                <a:path extrusionOk="0" h="1188720" w="2011679">
                  <a:moveTo>
                    <a:pt x="0" y="0"/>
                  </a:moveTo>
                  <a:lnTo>
                    <a:pt x="2011679" y="0"/>
                  </a:lnTo>
                  <a:lnTo>
                    <a:pt x="2011679" y="1188719"/>
                  </a:lnTo>
                  <a:lnTo>
                    <a:pt x="0" y="118871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2675">
              <a:solidFill>
                <a:srgbClr val="1B2A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" name="Google Shape;126;p10"/>
          <p:cNvSpPr txBox="1"/>
          <p:nvPr/>
        </p:nvSpPr>
        <p:spPr>
          <a:xfrm>
            <a:off x="7327976" y="1075944"/>
            <a:ext cx="706120" cy="869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1C40F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1664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BDC3C7"/>
                </a:solidFill>
                <a:latin typeface="Calibri"/>
                <a:ea typeface="Calibri"/>
                <a:cs typeface="Calibri"/>
                <a:sym typeface="Calibri"/>
              </a:rPr>
              <a:t>Final Features</a:t>
            </a:r>
            <a:endParaRPr sz="95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7" name="Google Shape;127;p10"/>
          <p:cNvGrpSpPr/>
          <p:nvPr/>
        </p:nvGrpSpPr>
        <p:grpSpPr>
          <a:xfrm>
            <a:off x="230869" y="2204990"/>
            <a:ext cx="4239260" cy="2136140"/>
            <a:chOff x="230869" y="2204990"/>
            <a:chExt cx="4239260" cy="2136140"/>
          </a:xfrm>
        </p:grpSpPr>
        <p:pic>
          <p:nvPicPr>
            <p:cNvPr id="128" name="Google Shape;128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30869" y="2204990"/>
              <a:ext cx="4239260" cy="21361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" name="Google Shape;129;p10"/>
            <p:cNvSpPr/>
            <p:nvPr/>
          </p:nvSpPr>
          <p:spPr>
            <a:xfrm>
              <a:off x="365760" y="2285999"/>
              <a:ext cx="4023360" cy="1920239"/>
            </a:xfrm>
            <a:custGeom>
              <a:rect b="b" l="l" r="r" t="t"/>
              <a:pathLst>
                <a:path extrusionOk="0" h="1920239" w="4023360">
                  <a:moveTo>
                    <a:pt x="4023359" y="1920239"/>
                  </a:moveTo>
                  <a:lnTo>
                    <a:pt x="0" y="1920239"/>
                  </a:lnTo>
                  <a:lnTo>
                    <a:pt x="0" y="0"/>
                  </a:lnTo>
                  <a:lnTo>
                    <a:pt x="4023359" y="0"/>
                  </a:lnTo>
                  <a:lnTo>
                    <a:pt x="4023359" y="1920239"/>
                  </a:lnTo>
                  <a:close/>
                </a:path>
              </a:pathLst>
            </a:custGeom>
            <a:solidFill>
              <a:srgbClr val="1B2A3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0"/>
            <p:cNvSpPr/>
            <p:nvPr/>
          </p:nvSpPr>
          <p:spPr>
            <a:xfrm>
              <a:off x="365760" y="2285999"/>
              <a:ext cx="4023360" cy="1920239"/>
            </a:xfrm>
            <a:custGeom>
              <a:rect b="b" l="l" r="r" t="t"/>
              <a:pathLst>
                <a:path extrusionOk="0" h="1920239" w="4023360">
                  <a:moveTo>
                    <a:pt x="0" y="0"/>
                  </a:moveTo>
                  <a:lnTo>
                    <a:pt x="4023359" y="0"/>
                  </a:lnTo>
                  <a:lnTo>
                    <a:pt x="4023359" y="1920239"/>
                  </a:lnTo>
                  <a:lnTo>
                    <a:pt x="0" y="192023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2675">
              <a:solidFill>
                <a:srgbClr val="1B2A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10"/>
          <p:cNvSpPr txBox="1"/>
          <p:nvPr/>
        </p:nvSpPr>
        <p:spPr>
          <a:xfrm>
            <a:off x="548640" y="2427224"/>
            <a:ext cx="163195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AQI Category Distribution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2" name="Google Shape;132;p10"/>
          <p:cNvGrpSpPr/>
          <p:nvPr/>
        </p:nvGrpSpPr>
        <p:grpSpPr>
          <a:xfrm>
            <a:off x="548640" y="2204990"/>
            <a:ext cx="8310609" cy="2136140"/>
            <a:chOff x="548640" y="2204990"/>
            <a:chExt cx="8310609" cy="2136140"/>
          </a:xfrm>
        </p:grpSpPr>
        <p:sp>
          <p:nvSpPr>
            <p:cNvPr id="133" name="Google Shape;133;p10"/>
            <p:cNvSpPr/>
            <p:nvPr/>
          </p:nvSpPr>
          <p:spPr>
            <a:xfrm>
              <a:off x="548640" y="2834639"/>
              <a:ext cx="109855" cy="292735"/>
            </a:xfrm>
            <a:custGeom>
              <a:rect b="b" l="l" r="r" t="t"/>
              <a:pathLst>
                <a:path extrusionOk="0" h="292735" w="109854">
                  <a:moveTo>
                    <a:pt x="109727" y="292607"/>
                  </a:moveTo>
                  <a:lnTo>
                    <a:pt x="0" y="292607"/>
                  </a:lnTo>
                  <a:lnTo>
                    <a:pt x="0" y="0"/>
                  </a:lnTo>
                  <a:lnTo>
                    <a:pt x="109727" y="0"/>
                  </a:lnTo>
                  <a:lnTo>
                    <a:pt x="109727" y="292607"/>
                  </a:lnTo>
                  <a:close/>
                </a:path>
              </a:pathLst>
            </a:custGeom>
            <a:solidFill>
              <a:srgbClr val="C038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0"/>
            <p:cNvSpPr/>
            <p:nvPr/>
          </p:nvSpPr>
          <p:spPr>
            <a:xfrm>
              <a:off x="548640" y="2834639"/>
              <a:ext cx="109855" cy="292735"/>
            </a:xfrm>
            <a:custGeom>
              <a:rect b="b" l="l" r="r" t="t"/>
              <a:pathLst>
                <a:path extrusionOk="0" h="292735" w="109854">
                  <a:moveTo>
                    <a:pt x="0" y="0"/>
                  </a:moveTo>
                  <a:lnTo>
                    <a:pt x="109727" y="0"/>
                  </a:lnTo>
                  <a:lnTo>
                    <a:pt x="109727" y="292607"/>
                  </a:lnTo>
                  <a:lnTo>
                    <a:pt x="0" y="292607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2675">
              <a:solidFill>
                <a:srgbClr val="C038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0"/>
            <p:cNvSpPr/>
            <p:nvPr/>
          </p:nvSpPr>
          <p:spPr>
            <a:xfrm>
              <a:off x="548640" y="3291839"/>
              <a:ext cx="109855" cy="292735"/>
            </a:xfrm>
            <a:custGeom>
              <a:rect b="b" l="l" r="r" t="t"/>
              <a:pathLst>
                <a:path extrusionOk="0" h="292735" w="109854">
                  <a:moveTo>
                    <a:pt x="109727" y="292607"/>
                  </a:moveTo>
                  <a:lnTo>
                    <a:pt x="0" y="292607"/>
                  </a:lnTo>
                  <a:lnTo>
                    <a:pt x="0" y="0"/>
                  </a:lnTo>
                  <a:lnTo>
                    <a:pt x="109727" y="0"/>
                  </a:lnTo>
                  <a:lnTo>
                    <a:pt x="109727" y="292607"/>
                  </a:lnTo>
                  <a:close/>
                </a:path>
              </a:pathLst>
            </a:custGeom>
            <a:solidFill>
              <a:srgbClr val="E67E2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0"/>
            <p:cNvSpPr/>
            <p:nvPr/>
          </p:nvSpPr>
          <p:spPr>
            <a:xfrm>
              <a:off x="548640" y="3291839"/>
              <a:ext cx="109855" cy="292735"/>
            </a:xfrm>
            <a:custGeom>
              <a:rect b="b" l="l" r="r" t="t"/>
              <a:pathLst>
                <a:path extrusionOk="0" h="292735" w="109854">
                  <a:moveTo>
                    <a:pt x="0" y="0"/>
                  </a:moveTo>
                  <a:lnTo>
                    <a:pt x="109727" y="0"/>
                  </a:lnTo>
                  <a:lnTo>
                    <a:pt x="109727" y="292607"/>
                  </a:lnTo>
                  <a:lnTo>
                    <a:pt x="0" y="292607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2675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0"/>
            <p:cNvSpPr/>
            <p:nvPr/>
          </p:nvSpPr>
          <p:spPr>
            <a:xfrm>
              <a:off x="548640" y="3749039"/>
              <a:ext cx="109855" cy="292735"/>
            </a:xfrm>
            <a:custGeom>
              <a:rect b="b" l="l" r="r" t="t"/>
              <a:pathLst>
                <a:path extrusionOk="0" h="292735" w="109854">
                  <a:moveTo>
                    <a:pt x="109727" y="292607"/>
                  </a:moveTo>
                  <a:lnTo>
                    <a:pt x="0" y="292607"/>
                  </a:lnTo>
                  <a:lnTo>
                    <a:pt x="0" y="0"/>
                  </a:lnTo>
                  <a:lnTo>
                    <a:pt x="109727" y="0"/>
                  </a:lnTo>
                  <a:lnTo>
                    <a:pt x="109727" y="292607"/>
                  </a:lnTo>
                  <a:close/>
                </a:path>
              </a:pathLst>
            </a:custGeom>
            <a:solidFill>
              <a:srgbClr val="F1C4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>
              <a:off x="548640" y="3749039"/>
              <a:ext cx="109855" cy="292735"/>
            </a:xfrm>
            <a:custGeom>
              <a:rect b="b" l="l" r="r" t="t"/>
              <a:pathLst>
                <a:path extrusionOk="0" h="292735" w="109854">
                  <a:moveTo>
                    <a:pt x="0" y="0"/>
                  </a:moveTo>
                  <a:lnTo>
                    <a:pt x="109727" y="0"/>
                  </a:lnTo>
                  <a:lnTo>
                    <a:pt x="109727" y="292607"/>
                  </a:lnTo>
                  <a:lnTo>
                    <a:pt x="0" y="292607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2675">
              <a:solidFill>
                <a:srgbClr val="F1C40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9" name="Google Shape;139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437109" y="2204990"/>
              <a:ext cx="4422140" cy="21361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" name="Google Shape;140;p10"/>
            <p:cNvSpPr/>
            <p:nvPr/>
          </p:nvSpPr>
          <p:spPr>
            <a:xfrm>
              <a:off x="4571999" y="2285999"/>
              <a:ext cx="4206240" cy="1920239"/>
            </a:xfrm>
            <a:custGeom>
              <a:rect b="b" l="l" r="r" t="t"/>
              <a:pathLst>
                <a:path extrusionOk="0" h="1920239" w="4206240">
                  <a:moveTo>
                    <a:pt x="4206239" y="1920239"/>
                  </a:moveTo>
                  <a:lnTo>
                    <a:pt x="0" y="1920239"/>
                  </a:lnTo>
                  <a:lnTo>
                    <a:pt x="0" y="0"/>
                  </a:lnTo>
                  <a:lnTo>
                    <a:pt x="4206239" y="0"/>
                  </a:lnTo>
                  <a:lnTo>
                    <a:pt x="4206239" y="1920239"/>
                  </a:lnTo>
                  <a:close/>
                </a:path>
              </a:pathLst>
            </a:custGeom>
            <a:solidFill>
              <a:srgbClr val="1B2A3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0"/>
            <p:cNvSpPr/>
            <p:nvPr/>
          </p:nvSpPr>
          <p:spPr>
            <a:xfrm>
              <a:off x="4571999" y="2285999"/>
              <a:ext cx="4206240" cy="1920239"/>
            </a:xfrm>
            <a:custGeom>
              <a:rect b="b" l="l" r="r" t="t"/>
              <a:pathLst>
                <a:path extrusionOk="0" h="1920239" w="4206240">
                  <a:moveTo>
                    <a:pt x="0" y="0"/>
                  </a:moveTo>
                  <a:lnTo>
                    <a:pt x="4206239" y="0"/>
                  </a:lnTo>
                  <a:lnTo>
                    <a:pt x="4206239" y="1920239"/>
                  </a:lnTo>
                  <a:lnTo>
                    <a:pt x="0" y="192023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2675">
              <a:solidFill>
                <a:srgbClr val="1B2A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2" name="Google Shape;142;p10"/>
          <p:cNvSpPr txBox="1"/>
          <p:nvPr/>
        </p:nvSpPr>
        <p:spPr>
          <a:xfrm>
            <a:off x="749808" y="2886964"/>
            <a:ext cx="1162685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Hazardous (AQI &gt; 300)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0"/>
          <p:cNvSpPr txBox="1"/>
          <p:nvPr/>
        </p:nvSpPr>
        <p:spPr>
          <a:xfrm>
            <a:off x="3394885" y="2886964"/>
            <a:ext cx="823594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C0382B"/>
                </a:solidFill>
                <a:latin typeface="Calibri"/>
                <a:ea typeface="Calibri"/>
                <a:cs typeface="Calibri"/>
                <a:sym typeface="Calibri"/>
              </a:rPr>
              <a:t>356 hrs (63.5%)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0"/>
          <p:cNvSpPr txBox="1"/>
          <p:nvPr/>
        </p:nvSpPr>
        <p:spPr>
          <a:xfrm>
            <a:off x="749808" y="3344164"/>
            <a:ext cx="1359535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Very Unhealthy (201–300)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0"/>
          <p:cNvSpPr txBox="1"/>
          <p:nvPr/>
        </p:nvSpPr>
        <p:spPr>
          <a:xfrm>
            <a:off x="3394885" y="3344164"/>
            <a:ext cx="823594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148 hrs (26.4%)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0"/>
          <p:cNvSpPr txBox="1"/>
          <p:nvPr/>
        </p:nvSpPr>
        <p:spPr>
          <a:xfrm>
            <a:off x="749808" y="3801364"/>
            <a:ext cx="109982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Unhealthy (151–200)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0"/>
          <p:cNvSpPr txBox="1"/>
          <p:nvPr/>
        </p:nvSpPr>
        <p:spPr>
          <a:xfrm>
            <a:off x="3459228" y="3801364"/>
            <a:ext cx="75946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1C40F"/>
                </a:solidFill>
                <a:latin typeface="Calibri"/>
                <a:ea typeface="Calibri"/>
                <a:cs typeface="Calibri"/>
                <a:sym typeface="Calibri"/>
              </a:rPr>
              <a:t>57 hrs (10.2%)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0"/>
          <p:cNvSpPr txBox="1"/>
          <p:nvPr/>
        </p:nvSpPr>
        <p:spPr>
          <a:xfrm>
            <a:off x="4754880" y="2427224"/>
            <a:ext cx="109093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EDA Findings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0"/>
          <p:cNvSpPr txBox="1"/>
          <p:nvPr/>
        </p:nvSpPr>
        <p:spPr>
          <a:xfrm>
            <a:off x="4840865" y="2930906"/>
            <a:ext cx="2745105" cy="922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200">
            <a:spAutoFit/>
          </a:bodyPr>
          <a:lstStyle/>
          <a:p>
            <a:pPr indent="-342265" lvl="0" marL="342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F0F1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PM2.5 &amp; PM10 strongly correlated (r = 0.99)</a:t>
            </a:r>
            <a:endParaRPr sz="1050">
              <a:latin typeface="Calibri"/>
              <a:ea typeface="Calibri"/>
              <a:cs typeface="Calibri"/>
              <a:sym typeface="Calibri"/>
            </a:endParaRPr>
          </a:p>
          <a:p>
            <a:pPr indent="-342265" lvl="0" marL="342265" rtl="0" algn="l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Clr>
                <a:srgbClr val="ECF0F1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CO peaks 02:00–05:00 (nocturnal inversion)</a:t>
            </a:r>
            <a:endParaRPr sz="1050">
              <a:latin typeface="Calibri"/>
              <a:ea typeface="Calibri"/>
              <a:cs typeface="Calibri"/>
              <a:sym typeface="Calibri"/>
            </a:endParaRPr>
          </a:p>
          <a:p>
            <a:pPr indent="-342265" lvl="0" marL="342265" rtl="0" algn="l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Clr>
                <a:srgbClr val="ECF0F1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O₃ inversely varies with PM2.5 (photochem)</a:t>
            </a:r>
            <a:endParaRPr sz="1050">
              <a:latin typeface="Calibri"/>
              <a:ea typeface="Calibri"/>
              <a:cs typeface="Calibri"/>
              <a:sym typeface="Calibri"/>
            </a:endParaRPr>
          </a:p>
          <a:p>
            <a:pPr indent="-342265" lvl="0" marL="342265" rtl="0" algn="l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Clr>
                <a:srgbClr val="ECF0F1"/>
              </a:buClr>
              <a:buSzPts val="1050"/>
              <a:buFont typeface="Calibri"/>
              <a:buChar char="•"/>
            </a:pPr>
            <a:r>
              <a:rPr lang="en-US" sz="1050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NO shows highest variance (traffic bursts)</a:t>
            </a:r>
            <a:endParaRPr sz="10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0"/>
          <p:cNvSpPr txBox="1"/>
          <p:nvPr/>
        </p:nvSpPr>
        <p:spPr>
          <a:xfrm>
            <a:off x="2781340" y="4627372"/>
            <a:ext cx="3580765" cy="154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50">
                <a:solidFill>
                  <a:srgbClr val="BDC3C7"/>
                </a:solidFill>
                <a:latin typeface="Calibri"/>
                <a:ea typeface="Calibri"/>
                <a:cs typeface="Calibri"/>
                <a:sym typeface="Calibri"/>
              </a:rPr>
              <a:t>Source: OpenWeatherMap Air Pollution API | New Delhi, India | Jan 1–24, 2023</a:t>
            </a:r>
            <a:endParaRPr sz="85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55" name="Google Shape;155;p11"/>
          <p:cNvSpPr txBox="1"/>
          <p:nvPr>
            <p:ph type="title"/>
          </p:nvPr>
        </p:nvSpPr>
        <p:spPr>
          <a:xfrm>
            <a:off x="353060" y="239776"/>
            <a:ext cx="543496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Preprocessing &amp; Feature Engineering</a:t>
            </a:r>
            <a:endParaRPr sz="2800"/>
          </a:p>
        </p:txBody>
      </p:sp>
      <p:grpSp>
        <p:nvGrpSpPr>
          <p:cNvPr id="156" name="Google Shape;156;p11"/>
          <p:cNvGrpSpPr/>
          <p:nvPr/>
        </p:nvGrpSpPr>
        <p:grpSpPr>
          <a:xfrm>
            <a:off x="230869" y="822960"/>
            <a:ext cx="8547371" cy="3015251"/>
            <a:chOff x="230869" y="822960"/>
            <a:chExt cx="8547371" cy="3015251"/>
          </a:xfrm>
        </p:grpSpPr>
        <p:sp>
          <p:nvSpPr>
            <p:cNvPr id="157" name="Google Shape;157;p11"/>
            <p:cNvSpPr/>
            <p:nvPr/>
          </p:nvSpPr>
          <p:spPr>
            <a:xfrm>
              <a:off x="365760" y="822960"/>
              <a:ext cx="8412480" cy="27940"/>
            </a:xfrm>
            <a:custGeom>
              <a:rect b="b" l="l" r="r" t="t"/>
              <a:pathLst>
                <a:path extrusionOk="0" h="27940" w="8412480">
                  <a:moveTo>
                    <a:pt x="8412479" y="27431"/>
                  </a:moveTo>
                  <a:lnTo>
                    <a:pt x="0" y="27431"/>
                  </a:lnTo>
                  <a:lnTo>
                    <a:pt x="0" y="0"/>
                  </a:lnTo>
                  <a:lnTo>
                    <a:pt x="8412479" y="0"/>
                  </a:lnTo>
                  <a:lnTo>
                    <a:pt x="8412479" y="27431"/>
                  </a:lnTo>
                  <a:close/>
                </a:path>
              </a:pathLst>
            </a:custGeom>
            <a:solidFill>
              <a:srgbClr val="F1C4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1"/>
            <p:cNvSpPr/>
            <p:nvPr/>
          </p:nvSpPr>
          <p:spPr>
            <a:xfrm>
              <a:off x="365760" y="822960"/>
              <a:ext cx="8412480" cy="27940"/>
            </a:xfrm>
            <a:custGeom>
              <a:rect b="b" l="l" r="r" t="t"/>
              <a:pathLst>
                <a:path extrusionOk="0" h="27940" w="8412480">
                  <a:moveTo>
                    <a:pt x="0" y="0"/>
                  </a:moveTo>
                  <a:lnTo>
                    <a:pt x="8412479" y="0"/>
                  </a:lnTo>
                  <a:lnTo>
                    <a:pt x="8412479" y="27431"/>
                  </a:lnTo>
                  <a:lnTo>
                    <a:pt x="0" y="2743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2675">
              <a:solidFill>
                <a:srgbClr val="F1C40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9" name="Google Shape;159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0869" y="879111"/>
              <a:ext cx="2245868" cy="2959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" name="Google Shape;160;p11"/>
            <p:cNvSpPr/>
            <p:nvPr/>
          </p:nvSpPr>
          <p:spPr>
            <a:xfrm>
              <a:off x="365760" y="960120"/>
              <a:ext cx="2030095" cy="2743200"/>
            </a:xfrm>
            <a:custGeom>
              <a:rect b="b" l="l" r="r" t="t"/>
              <a:pathLst>
                <a:path extrusionOk="0" h="2743200" w="2030095">
                  <a:moveTo>
                    <a:pt x="2029967" y="2743199"/>
                  </a:moveTo>
                  <a:lnTo>
                    <a:pt x="0" y="2743199"/>
                  </a:lnTo>
                  <a:lnTo>
                    <a:pt x="0" y="0"/>
                  </a:lnTo>
                  <a:lnTo>
                    <a:pt x="2029967" y="0"/>
                  </a:lnTo>
                  <a:lnTo>
                    <a:pt x="2029967" y="2743199"/>
                  </a:lnTo>
                  <a:close/>
                </a:path>
              </a:pathLst>
            </a:custGeom>
            <a:solidFill>
              <a:srgbClr val="1B2A3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1"/>
            <p:cNvSpPr/>
            <p:nvPr/>
          </p:nvSpPr>
          <p:spPr>
            <a:xfrm>
              <a:off x="1060703" y="1051560"/>
              <a:ext cx="640080" cy="640080"/>
            </a:xfrm>
            <a:custGeom>
              <a:rect b="b" l="l" r="r" t="t"/>
              <a:pathLst>
                <a:path extrusionOk="0" h="640080" w="640080">
                  <a:moveTo>
                    <a:pt x="320039" y="640079"/>
                  </a:moveTo>
                  <a:lnTo>
                    <a:pt x="272746" y="636609"/>
                  </a:lnTo>
                  <a:lnTo>
                    <a:pt x="227608" y="626529"/>
                  </a:lnTo>
                  <a:lnTo>
                    <a:pt x="185119" y="610334"/>
                  </a:lnTo>
                  <a:lnTo>
                    <a:pt x="145774" y="588519"/>
                  </a:lnTo>
                  <a:lnTo>
                    <a:pt x="110070" y="561579"/>
                  </a:lnTo>
                  <a:lnTo>
                    <a:pt x="78500" y="530009"/>
                  </a:lnTo>
                  <a:lnTo>
                    <a:pt x="51560" y="494305"/>
                  </a:lnTo>
                  <a:lnTo>
                    <a:pt x="29745" y="454960"/>
                  </a:lnTo>
                  <a:lnTo>
                    <a:pt x="13550" y="412471"/>
                  </a:lnTo>
                  <a:lnTo>
                    <a:pt x="3470" y="367333"/>
                  </a:lnTo>
                  <a:lnTo>
                    <a:pt x="0" y="320039"/>
                  </a:lnTo>
                  <a:lnTo>
                    <a:pt x="3470" y="272746"/>
                  </a:lnTo>
                  <a:lnTo>
                    <a:pt x="13550" y="227608"/>
                  </a:lnTo>
                  <a:lnTo>
                    <a:pt x="29745" y="185119"/>
                  </a:lnTo>
                  <a:lnTo>
                    <a:pt x="51560" y="145774"/>
                  </a:lnTo>
                  <a:lnTo>
                    <a:pt x="78500" y="110070"/>
                  </a:lnTo>
                  <a:lnTo>
                    <a:pt x="110070" y="78500"/>
                  </a:lnTo>
                  <a:lnTo>
                    <a:pt x="145774" y="51560"/>
                  </a:lnTo>
                  <a:lnTo>
                    <a:pt x="185119" y="29745"/>
                  </a:lnTo>
                  <a:lnTo>
                    <a:pt x="227608" y="13550"/>
                  </a:lnTo>
                  <a:lnTo>
                    <a:pt x="272746" y="3470"/>
                  </a:lnTo>
                  <a:lnTo>
                    <a:pt x="320039" y="0"/>
                  </a:lnTo>
                  <a:lnTo>
                    <a:pt x="370407" y="3986"/>
                  </a:lnTo>
                  <a:lnTo>
                    <a:pt x="419081" y="15710"/>
                  </a:lnTo>
                  <a:lnTo>
                    <a:pt x="465201" y="34813"/>
                  </a:lnTo>
                  <a:lnTo>
                    <a:pt x="507908" y="60941"/>
                  </a:lnTo>
                  <a:lnTo>
                    <a:pt x="546342" y="93737"/>
                  </a:lnTo>
                  <a:lnTo>
                    <a:pt x="579138" y="132171"/>
                  </a:lnTo>
                  <a:lnTo>
                    <a:pt x="605266" y="174878"/>
                  </a:lnTo>
                  <a:lnTo>
                    <a:pt x="624369" y="220998"/>
                  </a:lnTo>
                  <a:lnTo>
                    <a:pt x="636093" y="269672"/>
                  </a:lnTo>
                  <a:lnTo>
                    <a:pt x="640079" y="320039"/>
                  </a:lnTo>
                  <a:lnTo>
                    <a:pt x="636609" y="367333"/>
                  </a:lnTo>
                  <a:lnTo>
                    <a:pt x="626529" y="412471"/>
                  </a:lnTo>
                  <a:lnTo>
                    <a:pt x="610334" y="454960"/>
                  </a:lnTo>
                  <a:lnTo>
                    <a:pt x="588519" y="494305"/>
                  </a:lnTo>
                  <a:lnTo>
                    <a:pt x="561579" y="530009"/>
                  </a:lnTo>
                  <a:lnTo>
                    <a:pt x="530009" y="561579"/>
                  </a:lnTo>
                  <a:lnTo>
                    <a:pt x="494305" y="588519"/>
                  </a:lnTo>
                  <a:lnTo>
                    <a:pt x="454960" y="610334"/>
                  </a:lnTo>
                  <a:lnTo>
                    <a:pt x="412471" y="626529"/>
                  </a:lnTo>
                  <a:lnTo>
                    <a:pt x="367333" y="636609"/>
                  </a:lnTo>
                  <a:lnTo>
                    <a:pt x="320039" y="640079"/>
                  </a:lnTo>
                  <a:close/>
                </a:path>
              </a:pathLst>
            </a:custGeom>
            <a:solidFill>
              <a:srgbClr val="1ABB9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1"/>
            <p:cNvSpPr/>
            <p:nvPr/>
          </p:nvSpPr>
          <p:spPr>
            <a:xfrm>
              <a:off x="1060703" y="1051560"/>
              <a:ext cx="640080" cy="640080"/>
            </a:xfrm>
            <a:custGeom>
              <a:rect b="b" l="l" r="r" t="t"/>
              <a:pathLst>
                <a:path extrusionOk="0" h="640080" w="640080">
                  <a:moveTo>
                    <a:pt x="0" y="320039"/>
                  </a:moveTo>
                  <a:lnTo>
                    <a:pt x="3470" y="272746"/>
                  </a:lnTo>
                  <a:lnTo>
                    <a:pt x="13550" y="227608"/>
                  </a:lnTo>
                  <a:lnTo>
                    <a:pt x="29745" y="185119"/>
                  </a:lnTo>
                  <a:lnTo>
                    <a:pt x="51560" y="145774"/>
                  </a:lnTo>
                  <a:lnTo>
                    <a:pt x="78500" y="110070"/>
                  </a:lnTo>
                  <a:lnTo>
                    <a:pt x="110070" y="78500"/>
                  </a:lnTo>
                  <a:lnTo>
                    <a:pt x="145774" y="51560"/>
                  </a:lnTo>
                  <a:lnTo>
                    <a:pt x="185119" y="29745"/>
                  </a:lnTo>
                  <a:lnTo>
                    <a:pt x="227608" y="13550"/>
                  </a:lnTo>
                  <a:lnTo>
                    <a:pt x="272746" y="3470"/>
                  </a:lnTo>
                  <a:lnTo>
                    <a:pt x="320039" y="0"/>
                  </a:lnTo>
                  <a:lnTo>
                    <a:pt x="370407" y="3986"/>
                  </a:lnTo>
                  <a:lnTo>
                    <a:pt x="419081" y="15710"/>
                  </a:lnTo>
                  <a:lnTo>
                    <a:pt x="465201" y="34813"/>
                  </a:lnTo>
                  <a:lnTo>
                    <a:pt x="507908" y="60941"/>
                  </a:lnTo>
                  <a:lnTo>
                    <a:pt x="546342" y="93737"/>
                  </a:lnTo>
                  <a:lnTo>
                    <a:pt x="579138" y="132171"/>
                  </a:lnTo>
                  <a:lnTo>
                    <a:pt x="605266" y="174878"/>
                  </a:lnTo>
                  <a:lnTo>
                    <a:pt x="624369" y="220998"/>
                  </a:lnTo>
                  <a:lnTo>
                    <a:pt x="636093" y="269672"/>
                  </a:lnTo>
                  <a:lnTo>
                    <a:pt x="640079" y="320039"/>
                  </a:lnTo>
                  <a:lnTo>
                    <a:pt x="636609" y="367333"/>
                  </a:lnTo>
                  <a:lnTo>
                    <a:pt x="626529" y="412471"/>
                  </a:lnTo>
                  <a:lnTo>
                    <a:pt x="610334" y="454960"/>
                  </a:lnTo>
                  <a:lnTo>
                    <a:pt x="588519" y="494305"/>
                  </a:lnTo>
                  <a:lnTo>
                    <a:pt x="561579" y="530009"/>
                  </a:lnTo>
                  <a:lnTo>
                    <a:pt x="530009" y="561579"/>
                  </a:lnTo>
                  <a:lnTo>
                    <a:pt x="494305" y="588519"/>
                  </a:lnTo>
                  <a:lnTo>
                    <a:pt x="454960" y="610334"/>
                  </a:lnTo>
                  <a:lnTo>
                    <a:pt x="412471" y="626529"/>
                  </a:lnTo>
                  <a:lnTo>
                    <a:pt x="367333" y="636609"/>
                  </a:lnTo>
                  <a:lnTo>
                    <a:pt x="320039" y="640079"/>
                  </a:lnTo>
                  <a:lnTo>
                    <a:pt x="272746" y="636609"/>
                  </a:lnTo>
                  <a:lnTo>
                    <a:pt x="227608" y="626529"/>
                  </a:lnTo>
                  <a:lnTo>
                    <a:pt x="185119" y="610334"/>
                  </a:lnTo>
                  <a:lnTo>
                    <a:pt x="145774" y="588519"/>
                  </a:lnTo>
                  <a:lnTo>
                    <a:pt x="110070" y="561579"/>
                  </a:lnTo>
                  <a:lnTo>
                    <a:pt x="78500" y="530009"/>
                  </a:lnTo>
                  <a:lnTo>
                    <a:pt x="51560" y="494305"/>
                  </a:lnTo>
                  <a:lnTo>
                    <a:pt x="29745" y="454960"/>
                  </a:lnTo>
                  <a:lnTo>
                    <a:pt x="13550" y="412471"/>
                  </a:lnTo>
                  <a:lnTo>
                    <a:pt x="3470" y="367333"/>
                  </a:lnTo>
                  <a:lnTo>
                    <a:pt x="0" y="320039"/>
                  </a:lnTo>
                  <a:close/>
                </a:path>
              </a:pathLst>
            </a:custGeom>
            <a:noFill/>
            <a:ln cap="flat" cmpd="sng" w="12675">
              <a:solidFill>
                <a:srgbClr val="1ABB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3" name="Google Shape;163;p11"/>
          <p:cNvSpPr txBox="1"/>
          <p:nvPr/>
        </p:nvSpPr>
        <p:spPr>
          <a:xfrm>
            <a:off x="359409" y="953769"/>
            <a:ext cx="2042795" cy="2755900"/>
          </a:xfrm>
          <a:prstGeom prst="rect">
            <a:avLst/>
          </a:prstGeom>
          <a:noFill/>
          <a:ln cap="flat" cmpd="sng" w="9525">
            <a:solidFill>
              <a:srgbClr val="1B2A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82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S PGothic"/>
                <a:ea typeface="MS PGothic"/>
                <a:cs typeface="MS PGothic"/>
                <a:sym typeface="MS PGothic"/>
              </a:rPr>
              <a:t>✓</a:t>
            </a:r>
            <a:endParaRPr sz="1800">
              <a:latin typeface="MS PGothic"/>
              <a:ea typeface="MS PGothic"/>
              <a:cs typeface="MS PGothic"/>
              <a:sym typeface="MS PGothic"/>
            </a:endParaRPr>
          </a:p>
          <a:p>
            <a:pPr indent="0" lvl="0" marL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MS PGothic"/>
              <a:ea typeface="MS PGothic"/>
              <a:cs typeface="MS PGothic"/>
              <a:sym typeface="MS PGothic"/>
            </a:endParaRPr>
          </a:p>
          <a:p>
            <a:pPr indent="0" lvl="0" marL="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ABB9B"/>
                </a:solidFill>
                <a:latin typeface="Calibri"/>
                <a:ea typeface="Calibri"/>
                <a:cs typeface="Calibri"/>
                <a:sym typeface="Calibri"/>
              </a:rPr>
              <a:t>Missing Values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524510" marR="516890" rtl="0" algn="ctr">
              <a:lnSpc>
                <a:spcPct val="13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No nulls detected. Dataset is complete.</a:t>
            </a:r>
            <a:endParaRPr sz="95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4" name="Google Shape;164;p11"/>
          <p:cNvGrpSpPr/>
          <p:nvPr/>
        </p:nvGrpSpPr>
        <p:grpSpPr>
          <a:xfrm>
            <a:off x="2443717" y="879111"/>
            <a:ext cx="2245868" cy="2959100"/>
            <a:chOff x="2443717" y="879111"/>
            <a:chExt cx="2245868" cy="2959100"/>
          </a:xfrm>
        </p:grpSpPr>
        <p:pic>
          <p:nvPicPr>
            <p:cNvPr id="165" name="Google Shape;165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443717" y="879111"/>
              <a:ext cx="2245868" cy="2959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" name="Google Shape;166;p11"/>
            <p:cNvSpPr/>
            <p:nvPr/>
          </p:nvSpPr>
          <p:spPr>
            <a:xfrm>
              <a:off x="2578607" y="960120"/>
              <a:ext cx="2030095" cy="2743200"/>
            </a:xfrm>
            <a:custGeom>
              <a:rect b="b" l="l" r="r" t="t"/>
              <a:pathLst>
                <a:path extrusionOk="0" h="2743200" w="2030095">
                  <a:moveTo>
                    <a:pt x="2029968" y="2743199"/>
                  </a:moveTo>
                  <a:lnTo>
                    <a:pt x="0" y="2743199"/>
                  </a:lnTo>
                  <a:lnTo>
                    <a:pt x="0" y="0"/>
                  </a:lnTo>
                  <a:lnTo>
                    <a:pt x="2029968" y="0"/>
                  </a:lnTo>
                  <a:lnTo>
                    <a:pt x="2029968" y="2743199"/>
                  </a:lnTo>
                  <a:close/>
                </a:path>
              </a:pathLst>
            </a:custGeom>
            <a:solidFill>
              <a:srgbClr val="1B2A3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1"/>
            <p:cNvSpPr/>
            <p:nvPr/>
          </p:nvSpPr>
          <p:spPr>
            <a:xfrm>
              <a:off x="3273551" y="1051560"/>
              <a:ext cx="640080" cy="640080"/>
            </a:xfrm>
            <a:custGeom>
              <a:rect b="b" l="l" r="r" t="t"/>
              <a:pathLst>
                <a:path extrusionOk="0" h="640080" w="640079">
                  <a:moveTo>
                    <a:pt x="320040" y="640079"/>
                  </a:moveTo>
                  <a:lnTo>
                    <a:pt x="272747" y="636609"/>
                  </a:lnTo>
                  <a:lnTo>
                    <a:pt x="227608" y="626529"/>
                  </a:lnTo>
                  <a:lnTo>
                    <a:pt x="185119" y="610334"/>
                  </a:lnTo>
                  <a:lnTo>
                    <a:pt x="145774" y="588519"/>
                  </a:lnTo>
                  <a:lnTo>
                    <a:pt x="110070" y="561579"/>
                  </a:lnTo>
                  <a:lnTo>
                    <a:pt x="78500" y="530009"/>
                  </a:lnTo>
                  <a:lnTo>
                    <a:pt x="51560" y="494305"/>
                  </a:lnTo>
                  <a:lnTo>
                    <a:pt x="29745" y="454960"/>
                  </a:lnTo>
                  <a:lnTo>
                    <a:pt x="13550" y="412471"/>
                  </a:lnTo>
                  <a:lnTo>
                    <a:pt x="3470" y="367333"/>
                  </a:lnTo>
                  <a:lnTo>
                    <a:pt x="0" y="320039"/>
                  </a:lnTo>
                  <a:lnTo>
                    <a:pt x="3470" y="272746"/>
                  </a:lnTo>
                  <a:lnTo>
                    <a:pt x="13550" y="227608"/>
                  </a:lnTo>
                  <a:lnTo>
                    <a:pt x="29745" y="185119"/>
                  </a:lnTo>
                  <a:lnTo>
                    <a:pt x="51560" y="145774"/>
                  </a:lnTo>
                  <a:lnTo>
                    <a:pt x="78500" y="110070"/>
                  </a:lnTo>
                  <a:lnTo>
                    <a:pt x="110070" y="78500"/>
                  </a:lnTo>
                  <a:lnTo>
                    <a:pt x="145774" y="51560"/>
                  </a:lnTo>
                  <a:lnTo>
                    <a:pt x="185119" y="29745"/>
                  </a:lnTo>
                  <a:lnTo>
                    <a:pt x="227608" y="13550"/>
                  </a:lnTo>
                  <a:lnTo>
                    <a:pt x="272747" y="3470"/>
                  </a:lnTo>
                  <a:lnTo>
                    <a:pt x="320040" y="0"/>
                  </a:lnTo>
                  <a:lnTo>
                    <a:pt x="370407" y="3986"/>
                  </a:lnTo>
                  <a:lnTo>
                    <a:pt x="419081" y="15710"/>
                  </a:lnTo>
                  <a:lnTo>
                    <a:pt x="465201" y="34813"/>
                  </a:lnTo>
                  <a:lnTo>
                    <a:pt x="507908" y="60941"/>
                  </a:lnTo>
                  <a:lnTo>
                    <a:pt x="546342" y="93737"/>
                  </a:lnTo>
                  <a:lnTo>
                    <a:pt x="579138" y="132171"/>
                  </a:lnTo>
                  <a:lnTo>
                    <a:pt x="605266" y="174878"/>
                  </a:lnTo>
                  <a:lnTo>
                    <a:pt x="624369" y="220998"/>
                  </a:lnTo>
                  <a:lnTo>
                    <a:pt x="636093" y="269672"/>
                  </a:lnTo>
                  <a:lnTo>
                    <a:pt x="640079" y="320039"/>
                  </a:lnTo>
                  <a:lnTo>
                    <a:pt x="636609" y="367333"/>
                  </a:lnTo>
                  <a:lnTo>
                    <a:pt x="626529" y="412471"/>
                  </a:lnTo>
                  <a:lnTo>
                    <a:pt x="610334" y="454960"/>
                  </a:lnTo>
                  <a:lnTo>
                    <a:pt x="588519" y="494305"/>
                  </a:lnTo>
                  <a:lnTo>
                    <a:pt x="561579" y="530009"/>
                  </a:lnTo>
                  <a:lnTo>
                    <a:pt x="530009" y="561579"/>
                  </a:lnTo>
                  <a:lnTo>
                    <a:pt x="494305" y="588519"/>
                  </a:lnTo>
                  <a:lnTo>
                    <a:pt x="454960" y="610334"/>
                  </a:lnTo>
                  <a:lnTo>
                    <a:pt x="412471" y="626529"/>
                  </a:lnTo>
                  <a:lnTo>
                    <a:pt x="367333" y="636609"/>
                  </a:lnTo>
                  <a:lnTo>
                    <a:pt x="320040" y="640079"/>
                  </a:lnTo>
                  <a:close/>
                </a:path>
              </a:pathLst>
            </a:custGeom>
            <a:solidFill>
              <a:srgbClr val="E67E2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1"/>
            <p:cNvSpPr/>
            <p:nvPr/>
          </p:nvSpPr>
          <p:spPr>
            <a:xfrm>
              <a:off x="3273551" y="1051560"/>
              <a:ext cx="640080" cy="640080"/>
            </a:xfrm>
            <a:custGeom>
              <a:rect b="b" l="l" r="r" t="t"/>
              <a:pathLst>
                <a:path extrusionOk="0" h="640080" w="640079">
                  <a:moveTo>
                    <a:pt x="0" y="320039"/>
                  </a:moveTo>
                  <a:lnTo>
                    <a:pt x="3470" y="272746"/>
                  </a:lnTo>
                  <a:lnTo>
                    <a:pt x="13550" y="227608"/>
                  </a:lnTo>
                  <a:lnTo>
                    <a:pt x="29745" y="185119"/>
                  </a:lnTo>
                  <a:lnTo>
                    <a:pt x="51560" y="145774"/>
                  </a:lnTo>
                  <a:lnTo>
                    <a:pt x="78500" y="110070"/>
                  </a:lnTo>
                  <a:lnTo>
                    <a:pt x="110070" y="78500"/>
                  </a:lnTo>
                  <a:lnTo>
                    <a:pt x="145774" y="51560"/>
                  </a:lnTo>
                  <a:lnTo>
                    <a:pt x="185119" y="29745"/>
                  </a:lnTo>
                  <a:lnTo>
                    <a:pt x="227608" y="13550"/>
                  </a:lnTo>
                  <a:lnTo>
                    <a:pt x="272747" y="3470"/>
                  </a:lnTo>
                  <a:lnTo>
                    <a:pt x="320040" y="0"/>
                  </a:lnTo>
                  <a:lnTo>
                    <a:pt x="370407" y="3986"/>
                  </a:lnTo>
                  <a:lnTo>
                    <a:pt x="419081" y="15710"/>
                  </a:lnTo>
                  <a:lnTo>
                    <a:pt x="465201" y="34813"/>
                  </a:lnTo>
                  <a:lnTo>
                    <a:pt x="507908" y="60941"/>
                  </a:lnTo>
                  <a:lnTo>
                    <a:pt x="546342" y="93737"/>
                  </a:lnTo>
                  <a:lnTo>
                    <a:pt x="579138" y="132171"/>
                  </a:lnTo>
                  <a:lnTo>
                    <a:pt x="605266" y="174878"/>
                  </a:lnTo>
                  <a:lnTo>
                    <a:pt x="624369" y="220998"/>
                  </a:lnTo>
                  <a:lnTo>
                    <a:pt x="636093" y="269672"/>
                  </a:lnTo>
                  <a:lnTo>
                    <a:pt x="640079" y="320039"/>
                  </a:lnTo>
                  <a:lnTo>
                    <a:pt x="636609" y="367333"/>
                  </a:lnTo>
                  <a:lnTo>
                    <a:pt x="626529" y="412471"/>
                  </a:lnTo>
                  <a:lnTo>
                    <a:pt x="610334" y="454960"/>
                  </a:lnTo>
                  <a:lnTo>
                    <a:pt x="588519" y="494305"/>
                  </a:lnTo>
                  <a:lnTo>
                    <a:pt x="561579" y="530009"/>
                  </a:lnTo>
                  <a:lnTo>
                    <a:pt x="530009" y="561579"/>
                  </a:lnTo>
                  <a:lnTo>
                    <a:pt x="494305" y="588519"/>
                  </a:lnTo>
                  <a:lnTo>
                    <a:pt x="454960" y="610334"/>
                  </a:lnTo>
                  <a:lnTo>
                    <a:pt x="412471" y="626529"/>
                  </a:lnTo>
                  <a:lnTo>
                    <a:pt x="367333" y="636609"/>
                  </a:lnTo>
                  <a:lnTo>
                    <a:pt x="320040" y="640079"/>
                  </a:lnTo>
                  <a:lnTo>
                    <a:pt x="272747" y="636609"/>
                  </a:lnTo>
                  <a:lnTo>
                    <a:pt x="227608" y="626529"/>
                  </a:lnTo>
                  <a:lnTo>
                    <a:pt x="185119" y="610334"/>
                  </a:lnTo>
                  <a:lnTo>
                    <a:pt x="145774" y="588519"/>
                  </a:lnTo>
                  <a:lnTo>
                    <a:pt x="110070" y="561579"/>
                  </a:lnTo>
                  <a:lnTo>
                    <a:pt x="78500" y="530009"/>
                  </a:lnTo>
                  <a:lnTo>
                    <a:pt x="51560" y="494305"/>
                  </a:lnTo>
                  <a:lnTo>
                    <a:pt x="29745" y="454960"/>
                  </a:lnTo>
                  <a:lnTo>
                    <a:pt x="13550" y="412471"/>
                  </a:lnTo>
                  <a:lnTo>
                    <a:pt x="3470" y="367333"/>
                  </a:lnTo>
                  <a:lnTo>
                    <a:pt x="0" y="320039"/>
                  </a:lnTo>
                  <a:close/>
                </a:path>
              </a:pathLst>
            </a:custGeom>
            <a:noFill/>
            <a:ln cap="flat" cmpd="sng" w="12675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69" name="Google Shape;169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451275" y="1241815"/>
              <a:ext cx="284633" cy="2678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0" name="Google Shape;170;p11"/>
          <p:cNvSpPr txBox="1"/>
          <p:nvPr/>
        </p:nvSpPr>
        <p:spPr>
          <a:xfrm>
            <a:off x="2572257" y="953769"/>
            <a:ext cx="2042795" cy="2755900"/>
          </a:xfrm>
          <a:prstGeom prst="rect">
            <a:avLst/>
          </a:prstGeom>
          <a:noFill/>
          <a:ln cap="flat" cmpd="sng" w="9525">
            <a:solidFill>
              <a:srgbClr val="1B2A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AQI Derivation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205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EPA PM2.5 breakpoint formula </a:t>
            </a:r>
            <a:r>
              <a:rPr lang="en-US" sz="950">
                <a:solidFill>
                  <a:srgbClr val="ECF0F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→</a:t>
            </a:r>
            <a:endParaRPr sz="95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lnSpc>
                <a:spcPct val="100000"/>
              </a:lnSpc>
              <a:spcBef>
                <a:spcPts val="345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3-class target label</a:t>
            </a:r>
            <a:endParaRPr sz="95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1" name="Google Shape;171;p11"/>
          <p:cNvGrpSpPr/>
          <p:nvPr/>
        </p:nvGrpSpPr>
        <p:grpSpPr>
          <a:xfrm>
            <a:off x="4656565" y="879111"/>
            <a:ext cx="2245868" cy="2959100"/>
            <a:chOff x="4656565" y="879111"/>
            <a:chExt cx="2245868" cy="2959100"/>
          </a:xfrm>
        </p:grpSpPr>
        <p:pic>
          <p:nvPicPr>
            <p:cNvPr id="172" name="Google Shape;172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56565" y="879111"/>
              <a:ext cx="2245868" cy="2959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" name="Google Shape;173;p11"/>
            <p:cNvSpPr/>
            <p:nvPr/>
          </p:nvSpPr>
          <p:spPr>
            <a:xfrm>
              <a:off x="4791455" y="960120"/>
              <a:ext cx="2030095" cy="2743200"/>
            </a:xfrm>
            <a:custGeom>
              <a:rect b="b" l="l" r="r" t="t"/>
              <a:pathLst>
                <a:path extrusionOk="0" h="2743200" w="2030095">
                  <a:moveTo>
                    <a:pt x="2029968" y="2743199"/>
                  </a:moveTo>
                  <a:lnTo>
                    <a:pt x="0" y="2743199"/>
                  </a:lnTo>
                  <a:lnTo>
                    <a:pt x="0" y="0"/>
                  </a:lnTo>
                  <a:lnTo>
                    <a:pt x="2029968" y="0"/>
                  </a:lnTo>
                  <a:lnTo>
                    <a:pt x="2029968" y="2743199"/>
                  </a:lnTo>
                  <a:close/>
                </a:path>
              </a:pathLst>
            </a:custGeom>
            <a:solidFill>
              <a:srgbClr val="1B2A3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1"/>
            <p:cNvSpPr/>
            <p:nvPr/>
          </p:nvSpPr>
          <p:spPr>
            <a:xfrm>
              <a:off x="5486400" y="1051560"/>
              <a:ext cx="640080" cy="640080"/>
            </a:xfrm>
            <a:custGeom>
              <a:rect b="b" l="l" r="r" t="t"/>
              <a:pathLst>
                <a:path extrusionOk="0" h="640080" w="640079">
                  <a:moveTo>
                    <a:pt x="320039" y="640079"/>
                  </a:moveTo>
                  <a:lnTo>
                    <a:pt x="272746" y="636609"/>
                  </a:lnTo>
                  <a:lnTo>
                    <a:pt x="227608" y="626529"/>
                  </a:lnTo>
                  <a:lnTo>
                    <a:pt x="185119" y="610334"/>
                  </a:lnTo>
                  <a:lnTo>
                    <a:pt x="145774" y="588519"/>
                  </a:lnTo>
                  <a:lnTo>
                    <a:pt x="110070" y="561579"/>
                  </a:lnTo>
                  <a:lnTo>
                    <a:pt x="78500" y="530009"/>
                  </a:lnTo>
                  <a:lnTo>
                    <a:pt x="51560" y="494305"/>
                  </a:lnTo>
                  <a:lnTo>
                    <a:pt x="29745" y="454960"/>
                  </a:lnTo>
                  <a:lnTo>
                    <a:pt x="13550" y="412471"/>
                  </a:lnTo>
                  <a:lnTo>
                    <a:pt x="3470" y="367333"/>
                  </a:lnTo>
                  <a:lnTo>
                    <a:pt x="0" y="320039"/>
                  </a:lnTo>
                  <a:lnTo>
                    <a:pt x="3470" y="272746"/>
                  </a:lnTo>
                  <a:lnTo>
                    <a:pt x="13550" y="227608"/>
                  </a:lnTo>
                  <a:lnTo>
                    <a:pt x="29745" y="185119"/>
                  </a:lnTo>
                  <a:lnTo>
                    <a:pt x="51560" y="145774"/>
                  </a:lnTo>
                  <a:lnTo>
                    <a:pt x="78500" y="110070"/>
                  </a:lnTo>
                  <a:lnTo>
                    <a:pt x="110070" y="78500"/>
                  </a:lnTo>
                  <a:lnTo>
                    <a:pt x="145774" y="51560"/>
                  </a:lnTo>
                  <a:lnTo>
                    <a:pt x="185119" y="29745"/>
                  </a:lnTo>
                  <a:lnTo>
                    <a:pt x="227608" y="13550"/>
                  </a:lnTo>
                  <a:lnTo>
                    <a:pt x="272746" y="3470"/>
                  </a:lnTo>
                  <a:lnTo>
                    <a:pt x="320039" y="0"/>
                  </a:lnTo>
                  <a:lnTo>
                    <a:pt x="370407" y="3986"/>
                  </a:lnTo>
                  <a:lnTo>
                    <a:pt x="419081" y="15710"/>
                  </a:lnTo>
                  <a:lnTo>
                    <a:pt x="465201" y="34813"/>
                  </a:lnTo>
                  <a:lnTo>
                    <a:pt x="507908" y="60941"/>
                  </a:lnTo>
                  <a:lnTo>
                    <a:pt x="546342" y="93737"/>
                  </a:lnTo>
                  <a:lnTo>
                    <a:pt x="579138" y="132171"/>
                  </a:lnTo>
                  <a:lnTo>
                    <a:pt x="605266" y="174878"/>
                  </a:lnTo>
                  <a:lnTo>
                    <a:pt x="624369" y="220998"/>
                  </a:lnTo>
                  <a:lnTo>
                    <a:pt x="636093" y="269672"/>
                  </a:lnTo>
                  <a:lnTo>
                    <a:pt x="640079" y="320039"/>
                  </a:lnTo>
                  <a:lnTo>
                    <a:pt x="636609" y="367333"/>
                  </a:lnTo>
                  <a:lnTo>
                    <a:pt x="626529" y="412471"/>
                  </a:lnTo>
                  <a:lnTo>
                    <a:pt x="610334" y="454960"/>
                  </a:lnTo>
                  <a:lnTo>
                    <a:pt x="588519" y="494305"/>
                  </a:lnTo>
                  <a:lnTo>
                    <a:pt x="561579" y="530009"/>
                  </a:lnTo>
                  <a:lnTo>
                    <a:pt x="530009" y="561579"/>
                  </a:lnTo>
                  <a:lnTo>
                    <a:pt x="494305" y="588519"/>
                  </a:lnTo>
                  <a:lnTo>
                    <a:pt x="454960" y="610334"/>
                  </a:lnTo>
                  <a:lnTo>
                    <a:pt x="412471" y="626529"/>
                  </a:lnTo>
                  <a:lnTo>
                    <a:pt x="367333" y="636609"/>
                  </a:lnTo>
                  <a:lnTo>
                    <a:pt x="320039" y="640079"/>
                  </a:lnTo>
                  <a:close/>
                </a:path>
              </a:pathLst>
            </a:custGeom>
            <a:solidFill>
              <a:srgbClr val="F1C4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1"/>
            <p:cNvSpPr/>
            <p:nvPr/>
          </p:nvSpPr>
          <p:spPr>
            <a:xfrm>
              <a:off x="5486400" y="1051560"/>
              <a:ext cx="640080" cy="640080"/>
            </a:xfrm>
            <a:custGeom>
              <a:rect b="b" l="l" r="r" t="t"/>
              <a:pathLst>
                <a:path extrusionOk="0" h="640080" w="640079">
                  <a:moveTo>
                    <a:pt x="0" y="320039"/>
                  </a:moveTo>
                  <a:lnTo>
                    <a:pt x="3470" y="272746"/>
                  </a:lnTo>
                  <a:lnTo>
                    <a:pt x="13550" y="227608"/>
                  </a:lnTo>
                  <a:lnTo>
                    <a:pt x="29745" y="185119"/>
                  </a:lnTo>
                  <a:lnTo>
                    <a:pt x="51560" y="145774"/>
                  </a:lnTo>
                  <a:lnTo>
                    <a:pt x="78500" y="110070"/>
                  </a:lnTo>
                  <a:lnTo>
                    <a:pt x="110070" y="78500"/>
                  </a:lnTo>
                  <a:lnTo>
                    <a:pt x="145774" y="51560"/>
                  </a:lnTo>
                  <a:lnTo>
                    <a:pt x="185119" y="29745"/>
                  </a:lnTo>
                  <a:lnTo>
                    <a:pt x="227608" y="13550"/>
                  </a:lnTo>
                  <a:lnTo>
                    <a:pt x="272746" y="3470"/>
                  </a:lnTo>
                  <a:lnTo>
                    <a:pt x="320039" y="0"/>
                  </a:lnTo>
                  <a:lnTo>
                    <a:pt x="370407" y="3986"/>
                  </a:lnTo>
                  <a:lnTo>
                    <a:pt x="419081" y="15710"/>
                  </a:lnTo>
                  <a:lnTo>
                    <a:pt x="465201" y="34813"/>
                  </a:lnTo>
                  <a:lnTo>
                    <a:pt x="507908" y="60941"/>
                  </a:lnTo>
                  <a:lnTo>
                    <a:pt x="546342" y="93737"/>
                  </a:lnTo>
                  <a:lnTo>
                    <a:pt x="579138" y="132171"/>
                  </a:lnTo>
                  <a:lnTo>
                    <a:pt x="605266" y="174878"/>
                  </a:lnTo>
                  <a:lnTo>
                    <a:pt x="624369" y="220998"/>
                  </a:lnTo>
                  <a:lnTo>
                    <a:pt x="636093" y="269672"/>
                  </a:lnTo>
                  <a:lnTo>
                    <a:pt x="640079" y="320039"/>
                  </a:lnTo>
                  <a:lnTo>
                    <a:pt x="636609" y="367333"/>
                  </a:lnTo>
                  <a:lnTo>
                    <a:pt x="626529" y="412471"/>
                  </a:lnTo>
                  <a:lnTo>
                    <a:pt x="610334" y="454960"/>
                  </a:lnTo>
                  <a:lnTo>
                    <a:pt x="588519" y="494305"/>
                  </a:lnTo>
                  <a:lnTo>
                    <a:pt x="561579" y="530009"/>
                  </a:lnTo>
                  <a:lnTo>
                    <a:pt x="530009" y="561579"/>
                  </a:lnTo>
                  <a:lnTo>
                    <a:pt x="494305" y="588519"/>
                  </a:lnTo>
                  <a:lnTo>
                    <a:pt x="454960" y="610334"/>
                  </a:lnTo>
                  <a:lnTo>
                    <a:pt x="412471" y="626529"/>
                  </a:lnTo>
                  <a:lnTo>
                    <a:pt x="367333" y="636609"/>
                  </a:lnTo>
                  <a:lnTo>
                    <a:pt x="320039" y="640079"/>
                  </a:lnTo>
                  <a:lnTo>
                    <a:pt x="272746" y="636609"/>
                  </a:lnTo>
                  <a:lnTo>
                    <a:pt x="227608" y="626529"/>
                  </a:lnTo>
                  <a:lnTo>
                    <a:pt x="185119" y="610334"/>
                  </a:lnTo>
                  <a:lnTo>
                    <a:pt x="145774" y="588519"/>
                  </a:lnTo>
                  <a:lnTo>
                    <a:pt x="110070" y="561579"/>
                  </a:lnTo>
                  <a:lnTo>
                    <a:pt x="78500" y="530009"/>
                  </a:lnTo>
                  <a:lnTo>
                    <a:pt x="51560" y="494305"/>
                  </a:lnTo>
                  <a:lnTo>
                    <a:pt x="29745" y="454960"/>
                  </a:lnTo>
                  <a:lnTo>
                    <a:pt x="13550" y="412471"/>
                  </a:lnTo>
                  <a:lnTo>
                    <a:pt x="3470" y="367333"/>
                  </a:lnTo>
                  <a:lnTo>
                    <a:pt x="0" y="320039"/>
                  </a:lnTo>
                  <a:close/>
                </a:path>
              </a:pathLst>
            </a:custGeom>
            <a:noFill/>
            <a:ln cap="flat" cmpd="sng" w="12675">
              <a:solidFill>
                <a:srgbClr val="F1C40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76" name="Google Shape;176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664123" y="1241815"/>
              <a:ext cx="284633" cy="2678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7" name="Google Shape;177;p11"/>
          <p:cNvSpPr txBox="1"/>
          <p:nvPr/>
        </p:nvSpPr>
        <p:spPr>
          <a:xfrm>
            <a:off x="4785105" y="953769"/>
            <a:ext cx="2042795" cy="2755900"/>
          </a:xfrm>
          <a:prstGeom prst="rect">
            <a:avLst/>
          </a:prstGeom>
          <a:noFill/>
          <a:ln cap="flat" cmpd="sng" w="9525">
            <a:solidFill>
              <a:srgbClr val="1B2A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1C40F"/>
                </a:solidFill>
                <a:latin typeface="Calibri"/>
                <a:ea typeface="Calibri"/>
                <a:cs typeface="Calibri"/>
                <a:sym typeface="Calibri"/>
              </a:rPr>
              <a:t>Z-Score Scaling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249554" marR="24257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StandardScaler applied to all 14 features before modeling</a:t>
            </a:r>
            <a:endParaRPr sz="95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8" name="Google Shape;178;p11"/>
          <p:cNvGrpSpPr/>
          <p:nvPr/>
        </p:nvGrpSpPr>
        <p:grpSpPr>
          <a:xfrm>
            <a:off x="6869413" y="879111"/>
            <a:ext cx="2245868" cy="2959100"/>
            <a:chOff x="6869413" y="879111"/>
            <a:chExt cx="2245868" cy="2959100"/>
          </a:xfrm>
        </p:grpSpPr>
        <p:pic>
          <p:nvPicPr>
            <p:cNvPr id="179" name="Google Shape;179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869413" y="879111"/>
              <a:ext cx="2245868" cy="2959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0" name="Google Shape;180;p11"/>
            <p:cNvSpPr/>
            <p:nvPr/>
          </p:nvSpPr>
          <p:spPr>
            <a:xfrm>
              <a:off x="7004303" y="960120"/>
              <a:ext cx="2030095" cy="2743200"/>
            </a:xfrm>
            <a:custGeom>
              <a:rect b="b" l="l" r="r" t="t"/>
              <a:pathLst>
                <a:path extrusionOk="0" h="2743200" w="2030095">
                  <a:moveTo>
                    <a:pt x="2029967" y="2743199"/>
                  </a:moveTo>
                  <a:lnTo>
                    <a:pt x="0" y="2743199"/>
                  </a:lnTo>
                  <a:lnTo>
                    <a:pt x="0" y="0"/>
                  </a:lnTo>
                  <a:lnTo>
                    <a:pt x="2029967" y="0"/>
                  </a:lnTo>
                  <a:lnTo>
                    <a:pt x="2029967" y="2743199"/>
                  </a:lnTo>
                  <a:close/>
                </a:path>
              </a:pathLst>
            </a:custGeom>
            <a:solidFill>
              <a:srgbClr val="1B2A3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1"/>
            <p:cNvSpPr/>
            <p:nvPr/>
          </p:nvSpPr>
          <p:spPr>
            <a:xfrm>
              <a:off x="7699247" y="1051560"/>
              <a:ext cx="640080" cy="640080"/>
            </a:xfrm>
            <a:custGeom>
              <a:rect b="b" l="l" r="r" t="t"/>
              <a:pathLst>
                <a:path extrusionOk="0" h="640080" w="640079">
                  <a:moveTo>
                    <a:pt x="320040" y="640079"/>
                  </a:moveTo>
                  <a:lnTo>
                    <a:pt x="272747" y="636609"/>
                  </a:lnTo>
                  <a:lnTo>
                    <a:pt x="227608" y="626529"/>
                  </a:lnTo>
                  <a:lnTo>
                    <a:pt x="185119" y="610334"/>
                  </a:lnTo>
                  <a:lnTo>
                    <a:pt x="145775" y="588519"/>
                  </a:lnTo>
                  <a:lnTo>
                    <a:pt x="110070" y="561579"/>
                  </a:lnTo>
                  <a:lnTo>
                    <a:pt x="78500" y="530009"/>
                  </a:lnTo>
                  <a:lnTo>
                    <a:pt x="51560" y="494305"/>
                  </a:lnTo>
                  <a:lnTo>
                    <a:pt x="29745" y="454960"/>
                  </a:lnTo>
                  <a:lnTo>
                    <a:pt x="13550" y="412471"/>
                  </a:lnTo>
                  <a:lnTo>
                    <a:pt x="3470" y="367333"/>
                  </a:lnTo>
                  <a:lnTo>
                    <a:pt x="0" y="320039"/>
                  </a:lnTo>
                  <a:lnTo>
                    <a:pt x="3470" y="272746"/>
                  </a:lnTo>
                  <a:lnTo>
                    <a:pt x="13550" y="227608"/>
                  </a:lnTo>
                  <a:lnTo>
                    <a:pt x="29745" y="185119"/>
                  </a:lnTo>
                  <a:lnTo>
                    <a:pt x="51560" y="145774"/>
                  </a:lnTo>
                  <a:lnTo>
                    <a:pt x="78500" y="110070"/>
                  </a:lnTo>
                  <a:lnTo>
                    <a:pt x="110070" y="78500"/>
                  </a:lnTo>
                  <a:lnTo>
                    <a:pt x="145775" y="51560"/>
                  </a:lnTo>
                  <a:lnTo>
                    <a:pt x="185119" y="29745"/>
                  </a:lnTo>
                  <a:lnTo>
                    <a:pt x="227608" y="13550"/>
                  </a:lnTo>
                  <a:lnTo>
                    <a:pt x="272747" y="3470"/>
                  </a:lnTo>
                  <a:lnTo>
                    <a:pt x="320040" y="0"/>
                  </a:lnTo>
                  <a:lnTo>
                    <a:pt x="370408" y="3986"/>
                  </a:lnTo>
                  <a:lnTo>
                    <a:pt x="419081" y="15710"/>
                  </a:lnTo>
                  <a:lnTo>
                    <a:pt x="465201" y="34813"/>
                  </a:lnTo>
                  <a:lnTo>
                    <a:pt x="507908" y="60941"/>
                  </a:lnTo>
                  <a:lnTo>
                    <a:pt x="546342" y="93737"/>
                  </a:lnTo>
                  <a:lnTo>
                    <a:pt x="579138" y="132171"/>
                  </a:lnTo>
                  <a:lnTo>
                    <a:pt x="605266" y="174878"/>
                  </a:lnTo>
                  <a:lnTo>
                    <a:pt x="624370" y="220998"/>
                  </a:lnTo>
                  <a:lnTo>
                    <a:pt x="636093" y="269672"/>
                  </a:lnTo>
                  <a:lnTo>
                    <a:pt x="640080" y="320039"/>
                  </a:lnTo>
                  <a:lnTo>
                    <a:pt x="636610" y="367333"/>
                  </a:lnTo>
                  <a:lnTo>
                    <a:pt x="626530" y="412471"/>
                  </a:lnTo>
                  <a:lnTo>
                    <a:pt x="610335" y="454960"/>
                  </a:lnTo>
                  <a:lnTo>
                    <a:pt x="588520" y="494305"/>
                  </a:lnTo>
                  <a:lnTo>
                    <a:pt x="561580" y="530009"/>
                  </a:lnTo>
                  <a:lnTo>
                    <a:pt x="530010" y="561579"/>
                  </a:lnTo>
                  <a:lnTo>
                    <a:pt x="494305" y="588519"/>
                  </a:lnTo>
                  <a:lnTo>
                    <a:pt x="454961" y="610334"/>
                  </a:lnTo>
                  <a:lnTo>
                    <a:pt x="412472" y="626529"/>
                  </a:lnTo>
                  <a:lnTo>
                    <a:pt x="367333" y="636609"/>
                  </a:lnTo>
                  <a:lnTo>
                    <a:pt x="320040" y="640079"/>
                  </a:lnTo>
                  <a:close/>
                </a:path>
              </a:pathLst>
            </a:custGeom>
            <a:solidFill>
              <a:srgbClr val="C038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1"/>
            <p:cNvSpPr/>
            <p:nvPr/>
          </p:nvSpPr>
          <p:spPr>
            <a:xfrm>
              <a:off x="7699247" y="1051560"/>
              <a:ext cx="640080" cy="640080"/>
            </a:xfrm>
            <a:custGeom>
              <a:rect b="b" l="l" r="r" t="t"/>
              <a:pathLst>
                <a:path extrusionOk="0" h="640080" w="640079">
                  <a:moveTo>
                    <a:pt x="0" y="320039"/>
                  </a:moveTo>
                  <a:lnTo>
                    <a:pt x="3470" y="272746"/>
                  </a:lnTo>
                  <a:lnTo>
                    <a:pt x="13550" y="227608"/>
                  </a:lnTo>
                  <a:lnTo>
                    <a:pt x="29745" y="185119"/>
                  </a:lnTo>
                  <a:lnTo>
                    <a:pt x="51560" y="145774"/>
                  </a:lnTo>
                  <a:lnTo>
                    <a:pt x="78500" y="110070"/>
                  </a:lnTo>
                  <a:lnTo>
                    <a:pt x="110070" y="78500"/>
                  </a:lnTo>
                  <a:lnTo>
                    <a:pt x="145775" y="51560"/>
                  </a:lnTo>
                  <a:lnTo>
                    <a:pt x="185119" y="29745"/>
                  </a:lnTo>
                  <a:lnTo>
                    <a:pt x="227608" y="13550"/>
                  </a:lnTo>
                  <a:lnTo>
                    <a:pt x="272747" y="3470"/>
                  </a:lnTo>
                  <a:lnTo>
                    <a:pt x="320040" y="0"/>
                  </a:lnTo>
                  <a:lnTo>
                    <a:pt x="370408" y="3986"/>
                  </a:lnTo>
                  <a:lnTo>
                    <a:pt x="419081" y="15710"/>
                  </a:lnTo>
                  <a:lnTo>
                    <a:pt x="465201" y="34813"/>
                  </a:lnTo>
                  <a:lnTo>
                    <a:pt x="507908" y="60941"/>
                  </a:lnTo>
                  <a:lnTo>
                    <a:pt x="546342" y="93737"/>
                  </a:lnTo>
                  <a:lnTo>
                    <a:pt x="579138" y="132171"/>
                  </a:lnTo>
                  <a:lnTo>
                    <a:pt x="605266" y="174878"/>
                  </a:lnTo>
                  <a:lnTo>
                    <a:pt x="624370" y="220998"/>
                  </a:lnTo>
                  <a:lnTo>
                    <a:pt x="636093" y="269672"/>
                  </a:lnTo>
                  <a:lnTo>
                    <a:pt x="640080" y="320039"/>
                  </a:lnTo>
                  <a:lnTo>
                    <a:pt x="636610" y="367333"/>
                  </a:lnTo>
                  <a:lnTo>
                    <a:pt x="626530" y="412471"/>
                  </a:lnTo>
                  <a:lnTo>
                    <a:pt x="610335" y="454960"/>
                  </a:lnTo>
                  <a:lnTo>
                    <a:pt x="588520" y="494305"/>
                  </a:lnTo>
                  <a:lnTo>
                    <a:pt x="561580" y="530009"/>
                  </a:lnTo>
                  <a:lnTo>
                    <a:pt x="530010" y="561579"/>
                  </a:lnTo>
                  <a:lnTo>
                    <a:pt x="494305" y="588519"/>
                  </a:lnTo>
                  <a:lnTo>
                    <a:pt x="454961" y="610334"/>
                  </a:lnTo>
                  <a:lnTo>
                    <a:pt x="412472" y="626529"/>
                  </a:lnTo>
                  <a:lnTo>
                    <a:pt x="367333" y="636609"/>
                  </a:lnTo>
                  <a:lnTo>
                    <a:pt x="320040" y="640079"/>
                  </a:lnTo>
                  <a:lnTo>
                    <a:pt x="272747" y="636609"/>
                  </a:lnTo>
                  <a:lnTo>
                    <a:pt x="227608" y="626529"/>
                  </a:lnTo>
                  <a:lnTo>
                    <a:pt x="185119" y="610334"/>
                  </a:lnTo>
                  <a:lnTo>
                    <a:pt x="145775" y="588519"/>
                  </a:lnTo>
                  <a:lnTo>
                    <a:pt x="110070" y="561579"/>
                  </a:lnTo>
                  <a:lnTo>
                    <a:pt x="78500" y="530009"/>
                  </a:lnTo>
                  <a:lnTo>
                    <a:pt x="51560" y="494305"/>
                  </a:lnTo>
                  <a:lnTo>
                    <a:pt x="29745" y="454960"/>
                  </a:lnTo>
                  <a:lnTo>
                    <a:pt x="13550" y="412471"/>
                  </a:lnTo>
                  <a:lnTo>
                    <a:pt x="3470" y="367333"/>
                  </a:lnTo>
                  <a:lnTo>
                    <a:pt x="0" y="320039"/>
                  </a:lnTo>
                  <a:close/>
                </a:path>
              </a:pathLst>
            </a:custGeom>
            <a:noFill/>
            <a:ln cap="flat" cmpd="sng" w="12675">
              <a:solidFill>
                <a:srgbClr val="C038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83" name="Google Shape;183;p1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876971" y="1241815"/>
              <a:ext cx="284633" cy="2678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4" name="Google Shape;184;p11"/>
          <p:cNvSpPr txBox="1"/>
          <p:nvPr/>
        </p:nvSpPr>
        <p:spPr>
          <a:xfrm>
            <a:off x="6997954" y="953769"/>
            <a:ext cx="2042795" cy="2755900"/>
          </a:xfrm>
          <a:prstGeom prst="rect">
            <a:avLst/>
          </a:prstGeom>
          <a:noFill/>
          <a:ln cap="flat" cmpd="sng" w="9525">
            <a:solidFill>
              <a:srgbClr val="1B2A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C0382B"/>
                </a:solidFill>
                <a:latin typeface="Calibri"/>
                <a:ea typeface="Calibri"/>
                <a:cs typeface="Calibri"/>
                <a:sym typeface="Calibri"/>
              </a:rPr>
              <a:t>Feature Engineering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0650" marR="11366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6 new features: cyclic time, pollutant ratios, oxidant index</a:t>
            </a:r>
            <a:endParaRPr sz="95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5" name="Google Shape;185;p11"/>
          <p:cNvGrpSpPr/>
          <p:nvPr/>
        </p:nvGrpSpPr>
        <p:grpSpPr>
          <a:xfrm>
            <a:off x="230869" y="3759471"/>
            <a:ext cx="8628380" cy="1221740"/>
            <a:chOff x="230869" y="3759471"/>
            <a:chExt cx="8628380" cy="1221740"/>
          </a:xfrm>
        </p:grpSpPr>
        <p:pic>
          <p:nvPicPr>
            <p:cNvPr id="186" name="Google Shape;186;p1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30869" y="3759471"/>
              <a:ext cx="8628380" cy="12217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7" name="Google Shape;187;p11"/>
            <p:cNvSpPr/>
            <p:nvPr/>
          </p:nvSpPr>
          <p:spPr>
            <a:xfrm>
              <a:off x="365760" y="3840480"/>
              <a:ext cx="8412480" cy="1005840"/>
            </a:xfrm>
            <a:custGeom>
              <a:rect b="b" l="l" r="r" t="t"/>
              <a:pathLst>
                <a:path extrusionOk="0" h="1005839" w="8412480">
                  <a:moveTo>
                    <a:pt x="8412479" y="1005839"/>
                  </a:moveTo>
                  <a:lnTo>
                    <a:pt x="0" y="1005839"/>
                  </a:lnTo>
                  <a:lnTo>
                    <a:pt x="0" y="0"/>
                  </a:lnTo>
                  <a:lnTo>
                    <a:pt x="8412479" y="0"/>
                  </a:lnTo>
                  <a:lnTo>
                    <a:pt x="8412479" y="1005839"/>
                  </a:lnTo>
                  <a:close/>
                </a:path>
              </a:pathLst>
            </a:custGeom>
            <a:solidFill>
              <a:srgbClr val="1B2A3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1"/>
            <p:cNvSpPr/>
            <p:nvPr/>
          </p:nvSpPr>
          <p:spPr>
            <a:xfrm>
              <a:off x="365760" y="3840480"/>
              <a:ext cx="8412480" cy="1005840"/>
            </a:xfrm>
            <a:custGeom>
              <a:rect b="b" l="l" r="r" t="t"/>
              <a:pathLst>
                <a:path extrusionOk="0" h="1005839" w="8412480">
                  <a:moveTo>
                    <a:pt x="0" y="0"/>
                  </a:moveTo>
                  <a:lnTo>
                    <a:pt x="8412479" y="0"/>
                  </a:lnTo>
                  <a:lnTo>
                    <a:pt x="8412479" y="1005839"/>
                  </a:lnTo>
                  <a:lnTo>
                    <a:pt x="0" y="100583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2675">
              <a:solidFill>
                <a:srgbClr val="1B2A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9" name="Google Shape;189;p11"/>
          <p:cNvSpPr txBox="1"/>
          <p:nvPr/>
        </p:nvSpPr>
        <p:spPr>
          <a:xfrm>
            <a:off x="548640" y="4002532"/>
            <a:ext cx="6504305" cy="532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1C40F"/>
                </a:solidFill>
                <a:latin typeface="Calibri"/>
                <a:ea typeface="Calibri"/>
                <a:cs typeface="Calibri"/>
                <a:sym typeface="Calibri"/>
              </a:rPr>
              <a:t>Engineered Features </a:t>
            </a:r>
            <a:r>
              <a:rPr b="1" lang="en-US" sz="1000">
                <a:solidFill>
                  <a:srgbClr val="F1C40F"/>
                </a:solidFill>
                <a:latin typeface="Arial"/>
                <a:ea typeface="Arial"/>
                <a:cs typeface="Arial"/>
                <a:sym typeface="Arial"/>
              </a:rPr>
              <a:t>→	</a:t>
            </a:r>
            <a:r>
              <a:rPr lang="en-US" sz="1000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hour_sin • hour_cos • day_of_week • co_no2_ratio • pm_ratio • oxidant_index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BDC3C7"/>
                </a:solidFill>
                <a:latin typeface="Calibri"/>
                <a:ea typeface="Calibri"/>
                <a:cs typeface="Calibri"/>
                <a:sym typeface="Calibri"/>
              </a:rPr>
              <a:t>Total: 8 raw pollutants + 6 engineered = 14 features | 80/20 stratified train-test split | 5-fold CV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94" name="Google Shape;194;p12"/>
          <p:cNvSpPr txBox="1"/>
          <p:nvPr>
            <p:ph type="title"/>
          </p:nvPr>
        </p:nvSpPr>
        <p:spPr>
          <a:xfrm>
            <a:off x="353060" y="239776"/>
            <a:ext cx="543496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Machine Learning Models</a:t>
            </a:r>
            <a:endParaRPr sz="2800"/>
          </a:p>
        </p:txBody>
      </p:sp>
      <p:grpSp>
        <p:nvGrpSpPr>
          <p:cNvPr id="195" name="Google Shape;195;p12"/>
          <p:cNvGrpSpPr/>
          <p:nvPr/>
        </p:nvGrpSpPr>
        <p:grpSpPr>
          <a:xfrm>
            <a:off x="230869" y="822960"/>
            <a:ext cx="8547371" cy="2192290"/>
            <a:chOff x="230869" y="822960"/>
            <a:chExt cx="8547371" cy="2192290"/>
          </a:xfrm>
        </p:grpSpPr>
        <p:sp>
          <p:nvSpPr>
            <p:cNvPr id="196" name="Google Shape;196;p12"/>
            <p:cNvSpPr/>
            <p:nvPr/>
          </p:nvSpPr>
          <p:spPr>
            <a:xfrm>
              <a:off x="365760" y="822960"/>
              <a:ext cx="8412480" cy="27940"/>
            </a:xfrm>
            <a:custGeom>
              <a:rect b="b" l="l" r="r" t="t"/>
              <a:pathLst>
                <a:path extrusionOk="0" h="27940" w="8412480">
                  <a:moveTo>
                    <a:pt x="8412479" y="27431"/>
                  </a:moveTo>
                  <a:lnTo>
                    <a:pt x="0" y="27431"/>
                  </a:lnTo>
                  <a:lnTo>
                    <a:pt x="0" y="0"/>
                  </a:lnTo>
                  <a:lnTo>
                    <a:pt x="8412479" y="0"/>
                  </a:lnTo>
                  <a:lnTo>
                    <a:pt x="8412479" y="27431"/>
                  </a:lnTo>
                  <a:close/>
                </a:path>
              </a:pathLst>
            </a:custGeom>
            <a:solidFill>
              <a:srgbClr val="1ABB9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365760" y="822960"/>
              <a:ext cx="8412480" cy="27940"/>
            </a:xfrm>
            <a:custGeom>
              <a:rect b="b" l="l" r="r" t="t"/>
              <a:pathLst>
                <a:path extrusionOk="0" h="27940" w="8412480">
                  <a:moveTo>
                    <a:pt x="0" y="0"/>
                  </a:moveTo>
                  <a:lnTo>
                    <a:pt x="8412479" y="0"/>
                  </a:lnTo>
                  <a:lnTo>
                    <a:pt x="8412479" y="27431"/>
                  </a:lnTo>
                  <a:lnTo>
                    <a:pt x="0" y="2743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2675">
              <a:solidFill>
                <a:srgbClr val="1ABB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8" name="Google Shape;198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0869" y="879110"/>
              <a:ext cx="4376420" cy="21361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9" name="Google Shape;199;p12"/>
            <p:cNvSpPr/>
            <p:nvPr/>
          </p:nvSpPr>
          <p:spPr>
            <a:xfrm>
              <a:off x="365760" y="960120"/>
              <a:ext cx="4160520" cy="1920239"/>
            </a:xfrm>
            <a:custGeom>
              <a:rect b="b" l="l" r="r" t="t"/>
              <a:pathLst>
                <a:path extrusionOk="0" h="1920239" w="4160520">
                  <a:moveTo>
                    <a:pt x="4160519" y="1920239"/>
                  </a:moveTo>
                  <a:lnTo>
                    <a:pt x="0" y="1920239"/>
                  </a:lnTo>
                  <a:lnTo>
                    <a:pt x="0" y="0"/>
                  </a:lnTo>
                  <a:lnTo>
                    <a:pt x="4160519" y="0"/>
                  </a:lnTo>
                  <a:lnTo>
                    <a:pt x="4160519" y="1920239"/>
                  </a:lnTo>
                  <a:close/>
                </a:path>
              </a:pathLst>
            </a:custGeom>
            <a:solidFill>
              <a:srgbClr val="1B2A3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502920" y="1097280"/>
              <a:ext cx="594360" cy="594360"/>
            </a:xfrm>
            <a:custGeom>
              <a:rect b="b" l="l" r="r" t="t"/>
              <a:pathLst>
                <a:path extrusionOk="0" h="594360" w="594360">
                  <a:moveTo>
                    <a:pt x="297179" y="594359"/>
                  </a:moveTo>
                  <a:lnTo>
                    <a:pt x="248975" y="590470"/>
                  </a:lnTo>
                  <a:lnTo>
                    <a:pt x="203248" y="579209"/>
                  </a:lnTo>
                  <a:lnTo>
                    <a:pt x="160608" y="561189"/>
                  </a:lnTo>
                  <a:lnTo>
                    <a:pt x="121669" y="537021"/>
                  </a:lnTo>
                  <a:lnTo>
                    <a:pt x="87041" y="507317"/>
                  </a:lnTo>
                  <a:lnTo>
                    <a:pt x="57338" y="472690"/>
                  </a:lnTo>
                  <a:lnTo>
                    <a:pt x="33170" y="433751"/>
                  </a:lnTo>
                  <a:lnTo>
                    <a:pt x="15150" y="391111"/>
                  </a:lnTo>
                  <a:lnTo>
                    <a:pt x="3889" y="345384"/>
                  </a:lnTo>
                  <a:lnTo>
                    <a:pt x="0" y="297179"/>
                  </a:lnTo>
                  <a:lnTo>
                    <a:pt x="3889" y="248975"/>
                  </a:lnTo>
                  <a:lnTo>
                    <a:pt x="15150" y="203248"/>
                  </a:lnTo>
                  <a:lnTo>
                    <a:pt x="33170" y="160608"/>
                  </a:lnTo>
                  <a:lnTo>
                    <a:pt x="57338" y="121669"/>
                  </a:lnTo>
                  <a:lnTo>
                    <a:pt x="87041" y="87041"/>
                  </a:lnTo>
                  <a:lnTo>
                    <a:pt x="121669" y="57338"/>
                  </a:lnTo>
                  <a:lnTo>
                    <a:pt x="160608" y="33170"/>
                  </a:lnTo>
                  <a:lnTo>
                    <a:pt x="203248" y="15150"/>
                  </a:lnTo>
                  <a:lnTo>
                    <a:pt x="248975" y="3889"/>
                  </a:lnTo>
                  <a:lnTo>
                    <a:pt x="297179" y="0"/>
                  </a:lnTo>
                  <a:lnTo>
                    <a:pt x="343949" y="3702"/>
                  </a:lnTo>
                  <a:lnTo>
                    <a:pt x="389146" y="14587"/>
                  </a:lnTo>
                  <a:lnTo>
                    <a:pt x="431972" y="32326"/>
                  </a:lnTo>
                  <a:lnTo>
                    <a:pt x="471628" y="56588"/>
                  </a:lnTo>
                  <a:lnTo>
                    <a:pt x="507317" y="87041"/>
                  </a:lnTo>
                  <a:lnTo>
                    <a:pt x="537771" y="122731"/>
                  </a:lnTo>
                  <a:lnTo>
                    <a:pt x="562033" y="162387"/>
                  </a:lnTo>
                  <a:lnTo>
                    <a:pt x="579772" y="205213"/>
                  </a:lnTo>
                  <a:lnTo>
                    <a:pt x="590657" y="250410"/>
                  </a:lnTo>
                  <a:lnTo>
                    <a:pt x="594359" y="297179"/>
                  </a:lnTo>
                  <a:lnTo>
                    <a:pt x="590470" y="345384"/>
                  </a:lnTo>
                  <a:lnTo>
                    <a:pt x="579209" y="391111"/>
                  </a:lnTo>
                  <a:lnTo>
                    <a:pt x="561189" y="433751"/>
                  </a:lnTo>
                  <a:lnTo>
                    <a:pt x="537021" y="472690"/>
                  </a:lnTo>
                  <a:lnTo>
                    <a:pt x="507317" y="507317"/>
                  </a:lnTo>
                  <a:lnTo>
                    <a:pt x="472690" y="537021"/>
                  </a:lnTo>
                  <a:lnTo>
                    <a:pt x="433751" y="561189"/>
                  </a:lnTo>
                  <a:lnTo>
                    <a:pt x="391111" y="579209"/>
                  </a:lnTo>
                  <a:lnTo>
                    <a:pt x="345384" y="590470"/>
                  </a:lnTo>
                  <a:lnTo>
                    <a:pt x="297179" y="594359"/>
                  </a:lnTo>
                  <a:close/>
                </a:path>
              </a:pathLst>
            </a:custGeom>
            <a:solidFill>
              <a:srgbClr val="1ABB9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502920" y="1097280"/>
              <a:ext cx="594360" cy="594360"/>
            </a:xfrm>
            <a:custGeom>
              <a:rect b="b" l="l" r="r" t="t"/>
              <a:pathLst>
                <a:path extrusionOk="0" h="594360" w="594360">
                  <a:moveTo>
                    <a:pt x="0" y="297179"/>
                  </a:moveTo>
                  <a:lnTo>
                    <a:pt x="3889" y="248975"/>
                  </a:lnTo>
                  <a:lnTo>
                    <a:pt x="15150" y="203248"/>
                  </a:lnTo>
                  <a:lnTo>
                    <a:pt x="33170" y="160608"/>
                  </a:lnTo>
                  <a:lnTo>
                    <a:pt x="57338" y="121669"/>
                  </a:lnTo>
                  <a:lnTo>
                    <a:pt x="87041" y="87041"/>
                  </a:lnTo>
                  <a:lnTo>
                    <a:pt x="121669" y="57338"/>
                  </a:lnTo>
                  <a:lnTo>
                    <a:pt x="160608" y="33170"/>
                  </a:lnTo>
                  <a:lnTo>
                    <a:pt x="203248" y="15150"/>
                  </a:lnTo>
                  <a:lnTo>
                    <a:pt x="248975" y="3889"/>
                  </a:lnTo>
                  <a:lnTo>
                    <a:pt x="297179" y="0"/>
                  </a:lnTo>
                  <a:lnTo>
                    <a:pt x="343949" y="3702"/>
                  </a:lnTo>
                  <a:lnTo>
                    <a:pt x="389146" y="14587"/>
                  </a:lnTo>
                  <a:lnTo>
                    <a:pt x="431972" y="32326"/>
                  </a:lnTo>
                  <a:lnTo>
                    <a:pt x="471628" y="56588"/>
                  </a:lnTo>
                  <a:lnTo>
                    <a:pt x="507317" y="87041"/>
                  </a:lnTo>
                  <a:lnTo>
                    <a:pt x="537771" y="122731"/>
                  </a:lnTo>
                  <a:lnTo>
                    <a:pt x="562033" y="162387"/>
                  </a:lnTo>
                  <a:lnTo>
                    <a:pt x="579772" y="205213"/>
                  </a:lnTo>
                  <a:lnTo>
                    <a:pt x="590657" y="250410"/>
                  </a:lnTo>
                  <a:lnTo>
                    <a:pt x="594359" y="297179"/>
                  </a:lnTo>
                  <a:lnTo>
                    <a:pt x="590470" y="345384"/>
                  </a:lnTo>
                  <a:lnTo>
                    <a:pt x="579209" y="391111"/>
                  </a:lnTo>
                  <a:lnTo>
                    <a:pt x="561189" y="433751"/>
                  </a:lnTo>
                  <a:lnTo>
                    <a:pt x="537021" y="472690"/>
                  </a:lnTo>
                  <a:lnTo>
                    <a:pt x="507317" y="507317"/>
                  </a:lnTo>
                  <a:lnTo>
                    <a:pt x="472690" y="537021"/>
                  </a:lnTo>
                  <a:lnTo>
                    <a:pt x="433751" y="561189"/>
                  </a:lnTo>
                  <a:lnTo>
                    <a:pt x="391111" y="579209"/>
                  </a:lnTo>
                  <a:lnTo>
                    <a:pt x="345384" y="590470"/>
                  </a:lnTo>
                  <a:lnTo>
                    <a:pt x="297179" y="594359"/>
                  </a:lnTo>
                  <a:lnTo>
                    <a:pt x="248975" y="590470"/>
                  </a:lnTo>
                  <a:lnTo>
                    <a:pt x="203248" y="579209"/>
                  </a:lnTo>
                  <a:lnTo>
                    <a:pt x="160608" y="561189"/>
                  </a:lnTo>
                  <a:lnTo>
                    <a:pt x="121669" y="537021"/>
                  </a:lnTo>
                  <a:lnTo>
                    <a:pt x="87041" y="507317"/>
                  </a:lnTo>
                  <a:lnTo>
                    <a:pt x="57338" y="472690"/>
                  </a:lnTo>
                  <a:lnTo>
                    <a:pt x="33170" y="433751"/>
                  </a:lnTo>
                  <a:lnTo>
                    <a:pt x="15150" y="391111"/>
                  </a:lnTo>
                  <a:lnTo>
                    <a:pt x="3889" y="345384"/>
                  </a:lnTo>
                  <a:lnTo>
                    <a:pt x="0" y="297179"/>
                  </a:lnTo>
                  <a:close/>
                </a:path>
              </a:pathLst>
            </a:custGeom>
            <a:noFill/>
            <a:ln cap="flat" cmpd="sng" w="12675">
              <a:solidFill>
                <a:srgbClr val="1ABB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02" name="Google Shape;202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57783" y="1264676"/>
              <a:ext cx="284633" cy="2678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3" name="Google Shape;203;p12"/>
          <p:cNvSpPr txBox="1"/>
          <p:nvPr/>
        </p:nvSpPr>
        <p:spPr>
          <a:xfrm>
            <a:off x="359409" y="953769"/>
            <a:ext cx="4173220" cy="1932939"/>
          </a:xfrm>
          <a:prstGeom prst="rect">
            <a:avLst/>
          </a:prstGeom>
          <a:noFill/>
          <a:ln cap="flat" cmpd="sng" w="9525">
            <a:solidFill>
              <a:srgbClr val="1B2A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533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82931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1ABB9B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745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14351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Robust ensemble; handles non-linearity; provides feature importance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894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14351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50">
                <a:solidFill>
                  <a:srgbClr val="BDC3C7"/>
                </a:solidFill>
                <a:latin typeface="Calibri"/>
                <a:ea typeface="Calibri"/>
                <a:cs typeface="Calibri"/>
                <a:sym typeface="Calibri"/>
              </a:rPr>
              <a:t>Best Params: n_estimators: 200 • max_depth: 20 • min_samples_split: 2</a:t>
            </a:r>
            <a:endParaRPr sz="85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4" name="Google Shape;204;p12"/>
          <p:cNvGrpSpPr/>
          <p:nvPr/>
        </p:nvGrpSpPr>
        <p:grpSpPr>
          <a:xfrm>
            <a:off x="4619989" y="879110"/>
            <a:ext cx="4376420" cy="2136140"/>
            <a:chOff x="4619989" y="879110"/>
            <a:chExt cx="4376420" cy="2136140"/>
          </a:xfrm>
        </p:grpSpPr>
        <p:pic>
          <p:nvPicPr>
            <p:cNvPr id="205" name="Google Shape;205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19989" y="879110"/>
              <a:ext cx="4376420" cy="21361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6" name="Google Shape;206;p12"/>
            <p:cNvSpPr/>
            <p:nvPr/>
          </p:nvSpPr>
          <p:spPr>
            <a:xfrm>
              <a:off x="4754880" y="960119"/>
              <a:ext cx="4160520" cy="1920239"/>
            </a:xfrm>
            <a:custGeom>
              <a:rect b="b" l="l" r="r" t="t"/>
              <a:pathLst>
                <a:path extrusionOk="0" h="1920239" w="4160520">
                  <a:moveTo>
                    <a:pt x="4160519" y="1920239"/>
                  </a:moveTo>
                  <a:lnTo>
                    <a:pt x="0" y="1920239"/>
                  </a:lnTo>
                  <a:lnTo>
                    <a:pt x="0" y="0"/>
                  </a:lnTo>
                  <a:lnTo>
                    <a:pt x="4160519" y="0"/>
                  </a:lnTo>
                  <a:lnTo>
                    <a:pt x="4160519" y="1920239"/>
                  </a:lnTo>
                  <a:close/>
                </a:path>
              </a:pathLst>
            </a:custGeom>
            <a:solidFill>
              <a:srgbClr val="1B2A3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4892040" y="1097279"/>
              <a:ext cx="594360" cy="594360"/>
            </a:xfrm>
            <a:custGeom>
              <a:rect b="b" l="l" r="r" t="t"/>
              <a:pathLst>
                <a:path extrusionOk="0" h="594360" w="594360">
                  <a:moveTo>
                    <a:pt x="297179" y="594359"/>
                  </a:moveTo>
                  <a:lnTo>
                    <a:pt x="248975" y="590470"/>
                  </a:lnTo>
                  <a:lnTo>
                    <a:pt x="203248" y="579209"/>
                  </a:lnTo>
                  <a:lnTo>
                    <a:pt x="160608" y="561189"/>
                  </a:lnTo>
                  <a:lnTo>
                    <a:pt x="121669" y="537021"/>
                  </a:lnTo>
                  <a:lnTo>
                    <a:pt x="87042" y="507317"/>
                  </a:lnTo>
                  <a:lnTo>
                    <a:pt x="57338" y="472690"/>
                  </a:lnTo>
                  <a:lnTo>
                    <a:pt x="33170" y="433751"/>
                  </a:lnTo>
                  <a:lnTo>
                    <a:pt x="15150" y="391111"/>
                  </a:lnTo>
                  <a:lnTo>
                    <a:pt x="3889" y="345384"/>
                  </a:lnTo>
                  <a:lnTo>
                    <a:pt x="0" y="297179"/>
                  </a:lnTo>
                  <a:lnTo>
                    <a:pt x="3889" y="248975"/>
                  </a:lnTo>
                  <a:lnTo>
                    <a:pt x="15150" y="203248"/>
                  </a:lnTo>
                  <a:lnTo>
                    <a:pt x="33170" y="160608"/>
                  </a:lnTo>
                  <a:lnTo>
                    <a:pt x="57338" y="121669"/>
                  </a:lnTo>
                  <a:lnTo>
                    <a:pt x="87042" y="87041"/>
                  </a:lnTo>
                  <a:lnTo>
                    <a:pt x="121669" y="57338"/>
                  </a:lnTo>
                  <a:lnTo>
                    <a:pt x="160608" y="33170"/>
                  </a:lnTo>
                  <a:lnTo>
                    <a:pt x="203248" y="15150"/>
                  </a:lnTo>
                  <a:lnTo>
                    <a:pt x="248975" y="3889"/>
                  </a:lnTo>
                  <a:lnTo>
                    <a:pt x="297179" y="0"/>
                  </a:lnTo>
                  <a:lnTo>
                    <a:pt x="343949" y="3702"/>
                  </a:lnTo>
                  <a:lnTo>
                    <a:pt x="389146" y="14587"/>
                  </a:lnTo>
                  <a:lnTo>
                    <a:pt x="431972" y="32326"/>
                  </a:lnTo>
                  <a:lnTo>
                    <a:pt x="471628" y="56588"/>
                  </a:lnTo>
                  <a:lnTo>
                    <a:pt x="507317" y="87041"/>
                  </a:lnTo>
                  <a:lnTo>
                    <a:pt x="537771" y="122731"/>
                  </a:lnTo>
                  <a:lnTo>
                    <a:pt x="562033" y="162387"/>
                  </a:lnTo>
                  <a:lnTo>
                    <a:pt x="579772" y="205213"/>
                  </a:lnTo>
                  <a:lnTo>
                    <a:pt x="590657" y="250410"/>
                  </a:lnTo>
                  <a:lnTo>
                    <a:pt x="594359" y="297179"/>
                  </a:lnTo>
                  <a:lnTo>
                    <a:pt x="590470" y="345384"/>
                  </a:lnTo>
                  <a:lnTo>
                    <a:pt x="579209" y="391111"/>
                  </a:lnTo>
                  <a:lnTo>
                    <a:pt x="561189" y="433751"/>
                  </a:lnTo>
                  <a:lnTo>
                    <a:pt x="537021" y="472690"/>
                  </a:lnTo>
                  <a:lnTo>
                    <a:pt x="507317" y="507317"/>
                  </a:lnTo>
                  <a:lnTo>
                    <a:pt x="472690" y="537021"/>
                  </a:lnTo>
                  <a:lnTo>
                    <a:pt x="433751" y="561189"/>
                  </a:lnTo>
                  <a:lnTo>
                    <a:pt x="391111" y="579209"/>
                  </a:lnTo>
                  <a:lnTo>
                    <a:pt x="345384" y="590470"/>
                  </a:lnTo>
                  <a:lnTo>
                    <a:pt x="297179" y="594359"/>
                  </a:lnTo>
                  <a:close/>
                </a:path>
              </a:pathLst>
            </a:custGeom>
            <a:solidFill>
              <a:srgbClr val="E67E2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4892040" y="1097279"/>
              <a:ext cx="594360" cy="594360"/>
            </a:xfrm>
            <a:custGeom>
              <a:rect b="b" l="l" r="r" t="t"/>
              <a:pathLst>
                <a:path extrusionOk="0" h="594360" w="594360">
                  <a:moveTo>
                    <a:pt x="0" y="297179"/>
                  </a:moveTo>
                  <a:lnTo>
                    <a:pt x="3889" y="248975"/>
                  </a:lnTo>
                  <a:lnTo>
                    <a:pt x="15150" y="203248"/>
                  </a:lnTo>
                  <a:lnTo>
                    <a:pt x="33170" y="160608"/>
                  </a:lnTo>
                  <a:lnTo>
                    <a:pt x="57338" y="121669"/>
                  </a:lnTo>
                  <a:lnTo>
                    <a:pt x="87042" y="87041"/>
                  </a:lnTo>
                  <a:lnTo>
                    <a:pt x="121669" y="57338"/>
                  </a:lnTo>
                  <a:lnTo>
                    <a:pt x="160608" y="33170"/>
                  </a:lnTo>
                  <a:lnTo>
                    <a:pt x="203248" y="15150"/>
                  </a:lnTo>
                  <a:lnTo>
                    <a:pt x="248975" y="3889"/>
                  </a:lnTo>
                  <a:lnTo>
                    <a:pt x="297179" y="0"/>
                  </a:lnTo>
                  <a:lnTo>
                    <a:pt x="343949" y="3702"/>
                  </a:lnTo>
                  <a:lnTo>
                    <a:pt x="389146" y="14587"/>
                  </a:lnTo>
                  <a:lnTo>
                    <a:pt x="431972" y="32326"/>
                  </a:lnTo>
                  <a:lnTo>
                    <a:pt x="471628" y="56588"/>
                  </a:lnTo>
                  <a:lnTo>
                    <a:pt x="507317" y="87041"/>
                  </a:lnTo>
                  <a:lnTo>
                    <a:pt x="537771" y="122731"/>
                  </a:lnTo>
                  <a:lnTo>
                    <a:pt x="562033" y="162387"/>
                  </a:lnTo>
                  <a:lnTo>
                    <a:pt x="579772" y="205213"/>
                  </a:lnTo>
                  <a:lnTo>
                    <a:pt x="590657" y="250410"/>
                  </a:lnTo>
                  <a:lnTo>
                    <a:pt x="594359" y="297179"/>
                  </a:lnTo>
                  <a:lnTo>
                    <a:pt x="590470" y="345384"/>
                  </a:lnTo>
                  <a:lnTo>
                    <a:pt x="579209" y="391111"/>
                  </a:lnTo>
                  <a:lnTo>
                    <a:pt x="561189" y="433751"/>
                  </a:lnTo>
                  <a:lnTo>
                    <a:pt x="537021" y="472690"/>
                  </a:lnTo>
                  <a:lnTo>
                    <a:pt x="507317" y="507317"/>
                  </a:lnTo>
                  <a:lnTo>
                    <a:pt x="472690" y="537021"/>
                  </a:lnTo>
                  <a:lnTo>
                    <a:pt x="433751" y="561189"/>
                  </a:lnTo>
                  <a:lnTo>
                    <a:pt x="391111" y="579209"/>
                  </a:lnTo>
                  <a:lnTo>
                    <a:pt x="345384" y="590470"/>
                  </a:lnTo>
                  <a:lnTo>
                    <a:pt x="297179" y="594359"/>
                  </a:lnTo>
                  <a:lnTo>
                    <a:pt x="248975" y="590470"/>
                  </a:lnTo>
                  <a:lnTo>
                    <a:pt x="203248" y="579209"/>
                  </a:lnTo>
                  <a:lnTo>
                    <a:pt x="160608" y="561189"/>
                  </a:lnTo>
                  <a:lnTo>
                    <a:pt x="121669" y="537021"/>
                  </a:lnTo>
                  <a:lnTo>
                    <a:pt x="87042" y="507317"/>
                  </a:lnTo>
                  <a:lnTo>
                    <a:pt x="57338" y="472690"/>
                  </a:lnTo>
                  <a:lnTo>
                    <a:pt x="33170" y="433751"/>
                  </a:lnTo>
                  <a:lnTo>
                    <a:pt x="15150" y="391111"/>
                  </a:lnTo>
                  <a:lnTo>
                    <a:pt x="3889" y="345384"/>
                  </a:lnTo>
                  <a:lnTo>
                    <a:pt x="0" y="297179"/>
                  </a:lnTo>
                  <a:close/>
                </a:path>
              </a:pathLst>
            </a:custGeom>
            <a:noFill/>
            <a:ln cap="flat" cmpd="sng" w="12675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09" name="Google Shape;209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046903" y="1264675"/>
              <a:ext cx="284633" cy="2678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0" name="Google Shape;210;p12"/>
          <p:cNvSpPr txBox="1"/>
          <p:nvPr/>
        </p:nvSpPr>
        <p:spPr>
          <a:xfrm>
            <a:off x="4748529" y="953769"/>
            <a:ext cx="4173220" cy="1932939"/>
          </a:xfrm>
          <a:prstGeom prst="rect">
            <a:avLst/>
          </a:prstGeom>
          <a:noFill/>
          <a:ln cap="flat" cmpd="sng" w="9525">
            <a:solidFill>
              <a:srgbClr val="1B2A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533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82931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Gradient Boosting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745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14351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Sequential boosting captures complex interactions; high accuracy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894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14351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50">
                <a:solidFill>
                  <a:srgbClr val="BDC3C7"/>
                </a:solidFill>
                <a:latin typeface="Calibri"/>
                <a:ea typeface="Calibri"/>
                <a:cs typeface="Calibri"/>
                <a:sym typeface="Calibri"/>
              </a:rPr>
              <a:t>Best Params: n_estimators: 200 • learning_rate: 0.1 • max_depth: 5</a:t>
            </a:r>
            <a:endParaRPr sz="85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1" name="Google Shape;211;p12"/>
          <p:cNvGrpSpPr/>
          <p:nvPr/>
        </p:nvGrpSpPr>
        <p:grpSpPr>
          <a:xfrm>
            <a:off x="230869" y="2936510"/>
            <a:ext cx="4376420" cy="2136140"/>
            <a:chOff x="230869" y="2936510"/>
            <a:chExt cx="4376420" cy="2136140"/>
          </a:xfrm>
        </p:grpSpPr>
        <p:pic>
          <p:nvPicPr>
            <p:cNvPr id="212" name="Google Shape;212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0869" y="2936510"/>
              <a:ext cx="4376420" cy="21361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3" name="Google Shape;213;p12"/>
            <p:cNvSpPr/>
            <p:nvPr/>
          </p:nvSpPr>
          <p:spPr>
            <a:xfrm>
              <a:off x="365760" y="3017520"/>
              <a:ext cx="4160520" cy="1920239"/>
            </a:xfrm>
            <a:custGeom>
              <a:rect b="b" l="l" r="r" t="t"/>
              <a:pathLst>
                <a:path extrusionOk="0" h="1920239" w="4160520">
                  <a:moveTo>
                    <a:pt x="4160519" y="1920239"/>
                  </a:moveTo>
                  <a:lnTo>
                    <a:pt x="0" y="1920239"/>
                  </a:lnTo>
                  <a:lnTo>
                    <a:pt x="0" y="0"/>
                  </a:lnTo>
                  <a:lnTo>
                    <a:pt x="4160519" y="0"/>
                  </a:lnTo>
                  <a:lnTo>
                    <a:pt x="4160519" y="1920239"/>
                  </a:lnTo>
                  <a:close/>
                </a:path>
              </a:pathLst>
            </a:custGeom>
            <a:solidFill>
              <a:srgbClr val="1B2A3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2"/>
            <p:cNvSpPr/>
            <p:nvPr/>
          </p:nvSpPr>
          <p:spPr>
            <a:xfrm>
              <a:off x="365760" y="3017520"/>
              <a:ext cx="4160520" cy="1920239"/>
            </a:xfrm>
            <a:custGeom>
              <a:rect b="b" l="l" r="r" t="t"/>
              <a:pathLst>
                <a:path extrusionOk="0" h="1920239" w="4160520">
                  <a:moveTo>
                    <a:pt x="0" y="0"/>
                  </a:moveTo>
                  <a:lnTo>
                    <a:pt x="4160519" y="0"/>
                  </a:lnTo>
                  <a:lnTo>
                    <a:pt x="4160519" y="1920239"/>
                  </a:lnTo>
                  <a:lnTo>
                    <a:pt x="0" y="192023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2675">
              <a:solidFill>
                <a:srgbClr val="1B2A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2"/>
            <p:cNvSpPr/>
            <p:nvPr/>
          </p:nvSpPr>
          <p:spPr>
            <a:xfrm>
              <a:off x="502920" y="3154680"/>
              <a:ext cx="594360" cy="594360"/>
            </a:xfrm>
            <a:custGeom>
              <a:rect b="b" l="l" r="r" t="t"/>
              <a:pathLst>
                <a:path extrusionOk="0" h="594360" w="594360">
                  <a:moveTo>
                    <a:pt x="297179" y="594359"/>
                  </a:moveTo>
                  <a:lnTo>
                    <a:pt x="248975" y="590470"/>
                  </a:lnTo>
                  <a:lnTo>
                    <a:pt x="203248" y="579209"/>
                  </a:lnTo>
                  <a:lnTo>
                    <a:pt x="160608" y="561189"/>
                  </a:lnTo>
                  <a:lnTo>
                    <a:pt x="121669" y="537021"/>
                  </a:lnTo>
                  <a:lnTo>
                    <a:pt x="87041" y="507317"/>
                  </a:lnTo>
                  <a:lnTo>
                    <a:pt x="57338" y="472690"/>
                  </a:lnTo>
                  <a:lnTo>
                    <a:pt x="33170" y="433751"/>
                  </a:lnTo>
                  <a:lnTo>
                    <a:pt x="15150" y="391111"/>
                  </a:lnTo>
                  <a:lnTo>
                    <a:pt x="3889" y="345384"/>
                  </a:lnTo>
                  <a:lnTo>
                    <a:pt x="0" y="297179"/>
                  </a:lnTo>
                  <a:lnTo>
                    <a:pt x="3889" y="248975"/>
                  </a:lnTo>
                  <a:lnTo>
                    <a:pt x="15150" y="203248"/>
                  </a:lnTo>
                  <a:lnTo>
                    <a:pt x="33170" y="160608"/>
                  </a:lnTo>
                  <a:lnTo>
                    <a:pt x="57338" y="121669"/>
                  </a:lnTo>
                  <a:lnTo>
                    <a:pt x="87041" y="87041"/>
                  </a:lnTo>
                  <a:lnTo>
                    <a:pt x="121669" y="57338"/>
                  </a:lnTo>
                  <a:lnTo>
                    <a:pt x="160608" y="33170"/>
                  </a:lnTo>
                  <a:lnTo>
                    <a:pt x="203248" y="15150"/>
                  </a:lnTo>
                  <a:lnTo>
                    <a:pt x="248975" y="3889"/>
                  </a:lnTo>
                  <a:lnTo>
                    <a:pt x="297179" y="0"/>
                  </a:lnTo>
                  <a:lnTo>
                    <a:pt x="343949" y="3702"/>
                  </a:lnTo>
                  <a:lnTo>
                    <a:pt x="389146" y="14587"/>
                  </a:lnTo>
                  <a:lnTo>
                    <a:pt x="431972" y="32326"/>
                  </a:lnTo>
                  <a:lnTo>
                    <a:pt x="471628" y="56588"/>
                  </a:lnTo>
                  <a:lnTo>
                    <a:pt x="507317" y="87041"/>
                  </a:lnTo>
                  <a:lnTo>
                    <a:pt x="537771" y="122731"/>
                  </a:lnTo>
                  <a:lnTo>
                    <a:pt x="562033" y="162387"/>
                  </a:lnTo>
                  <a:lnTo>
                    <a:pt x="579772" y="205213"/>
                  </a:lnTo>
                  <a:lnTo>
                    <a:pt x="590657" y="250410"/>
                  </a:lnTo>
                  <a:lnTo>
                    <a:pt x="594359" y="297179"/>
                  </a:lnTo>
                  <a:lnTo>
                    <a:pt x="590470" y="345384"/>
                  </a:lnTo>
                  <a:lnTo>
                    <a:pt x="579209" y="391111"/>
                  </a:lnTo>
                  <a:lnTo>
                    <a:pt x="561189" y="433751"/>
                  </a:lnTo>
                  <a:lnTo>
                    <a:pt x="537021" y="472690"/>
                  </a:lnTo>
                  <a:lnTo>
                    <a:pt x="507317" y="507317"/>
                  </a:lnTo>
                  <a:lnTo>
                    <a:pt x="472690" y="537021"/>
                  </a:lnTo>
                  <a:lnTo>
                    <a:pt x="433751" y="561189"/>
                  </a:lnTo>
                  <a:lnTo>
                    <a:pt x="391111" y="579209"/>
                  </a:lnTo>
                  <a:lnTo>
                    <a:pt x="345384" y="590470"/>
                  </a:lnTo>
                  <a:lnTo>
                    <a:pt x="297179" y="594359"/>
                  </a:lnTo>
                  <a:close/>
                </a:path>
              </a:pathLst>
            </a:custGeom>
            <a:solidFill>
              <a:srgbClr val="8E44A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2"/>
            <p:cNvSpPr/>
            <p:nvPr/>
          </p:nvSpPr>
          <p:spPr>
            <a:xfrm>
              <a:off x="502920" y="3154680"/>
              <a:ext cx="594360" cy="594360"/>
            </a:xfrm>
            <a:custGeom>
              <a:rect b="b" l="l" r="r" t="t"/>
              <a:pathLst>
                <a:path extrusionOk="0" h="594360" w="594360">
                  <a:moveTo>
                    <a:pt x="0" y="297179"/>
                  </a:moveTo>
                  <a:lnTo>
                    <a:pt x="3889" y="248975"/>
                  </a:lnTo>
                  <a:lnTo>
                    <a:pt x="15150" y="203248"/>
                  </a:lnTo>
                  <a:lnTo>
                    <a:pt x="33170" y="160608"/>
                  </a:lnTo>
                  <a:lnTo>
                    <a:pt x="57338" y="121669"/>
                  </a:lnTo>
                  <a:lnTo>
                    <a:pt x="87041" y="87041"/>
                  </a:lnTo>
                  <a:lnTo>
                    <a:pt x="121669" y="57338"/>
                  </a:lnTo>
                  <a:lnTo>
                    <a:pt x="160608" y="33170"/>
                  </a:lnTo>
                  <a:lnTo>
                    <a:pt x="203248" y="15150"/>
                  </a:lnTo>
                  <a:lnTo>
                    <a:pt x="248975" y="3889"/>
                  </a:lnTo>
                  <a:lnTo>
                    <a:pt x="297179" y="0"/>
                  </a:lnTo>
                  <a:lnTo>
                    <a:pt x="343949" y="3702"/>
                  </a:lnTo>
                  <a:lnTo>
                    <a:pt x="389146" y="14587"/>
                  </a:lnTo>
                  <a:lnTo>
                    <a:pt x="431972" y="32326"/>
                  </a:lnTo>
                  <a:lnTo>
                    <a:pt x="471628" y="56588"/>
                  </a:lnTo>
                  <a:lnTo>
                    <a:pt x="507317" y="87041"/>
                  </a:lnTo>
                  <a:lnTo>
                    <a:pt x="537771" y="122731"/>
                  </a:lnTo>
                  <a:lnTo>
                    <a:pt x="562033" y="162387"/>
                  </a:lnTo>
                  <a:lnTo>
                    <a:pt x="579772" y="205213"/>
                  </a:lnTo>
                  <a:lnTo>
                    <a:pt x="590657" y="250410"/>
                  </a:lnTo>
                  <a:lnTo>
                    <a:pt x="594359" y="297179"/>
                  </a:lnTo>
                  <a:lnTo>
                    <a:pt x="590470" y="345384"/>
                  </a:lnTo>
                  <a:lnTo>
                    <a:pt x="579209" y="391111"/>
                  </a:lnTo>
                  <a:lnTo>
                    <a:pt x="561189" y="433751"/>
                  </a:lnTo>
                  <a:lnTo>
                    <a:pt x="537021" y="472690"/>
                  </a:lnTo>
                  <a:lnTo>
                    <a:pt x="507317" y="507317"/>
                  </a:lnTo>
                  <a:lnTo>
                    <a:pt x="472690" y="537021"/>
                  </a:lnTo>
                  <a:lnTo>
                    <a:pt x="433751" y="561189"/>
                  </a:lnTo>
                  <a:lnTo>
                    <a:pt x="391111" y="579209"/>
                  </a:lnTo>
                  <a:lnTo>
                    <a:pt x="345384" y="590470"/>
                  </a:lnTo>
                  <a:lnTo>
                    <a:pt x="297179" y="594359"/>
                  </a:lnTo>
                  <a:lnTo>
                    <a:pt x="248975" y="590470"/>
                  </a:lnTo>
                  <a:lnTo>
                    <a:pt x="203248" y="579209"/>
                  </a:lnTo>
                  <a:lnTo>
                    <a:pt x="160608" y="561189"/>
                  </a:lnTo>
                  <a:lnTo>
                    <a:pt x="121669" y="537021"/>
                  </a:lnTo>
                  <a:lnTo>
                    <a:pt x="87041" y="507317"/>
                  </a:lnTo>
                  <a:lnTo>
                    <a:pt x="57338" y="472690"/>
                  </a:lnTo>
                  <a:lnTo>
                    <a:pt x="33170" y="433751"/>
                  </a:lnTo>
                  <a:lnTo>
                    <a:pt x="15150" y="391111"/>
                  </a:lnTo>
                  <a:lnTo>
                    <a:pt x="3889" y="345384"/>
                  </a:lnTo>
                  <a:lnTo>
                    <a:pt x="0" y="297179"/>
                  </a:lnTo>
                  <a:close/>
                </a:path>
              </a:pathLst>
            </a:custGeom>
            <a:noFill/>
            <a:ln cap="flat" cmpd="sng" w="12675">
              <a:solidFill>
                <a:srgbClr val="8E4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17" name="Google Shape;217;p1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57783" y="3322076"/>
              <a:ext cx="284633" cy="2678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" name="Google Shape;218;p12"/>
          <p:cNvSpPr txBox="1"/>
          <p:nvPr/>
        </p:nvSpPr>
        <p:spPr>
          <a:xfrm>
            <a:off x="1176020" y="3242056"/>
            <a:ext cx="1687195" cy="2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Support Vector Machine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2"/>
          <p:cNvSpPr txBox="1"/>
          <p:nvPr/>
        </p:nvSpPr>
        <p:spPr>
          <a:xfrm>
            <a:off x="490220" y="3937508"/>
            <a:ext cx="3040380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Maximum-margin classifier; RBF kernel for non-linear boundaries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0" name="Google Shape;220;p12"/>
          <p:cNvGrpSpPr/>
          <p:nvPr/>
        </p:nvGrpSpPr>
        <p:grpSpPr>
          <a:xfrm>
            <a:off x="4619989" y="2936510"/>
            <a:ext cx="4376420" cy="2136140"/>
            <a:chOff x="4619989" y="2936510"/>
            <a:chExt cx="4376420" cy="2136140"/>
          </a:xfrm>
        </p:grpSpPr>
        <p:pic>
          <p:nvPicPr>
            <p:cNvPr id="221" name="Google Shape;221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19989" y="2936510"/>
              <a:ext cx="4376420" cy="21361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2" name="Google Shape;222;p12"/>
            <p:cNvSpPr/>
            <p:nvPr/>
          </p:nvSpPr>
          <p:spPr>
            <a:xfrm>
              <a:off x="4754880" y="3017520"/>
              <a:ext cx="4160520" cy="1920239"/>
            </a:xfrm>
            <a:custGeom>
              <a:rect b="b" l="l" r="r" t="t"/>
              <a:pathLst>
                <a:path extrusionOk="0" h="1920239" w="4160520">
                  <a:moveTo>
                    <a:pt x="4160519" y="1920239"/>
                  </a:moveTo>
                  <a:lnTo>
                    <a:pt x="0" y="1920239"/>
                  </a:lnTo>
                  <a:lnTo>
                    <a:pt x="0" y="0"/>
                  </a:lnTo>
                  <a:lnTo>
                    <a:pt x="4160519" y="0"/>
                  </a:lnTo>
                  <a:lnTo>
                    <a:pt x="4160519" y="1920239"/>
                  </a:lnTo>
                  <a:close/>
                </a:path>
              </a:pathLst>
            </a:custGeom>
            <a:solidFill>
              <a:srgbClr val="1B2A3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2"/>
            <p:cNvSpPr/>
            <p:nvPr/>
          </p:nvSpPr>
          <p:spPr>
            <a:xfrm>
              <a:off x="4754880" y="3017520"/>
              <a:ext cx="4160520" cy="1920239"/>
            </a:xfrm>
            <a:custGeom>
              <a:rect b="b" l="l" r="r" t="t"/>
              <a:pathLst>
                <a:path extrusionOk="0" h="1920239" w="4160520">
                  <a:moveTo>
                    <a:pt x="0" y="0"/>
                  </a:moveTo>
                  <a:lnTo>
                    <a:pt x="4160519" y="0"/>
                  </a:lnTo>
                  <a:lnTo>
                    <a:pt x="4160519" y="1920239"/>
                  </a:lnTo>
                  <a:lnTo>
                    <a:pt x="0" y="192023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2675">
              <a:solidFill>
                <a:srgbClr val="1B2A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2"/>
            <p:cNvSpPr/>
            <p:nvPr/>
          </p:nvSpPr>
          <p:spPr>
            <a:xfrm>
              <a:off x="4892040" y="3154680"/>
              <a:ext cx="594360" cy="594360"/>
            </a:xfrm>
            <a:custGeom>
              <a:rect b="b" l="l" r="r" t="t"/>
              <a:pathLst>
                <a:path extrusionOk="0" h="594360" w="594360">
                  <a:moveTo>
                    <a:pt x="297179" y="594359"/>
                  </a:moveTo>
                  <a:lnTo>
                    <a:pt x="248975" y="590470"/>
                  </a:lnTo>
                  <a:lnTo>
                    <a:pt x="203248" y="579209"/>
                  </a:lnTo>
                  <a:lnTo>
                    <a:pt x="160608" y="561189"/>
                  </a:lnTo>
                  <a:lnTo>
                    <a:pt x="121669" y="537021"/>
                  </a:lnTo>
                  <a:lnTo>
                    <a:pt x="87042" y="507317"/>
                  </a:lnTo>
                  <a:lnTo>
                    <a:pt x="57338" y="472690"/>
                  </a:lnTo>
                  <a:lnTo>
                    <a:pt x="33170" y="433751"/>
                  </a:lnTo>
                  <a:lnTo>
                    <a:pt x="15150" y="391111"/>
                  </a:lnTo>
                  <a:lnTo>
                    <a:pt x="3889" y="345384"/>
                  </a:lnTo>
                  <a:lnTo>
                    <a:pt x="0" y="297179"/>
                  </a:lnTo>
                  <a:lnTo>
                    <a:pt x="3889" y="248975"/>
                  </a:lnTo>
                  <a:lnTo>
                    <a:pt x="15150" y="203248"/>
                  </a:lnTo>
                  <a:lnTo>
                    <a:pt x="33170" y="160608"/>
                  </a:lnTo>
                  <a:lnTo>
                    <a:pt x="57338" y="121669"/>
                  </a:lnTo>
                  <a:lnTo>
                    <a:pt x="87042" y="87041"/>
                  </a:lnTo>
                  <a:lnTo>
                    <a:pt x="121669" y="57338"/>
                  </a:lnTo>
                  <a:lnTo>
                    <a:pt x="160608" y="33170"/>
                  </a:lnTo>
                  <a:lnTo>
                    <a:pt x="203248" y="15150"/>
                  </a:lnTo>
                  <a:lnTo>
                    <a:pt x="248975" y="3889"/>
                  </a:lnTo>
                  <a:lnTo>
                    <a:pt x="297179" y="0"/>
                  </a:lnTo>
                  <a:lnTo>
                    <a:pt x="343949" y="3702"/>
                  </a:lnTo>
                  <a:lnTo>
                    <a:pt x="389146" y="14587"/>
                  </a:lnTo>
                  <a:lnTo>
                    <a:pt x="431972" y="32326"/>
                  </a:lnTo>
                  <a:lnTo>
                    <a:pt x="471628" y="56588"/>
                  </a:lnTo>
                  <a:lnTo>
                    <a:pt x="507317" y="87041"/>
                  </a:lnTo>
                  <a:lnTo>
                    <a:pt x="537771" y="122731"/>
                  </a:lnTo>
                  <a:lnTo>
                    <a:pt x="562033" y="162387"/>
                  </a:lnTo>
                  <a:lnTo>
                    <a:pt x="579772" y="205213"/>
                  </a:lnTo>
                  <a:lnTo>
                    <a:pt x="590657" y="250410"/>
                  </a:lnTo>
                  <a:lnTo>
                    <a:pt x="594359" y="297179"/>
                  </a:lnTo>
                  <a:lnTo>
                    <a:pt x="590470" y="345384"/>
                  </a:lnTo>
                  <a:lnTo>
                    <a:pt x="579209" y="391111"/>
                  </a:lnTo>
                  <a:lnTo>
                    <a:pt x="561189" y="433751"/>
                  </a:lnTo>
                  <a:lnTo>
                    <a:pt x="537021" y="472690"/>
                  </a:lnTo>
                  <a:lnTo>
                    <a:pt x="507317" y="507317"/>
                  </a:lnTo>
                  <a:lnTo>
                    <a:pt x="472690" y="537021"/>
                  </a:lnTo>
                  <a:lnTo>
                    <a:pt x="433751" y="561189"/>
                  </a:lnTo>
                  <a:lnTo>
                    <a:pt x="391111" y="579209"/>
                  </a:lnTo>
                  <a:lnTo>
                    <a:pt x="345384" y="590470"/>
                  </a:lnTo>
                  <a:lnTo>
                    <a:pt x="297179" y="594359"/>
                  </a:lnTo>
                  <a:close/>
                </a:path>
              </a:pathLst>
            </a:custGeom>
            <a:solidFill>
              <a:srgbClr val="F1C4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2"/>
            <p:cNvSpPr/>
            <p:nvPr/>
          </p:nvSpPr>
          <p:spPr>
            <a:xfrm>
              <a:off x="4892040" y="3154680"/>
              <a:ext cx="594360" cy="594360"/>
            </a:xfrm>
            <a:custGeom>
              <a:rect b="b" l="l" r="r" t="t"/>
              <a:pathLst>
                <a:path extrusionOk="0" h="594360" w="594360">
                  <a:moveTo>
                    <a:pt x="0" y="297179"/>
                  </a:moveTo>
                  <a:lnTo>
                    <a:pt x="3889" y="248975"/>
                  </a:lnTo>
                  <a:lnTo>
                    <a:pt x="15150" y="203248"/>
                  </a:lnTo>
                  <a:lnTo>
                    <a:pt x="33170" y="160608"/>
                  </a:lnTo>
                  <a:lnTo>
                    <a:pt x="57338" y="121669"/>
                  </a:lnTo>
                  <a:lnTo>
                    <a:pt x="87042" y="87041"/>
                  </a:lnTo>
                  <a:lnTo>
                    <a:pt x="121669" y="57338"/>
                  </a:lnTo>
                  <a:lnTo>
                    <a:pt x="160608" y="33170"/>
                  </a:lnTo>
                  <a:lnTo>
                    <a:pt x="203248" y="15150"/>
                  </a:lnTo>
                  <a:lnTo>
                    <a:pt x="248975" y="3889"/>
                  </a:lnTo>
                  <a:lnTo>
                    <a:pt x="297179" y="0"/>
                  </a:lnTo>
                  <a:lnTo>
                    <a:pt x="343949" y="3702"/>
                  </a:lnTo>
                  <a:lnTo>
                    <a:pt x="389146" y="14587"/>
                  </a:lnTo>
                  <a:lnTo>
                    <a:pt x="431972" y="32326"/>
                  </a:lnTo>
                  <a:lnTo>
                    <a:pt x="471628" y="56588"/>
                  </a:lnTo>
                  <a:lnTo>
                    <a:pt x="507317" y="87041"/>
                  </a:lnTo>
                  <a:lnTo>
                    <a:pt x="537771" y="122731"/>
                  </a:lnTo>
                  <a:lnTo>
                    <a:pt x="562033" y="162387"/>
                  </a:lnTo>
                  <a:lnTo>
                    <a:pt x="579772" y="205213"/>
                  </a:lnTo>
                  <a:lnTo>
                    <a:pt x="590657" y="250410"/>
                  </a:lnTo>
                  <a:lnTo>
                    <a:pt x="594359" y="297179"/>
                  </a:lnTo>
                  <a:lnTo>
                    <a:pt x="590470" y="345384"/>
                  </a:lnTo>
                  <a:lnTo>
                    <a:pt x="579209" y="391111"/>
                  </a:lnTo>
                  <a:lnTo>
                    <a:pt x="561189" y="433751"/>
                  </a:lnTo>
                  <a:lnTo>
                    <a:pt x="537021" y="472690"/>
                  </a:lnTo>
                  <a:lnTo>
                    <a:pt x="507317" y="507317"/>
                  </a:lnTo>
                  <a:lnTo>
                    <a:pt x="472690" y="537021"/>
                  </a:lnTo>
                  <a:lnTo>
                    <a:pt x="433751" y="561189"/>
                  </a:lnTo>
                  <a:lnTo>
                    <a:pt x="391111" y="579209"/>
                  </a:lnTo>
                  <a:lnTo>
                    <a:pt x="345384" y="590470"/>
                  </a:lnTo>
                  <a:lnTo>
                    <a:pt x="297179" y="594359"/>
                  </a:lnTo>
                  <a:lnTo>
                    <a:pt x="248975" y="590470"/>
                  </a:lnTo>
                  <a:lnTo>
                    <a:pt x="203248" y="579209"/>
                  </a:lnTo>
                  <a:lnTo>
                    <a:pt x="160608" y="561189"/>
                  </a:lnTo>
                  <a:lnTo>
                    <a:pt x="121669" y="537021"/>
                  </a:lnTo>
                  <a:lnTo>
                    <a:pt x="87042" y="507317"/>
                  </a:lnTo>
                  <a:lnTo>
                    <a:pt x="57338" y="472690"/>
                  </a:lnTo>
                  <a:lnTo>
                    <a:pt x="33170" y="433751"/>
                  </a:lnTo>
                  <a:lnTo>
                    <a:pt x="15150" y="391111"/>
                  </a:lnTo>
                  <a:lnTo>
                    <a:pt x="3889" y="345384"/>
                  </a:lnTo>
                  <a:lnTo>
                    <a:pt x="0" y="297179"/>
                  </a:lnTo>
                  <a:close/>
                </a:path>
              </a:pathLst>
            </a:custGeom>
            <a:noFill/>
            <a:ln cap="flat" cmpd="sng" w="12675">
              <a:solidFill>
                <a:srgbClr val="F1C40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26" name="Google Shape;226;p1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046903" y="3322076"/>
              <a:ext cx="284633" cy="2678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7" name="Google Shape;227;p12"/>
          <p:cNvSpPr txBox="1"/>
          <p:nvPr/>
        </p:nvSpPr>
        <p:spPr>
          <a:xfrm>
            <a:off x="5565140" y="3242056"/>
            <a:ext cx="1433195" cy="223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1C40F"/>
                </a:solidFill>
                <a:latin typeface="Calibri"/>
                <a:ea typeface="Calibri"/>
                <a:cs typeface="Calibri"/>
                <a:sym typeface="Calibri"/>
              </a:rPr>
              <a:t>K-Nearest Neighbors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2"/>
          <p:cNvSpPr txBox="1"/>
          <p:nvPr/>
        </p:nvSpPr>
        <p:spPr>
          <a:xfrm>
            <a:off x="4879340" y="3937508"/>
            <a:ext cx="259016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Non-parametric baseline; distance-based; interpretable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 txBox="1"/>
          <p:nvPr/>
        </p:nvSpPr>
        <p:spPr>
          <a:xfrm>
            <a:off x="490220" y="4399223"/>
            <a:ext cx="7537450" cy="432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06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50">
                <a:solidFill>
                  <a:srgbClr val="BDC3C7"/>
                </a:solidFill>
                <a:latin typeface="Calibri"/>
                <a:ea typeface="Calibri"/>
                <a:cs typeface="Calibri"/>
                <a:sym typeface="Calibri"/>
              </a:rPr>
              <a:t>Best Params: C: 10 • kernel: RBF • gamma: scale	Best Params: n_neighbors: 3 • weights: distance • metric: manhattan</a:t>
            </a:r>
            <a:endParaRPr sz="850">
              <a:latin typeface="Calibri"/>
              <a:ea typeface="Calibri"/>
              <a:cs typeface="Calibri"/>
              <a:sym typeface="Calibri"/>
            </a:endParaRPr>
          </a:p>
          <a:p>
            <a:pPr indent="0" lvl="0" marL="1949450" rtl="0" algn="l">
              <a:lnSpc>
                <a:spcPct val="100000"/>
              </a:lnSpc>
              <a:spcBef>
                <a:spcPts val="57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BDC3C7"/>
                </a:solidFill>
                <a:latin typeface="Calibri"/>
                <a:ea typeface="Calibri"/>
                <a:cs typeface="Calibri"/>
                <a:sym typeface="Calibri"/>
              </a:rPr>
              <a:t>All models tuned using GridSearchCV with 5-fold cross-validation (F1-weighted optimisation)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234" name="Google Shape;234;p13"/>
          <p:cNvSpPr txBox="1"/>
          <p:nvPr>
            <p:ph type="title"/>
          </p:nvPr>
        </p:nvSpPr>
        <p:spPr>
          <a:xfrm>
            <a:off x="353060" y="239776"/>
            <a:ext cx="543496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Evaluation Results</a:t>
            </a:r>
            <a:endParaRPr sz="2800"/>
          </a:p>
        </p:txBody>
      </p:sp>
      <p:grpSp>
        <p:nvGrpSpPr>
          <p:cNvPr id="235" name="Google Shape;235;p13"/>
          <p:cNvGrpSpPr/>
          <p:nvPr/>
        </p:nvGrpSpPr>
        <p:grpSpPr>
          <a:xfrm>
            <a:off x="365759" y="822960"/>
            <a:ext cx="8412480" cy="27940"/>
            <a:chOff x="365759" y="822960"/>
            <a:chExt cx="8412480" cy="27940"/>
          </a:xfrm>
        </p:grpSpPr>
        <p:sp>
          <p:nvSpPr>
            <p:cNvPr id="236" name="Google Shape;236;p13"/>
            <p:cNvSpPr/>
            <p:nvPr/>
          </p:nvSpPr>
          <p:spPr>
            <a:xfrm>
              <a:off x="365759" y="822960"/>
              <a:ext cx="8412480" cy="27940"/>
            </a:xfrm>
            <a:custGeom>
              <a:rect b="b" l="l" r="r" t="t"/>
              <a:pathLst>
                <a:path extrusionOk="0" h="27940" w="8412480">
                  <a:moveTo>
                    <a:pt x="8412479" y="27431"/>
                  </a:moveTo>
                  <a:lnTo>
                    <a:pt x="0" y="27431"/>
                  </a:lnTo>
                  <a:lnTo>
                    <a:pt x="0" y="0"/>
                  </a:lnTo>
                  <a:lnTo>
                    <a:pt x="8412479" y="0"/>
                  </a:lnTo>
                  <a:lnTo>
                    <a:pt x="8412479" y="27431"/>
                  </a:lnTo>
                  <a:close/>
                </a:path>
              </a:pathLst>
            </a:custGeom>
            <a:solidFill>
              <a:srgbClr val="8E44A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3"/>
            <p:cNvSpPr/>
            <p:nvPr/>
          </p:nvSpPr>
          <p:spPr>
            <a:xfrm>
              <a:off x="365759" y="822960"/>
              <a:ext cx="8412480" cy="27940"/>
            </a:xfrm>
            <a:custGeom>
              <a:rect b="b" l="l" r="r" t="t"/>
              <a:pathLst>
                <a:path extrusionOk="0" h="27940" w="8412480">
                  <a:moveTo>
                    <a:pt x="0" y="0"/>
                  </a:moveTo>
                  <a:lnTo>
                    <a:pt x="8412479" y="0"/>
                  </a:lnTo>
                  <a:lnTo>
                    <a:pt x="8412479" y="27431"/>
                  </a:lnTo>
                  <a:lnTo>
                    <a:pt x="0" y="2743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2675">
              <a:solidFill>
                <a:srgbClr val="8E4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aphicFrame>
        <p:nvGraphicFramePr>
          <p:cNvPr id="238" name="Google Shape;238;p13"/>
          <p:cNvGraphicFramePr/>
          <p:nvPr/>
        </p:nvGraphicFramePr>
        <p:xfrm>
          <a:off x="360997" y="12601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{2670ED99-9BB0-4FEE-93D4-62966059A4D6}</a:tableStyleId>
              </a:tblPr>
              <a:tblGrid>
                <a:gridCol w="2512050"/>
                <a:gridCol w="1177300"/>
                <a:gridCol w="1177925"/>
                <a:gridCol w="1177300"/>
                <a:gridCol w="1177925"/>
                <a:gridCol w="1177300"/>
              </a:tblGrid>
              <a:tr h="258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5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Accuracy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5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5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5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F1-Score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5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CV Acc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52F"/>
                    </a:solidFill>
                  </a:tcPr>
                </a:tc>
              </a:tr>
              <a:tr h="258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Forest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1ABB9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1ABB9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1ABB9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1ABB9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1ABB9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0.9964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29"/>
                    </a:solidFill>
                  </a:tcPr>
                </a:tc>
              </a:tr>
              <a:tr h="258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Gradient Boosting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1ABB9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1ABB9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1ABB9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1ABB9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1ABB9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3B"/>
                    </a:solidFill>
                  </a:tcPr>
                </a:tc>
              </a:tr>
              <a:tr h="258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SVM (RBF)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1C40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</a:t>
                      </a:r>
                      <a:r>
                        <a:rPr lang="en-US" sz="1100">
                          <a:solidFill>
                            <a:srgbClr val="F1C40F"/>
                          </a:solidFill>
                        </a:rPr>
                        <a:t>646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1C40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</a:t>
                      </a:r>
                      <a:r>
                        <a:rPr lang="en-US" sz="1100">
                          <a:solidFill>
                            <a:srgbClr val="F1C40F"/>
                          </a:solidFill>
                        </a:rPr>
                        <a:t>9661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1C40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</a:t>
                      </a:r>
                      <a:r>
                        <a:rPr lang="en-US" sz="1100">
                          <a:solidFill>
                            <a:srgbClr val="F1C40F"/>
                          </a:solidFill>
                        </a:rPr>
                        <a:t>9646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1C40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</a:t>
                      </a:r>
                      <a:r>
                        <a:rPr lang="en-US" sz="1100">
                          <a:solidFill>
                            <a:srgbClr val="F1C40F"/>
                          </a:solidFill>
                        </a:rPr>
                        <a:t>9649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2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E67E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0.8360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29"/>
                    </a:solidFill>
                  </a:tcPr>
                </a:tc>
              </a:tr>
              <a:tr h="258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K-Nearest Neighbors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E67E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</a:t>
                      </a:r>
                      <a:r>
                        <a:rPr lang="en-US" sz="1100">
                          <a:solidFill>
                            <a:srgbClr val="E67E22"/>
                          </a:solidFill>
                        </a:rPr>
                        <a:t>9027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E67E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</a:t>
                      </a:r>
                      <a:r>
                        <a:rPr lang="en-US" sz="1100">
                          <a:solidFill>
                            <a:srgbClr val="E67E22"/>
                          </a:solidFill>
                        </a:rPr>
                        <a:t>9027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E67E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</a:t>
                      </a:r>
                      <a:r>
                        <a:rPr lang="en-US" sz="1100">
                          <a:solidFill>
                            <a:srgbClr val="E67E22"/>
                          </a:solidFill>
                        </a:rPr>
                        <a:t>9027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E67E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</a:t>
                      </a:r>
                      <a:r>
                        <a:rPr lang="en-US" sz="1100">
                          <a:solidFill>
                            <a:srgbClr val="E67E22"/>
                          </a:solidFill>
                        </a:rPr>
                        <a:t>9005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E67E2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0.7506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0000" marB="0" marR="0" marL="0">
                    <a:lnL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C3E5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3B"/>
                    </a:solidFill>
                  </a:tcPr>
                </a:tc>
              </a:tr>
            </a:tbl>
          </a:graphicData>
        </a:graphic>
      </p:graphicFrame>
      <p:grpSp>
        <p:nvGrpSpPr>
          <p:cNvPr id="239" name="Google Shape;239;p13"/>
          <p:cNvGrpSpPr/>
          <p:nvPr/>
        </p:nvGrpSpPr>
        <p:grpSpPr>
          <a:xfrm>
            <a:off x="230869" y="2707910"/>
            <a:ext cx="2227580" cy="1404620"/>
            <a:chOff x="230869" y="2707910"/>
            <a:chExt cx="2227580" cy="1404620"/>
          </a:xfrm>
        </p:grpSpPr>
        <p:pic>
          <p:nvPicPr>
            <p:cNvPr id="240" name="Google Shape;240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0869" y="2707910"/>
              <a:ext cx="2227580" cy="14046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13"/>
            <p:cNvSpPr/>
            <p:nvPr/>
          </p:nvSpPr>
          <p:spPr>
            <a:xfrm>
              <a:off x="365760" y="2788920"/>
              <a:ext cx="2011680" cy="1188720"/>
            </a:xfrm>
            <a:custGeom>
              <a:rect b="b" l="l" r="r" t="t"/>
              <a:pathLst>
                <a:path extrusionOk="0" h="1188720" w="2011680">
                  <a:moveTo>
                    <a:pt x="2011679" y="1188719"/>
                  </a:moveTo>
                  <a:lnTo>
                    <a:pt x="0" y="1188719"/>
                  </a:lnTo>
                  <a:lnTo>
                    <a:pt x="0" y="0"/>
                  </a:lnTo>
                  <a:lnTo>
                    <a:pt x="2011679" y="0"/>
                  </a:lnTo>
                  <a:lnTo>
                    <a:pt x="2011679" y="1188719"/>
                  </a:lnTo>
                  <a:close/>
                </a:path>
              </a:pathLst>
            </a:custGeom>
            <a:solidFill>
              <a:srgbClr val="1B2A3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3"/>
            <p:cNvSpPr/>
            <p:nvPr/>
          </p:nvSpPr>
          <p:spPr>
            <a:xfrm>
              <a:off x="365760" y="2788920"/>
              <a:ext cx="2011680" cy="1188720"/>
            </a:xfrm>
            <a:custGeom>
              <a:rect b="b" l="l" r="r" t="t"/>
              <a:pathLst>
                <a:path extrusionOk="0" h="1188720" w="2011680">
                  <a:moveTo>
                    <a:pt x="0" y="0"/>
                  </a:moveTo>
                  <a:lnTo>
                    <a:pt x="2011679" y="0"/>
                  </a:lnTo>
                  <a:lnTo>
                    <a:pt x="2011679" y="1188719"/>
                  </a:lnTo>
                  <a:lnTo>
                    <a:pt x="0" y="118871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2675">
              <a:solidFill>
                <a:srgbClr val="1B2A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3" name="Google Shape;243;p13"/>
          <p:cNvSpPr txBox="1"/>
          <p:nvPr/>
        </p:nvSpPr>
        <p:spPr>
          <a:xfrm>
            <a:off x="806783" y="2904744"/>
            <a:ext cx="1129030" cy="869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BB9B"/>
                </a:solidFill>
                <a:latin typeface="Calibri"/>
                <a:ea typeface="Calibri"/>
                <a:cs typeface="Calibri"/>
                <a:sym typeface="Calibri"/>
              </a:rPr>
              <a:t>RF+GB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635" rtl="0" algn="ctr">
              <a:lnSpc>
                <a:spcPct val="100000"/>
              </a:lnSpc>
              <a:spcBef>
                <a:spcPts val="1664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BDC3C7"/>
                </a:solidFill>
                <a:latin typeface="Calibri"/>
                <a:ea typeface="Calibri"/>
                <a:cs typeface="Calibri"/>
                <a:sym typeface="Calibri"/>
              </a:rPr>
              <a:t>Best Models</a:t>
            </a:r>
            <a:endParaRPr sz="95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4" name="Google Shape;244;p13"/>
          <p:cNvGrpSpPr/>
          <p:nvPr/>
        </p:nvGrpSpPr>
        <p:grpSpPr>
          <a:xfrm>
            <a:off x="2333989" y="2707910"/>
            <a:ext cx="2227580" cy="1404620"/>
            <a:chOff x="2333989" y="2707910"/>
            <a:chExt cx="2227580" cy="1404620"/>
          </a:xfrm>
        </p:grpSpPr>
        <p:pic>
          <p:nvPicPr>
            <p:cNvPr id="245" name="Google Shape;24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33989" y="2707910"/>
              <a:ext cx="2227580" cy="14046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6" name="Google Shape;246;p13"/>
            <p:cNvSpPr/>
            <p:nvPr/>
          </p:nvSpPr>
          <p:spPr>
            <a:xfrm>
              <a:off x="2468879" y="2788920"/>
              <a:ext cx="2011680" cy="1188720"/>
            </a:xfrm>
            <a:custGeom>
              <a:rect b="b" l="l" r="r" t="t"/>
              <a:pathLst>
                <a:path extrusionOk="0" h="1188720" w="2011679">
                  <a:moveTo>
                    <a:pt x="2011679" y="1188719"/>
                  </a:moveTo>
                  <a:lnTo>
                    <a:pt x="0" y="1188719"/>
                  </a:lnTo>
                  <a:lnTo>
                    <a:pt x="0" y="0"/>
                  </a:lnTo>
                  <a:lnTo>
                    <a:pt x="2011679" y="0"/>
                  </a:lnTo>
                  <a:lnTo>
                    <a:pt x="2011679" y="1188719"/>
                  </a:lnTo>
                  <a:close/>
                </a:path>
              </a:pathLst>
            </a:custGeom>
            <a:solidFill>
              <a:srgbClr val="1B2A3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3"/>
            <p:cNvSpPr/>
            <p:nvPr/>
          </p:nvSpPr>
          <p:spPr>
            <a:xfrm>
              <a:off x="2468879" y="2788920"/>
              <a:ext cx="2011680" cy="1188720"/>
            </a:xfrm>
            <a:custGeom>
              <a:rect b="b" l="l" r="r" t="t"/>
              <a:pathLst>
                <a:path extrusionOk="0" h="1188720" w="2011679">
                  <a:moveTo>
                    <a:pt x="0" y="0"/>
                  </a:moveTo>
                  <a:lnTo>
                    <a:pt x="2011679" y="0"/>
                  </a:lnTo>
                  <a:lnTo>
                    <a:pt x="2011679" y="1188719"/>
                  </a:lnTo>
                  <a:lnTo>
                    <a:pt x="0" y="118871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2675">
              <a:solidFill>
                <a:srgbClr val="1B2A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8" name="Google Shape;248;p13"/>
          <p:cNvSpPr txBox="1"/>
          <p:nvPr/>
        </p:nvSpPr>
        <p:spPr>
          <a:xfrm>
            <a:off x="3005030" y="2904744"/>
            <a:ext cx="939800" cy="869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ABB9B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1664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BDC3C7"/>
                </a:solidFill>
                <a:latin typeface="Calibri"/>
                <a:ea typeface="Calibri"/>
                <a:cs typeface="Calibri"/>
                <a:sym typeface="Calibri"/>
              </a:rPr>
              <a:t>Test Accuracy</a:t>
            </a:r>
            <a:endParaRPr sz="95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9" name="Google Shape;249;p13"/>
          <p:cNvGrpSpPr/>
          <p:nvPr/>
        </p:nvGrpSpPr>
        <p:grpSpPr>
          <a:xfrm>
            <a:off x="4437109" y="2707910"/>
            <a:ext cx="2227580" cy="1404620"/>
            <a:chOff x="4437109" y="2707910"/>
            <a:chExt cx="2227580" cy="1404620"/>
          </a:xfrm>
        </p:grpSpPr>
        <p:pic>
          <p:nvPicPr>
            <p:cNvPr id="250" name="Google Shape;250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437109" y="2707910"/>
              <a:ext cx="2227580" cy="14046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1" name="Google Shape;251;p13"/>
            <p:cNvSpPr/>
            <p:nvPr/>
          </p:nvSpPr>
          <p:spPr>
            <a:xfrm>
              <a:off x="4572000" y="2788920"/>
              <a:ext cx="2011680" cy="1188720"/>
            </a:xfrm>
            <a:custGeom>
              <a:rect b="b" l="l" r="r" t="t"/>
              <a:pathLst>
                <a:path extrusionOk="0" h="1188720" w="2011679">
                  <a:moveTo>
                    <a:pt x="2011679" y="1188719"/>
                  </a:moveTo>
                  <a:lnTo>
                    <a:pt x="0" y="1188719"/>
                  </a:lnTo>
                  <a:lnTo>
                    <a:pt x="0" y="0"/>
                  </a:lnTo>
                  <a:lnTo>
                    <a:pt x="2011679" y="0"/>
                  </a:lnTo>
                  <a:lnTo>
                    <a:pt x="2011679" y="1188719"/>
                  </a:lnTo>
                  <a:close/>
                </a:path>
              </a:pathLst>
            </a:custGeom>
            <a:solidFill>
              <a:srgbClr val="1B2A3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3"/>
            <p:cNvSpPr/>
            <p:nvPr/>
          </p:nvSpPr>
          <p:spPr>
            <a:xfrm>
              <a:off x="4572000" y="2788920"/>
              <a:ext cx="2011680" cy="1188720"/>
            </a:xfrm>
            <a:custGeom>
              <a:rect b="b" l="l" r="r" t="t"/>
              <a:pathLst>
                <a:path extrusionOk="0" h="1188720" w="2011679">
                  <a:moveTo>
                    <a:pt x="0" y="0"/>
                  </a:moveTo>
                  <a:lnTo>
                    <a:pt x="2011679" y="0"/>
                  </a:lnTo>
                  <a:lnTo>
                    <a:pt x="2011679" y="1188719"/>
                  </a:lnTo>
                  <a:lnTo>
                    <a:pt x="0" y="118871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2675">
              <a:solidFill>
                <a:srgbClr val="1B2A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3" name="Google Shape;253;p13"/>
          <p:cNvSpPr txBox="1"/>
          <p:nvPr/>
        </p:nvSpPr>
        <p:spPr>
          <a:xfrm>
            <a:off x="5019272" y="2904744"/>
            <a:ext cx="1116330" cy="869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C0382B"/>
                </a:solidFill>
                <a:latin typeface="Calibri"/>
                <a:ea typeface="Calibri"/>
                <a:cs typeface="Calibri"/>
                <a:sym typeface="Calibri"/>
              </a:rPr>
              <a:t>PM2.5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" rtl="0" algn="ctr">
              <a:lnSpc>
                <a:spcPct val="100000"/>
              </a:lnSpc>
              <a:spcBef>
                <a:spcPts val="1664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BDC3C7"/>
                </a:solidFill>
                <a:latin typeface="Calibri"/>
                <a:ea typeface="Calibri"/>
                <a:cs typeface="Calibri"/>
                <a:sym typeface="Calibri"/>
              </a:rPr>
              <a:t>Top Feature</a:t>
            </a:r>
            <a:endParaRPr sz="95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4" name="Google Shape;254;p13"/>
          <p:cNvGrpSpPr/>
          <p:nvPr/>
        </p:nvGrpSpPr>
        <p:grpSpPr>
          <a:xfrm>
            <a:off x="6540229" y="2707910"/>
            <a:ext cx="2227580" cy="1404620"/>
            <a:chOff x="6540229" y="2707910"/>
            <a:chExt cx="2227580" cy="1404620"/>
          </a:xfrm>
        </p:grpSpPr>
        <p:pic>
          <p:nvPicPr>
            <p:cNvPr id="255" name="Google Shape;25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540229" y="2707910"/>
              <a:ext cx="2227580" cy="14046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6" name="Google Shape;256;p13"/>
            <p:cNvSpPr/>
            <p:nvPr/>
          </p:nvSpPr>
          <p:spPr>
            <a:xfrm>
              <a:off x="6675119" y="2788920"/>
              <a:ext cx="2011680" cy="1188720"/>
            </a:xfrm>
            <a:custGeom>
              <a:rect b="b" l="l" r="r" t="t"/>
              <a:pathLst>
                <a:path extrusionOk="0" h="1188720" w="2011679">
                  <a:moveTo>
                    <a:pt x="2011679" y="1188719"/>
                  </a:moveTo>
                  <a:lnTo>
                    <a:pt x="0" y="1188719"/>
                  </a:lnTo>
                  <a:lnTo>
                    <a:pt x="0" y="0"/>
                  </a:lnTo>
                  <a:lnTo>
                    <a:pt x="2011679" y="0"/>
                  </a:lnTo>
                  <a:lnTo>
                    <a:pt x="2011679" y="1188719"/>
                  </a:lnTo>
                  <a:close/>
                </a:path>
              </a:pathLst>
            </a:custGeom>
            <a:solidFill>
              <a:srgbClr val="1B2A3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3"/>
            <p:cNvSpPr/>
            <p:nvPr/>
          </p:nvSpPr>
          <p:spPr>
            <a:xfrm>
              <a:off x="6675119" y="2788920"/>
              <a:ext cx="2011680" cy="1188720"/>
            </a:xfrm>
            <a:custGeom>
              <a:rect b="b" l="l" r="r" t="t"/>
              <a:pathLst>
                <a:path extrusionOk="0" h="1188720" w="2011679">
                  <a:moveTo>
                    <a:pt x="0" y="0"/>
                  </a:moveTo>
                  <a:lnTo>
                    <a:pt x="2011679" y="0"/>
                  </a:lnTo>
                  <a:lnTo>
                    <a:pt x="2011679" y="1188719"/>
                  </a:lnTo>
                  <a:lnTo>
                    <a:pt x="0" y="118871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2675">
              <a:solidFill>
                <a:srgbClr val="1B2A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8" name="Google Shape;258;p13"/>
          <p:cNvSpPr txBox="1"/>
          <p:nvPr/>
        </p:nvSpPr>
        <p:spPr>
          <a:xfrm>
            <a:off x="7157011" y="2904744"/>
            <a:ext cx="1048385" cy="869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1C40F"/>
                </a:solidFill>
                <a:latin typeface="Calibri"/>
                <a:ea typeface="Calibri"/>
                <a:cs typeface="Calibri"/>
                <a:sym typeface="Calibri"/>
              </a:rPr>
              <a:t>99.6%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1664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BDC3C7"/>
                </a:solidFill>
                <a:latin typeface="Calibri"/>
                <a:ea typeface="Calibri"/>
                <a:cs typeface="Calibri"/>
                <a:sym typeface="Calibri"/>
              </a:rPr>
              <a:t>RF Cross-Val</a:t>
            </a:r>
            <a:endParaRPr sz="9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3"/>
          <p:cNvSpPr txBox="1"/>
          <p:nvPr/>
        </p:nvSpPr>
        <p:spPr>
          <a:xfrm>
            <a:off x="1447224" y="4199636"/>
            <a:ext cx="6243955" cy="185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ABB9B"/>
                </a:solidFill>
                <a:latin typeface="MS PGothic"/>
                <a:ea typeface="MS PGothic"/>
                <a:cs typeface="MS PGothic"/>
                <a:sym typeface="MS PGothic"/>
              </a:rPr>
              <a:t>★ </a:t>
            </a:r>
            <a:r>
              <a:rPr b="1" lang="en-US" sz="1050">
                <a:solidFill>
                  <a:srgbClr val="1ABB9B"/>
                </a:solidFill>
                <a:latin typeface="Calibri"/>
                <a:ea typeface="Calibri"/>
                <a:cs typeface="Calibri"/>
                <a:sym typeface="Calibri"/>
              </a:rPr>
              <a:t>Gradient Boosting and Random Forest achieve perfect F1 — PM2.5 is the dominant driver of AQI classification</a:t>
            </a:r>
            <a:endParaRPr sz="105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264" name="Google Shape;264;p14"/>
          <p:cNvSpPr txBox="1"/>
          <p:nvPr>
            <p:ph type="title"/>
          </p:nvPr>
        </p:nvSpPr>
        <p:spPr>
          <a:xfrm>
            <a:off x="353060" y="239776"/>
            <a:ext cx="543496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Feature Importance &amp; Key Patterns</a:t>
            </a:r>
            <a:endParaRPr sz="2800"/>
          </a:p>
        </p:txBody>
      </p:sp>
      <p:grpSp>
        <p:nvGrpSpPr>
          <p:cNvPr id="265" name="Google Shape;265;p14"/>
          <p:cNvGrpSpPr/>
          <p:nvPr/>
        </p:nvGrpSpPr>
        <p:grpSpPr>
          <a:xfrm>
            <a:off x="365759" y="822960"/>
            <a:ext cx="8412480" cy="777748"/>
            <a:chOff x="365759" y="822960"/>
            <a:chExt cx="8412480" cy="777748"/>
          </a:xfrm>
        </p:grpSpPr>
        <p:sp>
          <p:nvSpPr>
            <p:cNvPr id="266" name="Google Shape;266;p14"/>
            <p:cNvSpPr/>
            <p:nvPr/>
          </p:nvSpPr>
          <p:spPr>
            <a:xfrm>
              <a:off x="365759" y="822960"/>
              <a:ext cx="8412480" cy="27940"/>
            </a:xfrm>
            <a:custGeom>
              <a:rect b="b" l="l" r="r" t="t"/>
              <a:pathLst>
                <a:path extrusionOk="0" h="27940" w="8412480">
                  <a:moveTo>
                    <a:pt x="8412479" y="27431"/>
                  </a:moveTo>
                  <a:lnTo>
                    <a:pt x="0" y="27431"/>
                  </a:lnTo>
                  <a:lnTo>
                    <a:pt x="0" y="0"/>
                  </a:lnTo>
                  <a:lnTo>
                    <a:pt x="8412479" y="0"/>
                  </a:lnTo>
                  <a:lnTo>
                    <a:pt x="8412479" y="27431"/>
                  </a:lnTo>
                  <a:close/>
                </a:path>
              </a:pathLst>
            </a:custGeom>
            <a:solidFill>
              <a:srgbClr val="C038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4"/>
            <p:cNvSpPr/>
            <p:nvPr/>
          </p:nvSpPr>
          <p:spPr>
            <a:xfrm>
              <a:off x="365759" y="822960"/>
              <a:ext cx="8412480" cy="27940"/>
            </a:xfrm>
            <a:custGeom>
              <a:rect b="b" l="l" r="r" t="t"/>
              <a:pathLst>
                <a:path extrusionOk="0" h="27940" w="8412480">
                  <a:moveTo>
                    <a:pt x="0" y="0"/>
                  </a:moveTo>
                  <a:lnTo>
                    <a:pt x="8412479" y="0"/>
                  </a:lnTo>
                  <a:lnTo>
                    <a:pt x="8412479" y="27431"/>
                  </a:lnTo>
                  <a:lnTo>
                    <a:pt x="0" y="2743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2675">
              <a:solidFill>
                <a:srgbClr val="C038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4"/>
            <p:cNvSpPr/>
            <p:nvPr/>
          </p:nvSpPr>
          <p:spPr>
            <a:xfrm>
              <a:off x="1737359" y="1344168"/>
              <a:ext cx="4389120" cy="256540"/>
            </a:xfrm>
            <a:custGeom>
              <a:rect b="b" l="l" r="r" t="t"/>
              <a:pathLst>
                <a:path extrusionOk="0" h="256540" w="4389120">
                  <a:moveTo>
                    <a:pt x="4389119" y="256031"/>
                  </a:moveTo>
                  <a:lnTo>
                    <a:pt x="0" y="256031"/>
                  </a:lnTo>
                  <a:lnTo>
                    <a:pt x="0" y="0"/>
                  </a:lnTo>
                  <a:lnTo>
                    <a:pt x="4389119" y="0"/>
                  </a:lnTo>
                  <a:lnTo>
                    <a:pt x="4389119" y="256031"/>
                  </a:lnTo>
                  <a:close/>
                </a:path>
              </a:pathLst>
            </a:custGeom>
            <a:solidFill>
              <a:srgbClr val="C038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4"/>
            <p:cNvSpPr/>
            <p:nvPr/>
          </p:nvSpPr>
          <p:spPr>
            <a:xfrm>
              <a:off x="1737359" y="1344168"/>
              <a:ext cx="4389120" cy="256540"/>
            </a:xfrm>
            <a:custGeom>
              <a:rect b="b" l="l" r="r" t="t"/>
              <a:pathLst>
                <a:path extrusionOk="0" h="256540" w="4389120">
                  <a:moveTo>
                    <a:pt x="0" y="0"/>
                  </a:moveTo>
                  <a:lnTo>
                    <a:pt x="4389119" y="0"/>
                  </a:lnTo>
                  <a:lnTo>
                    <a:pt x="4389119" y="256031"/>
                  </a:lnTo>
                  <a:lnTo>
                    <a:pt x="0" y="25603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2675">
              <a:solidFill>
                <a:srgbClr val="C038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0" name="Google Shape;270;p14"/>
          <p:cNvSpPr txBox="1"/>
          <p:nvPr/>
        </p:nvSpPr>
        <p:spPr>
          <a:xfrm>
            <a:off x="353060" y="972311"/>
            <a:ext cx="2075180" cy="1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ABB9B"/>
                </a:solidFill>
                <a:latin typeface="Calibri"/>
                <a:ea typeface="Calibri"/>
                <a:cs typeface="Calibri"/>
                <a:sym typeface="Calibri"/>
              </a:rPr>
              <a:t>Random Forest Feature Importance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4"/>
          <p:cNvSpPr txBox="1"/>
          <p:nvPr/>
        </p:nvSpPr>
        <p:spPr>
          <a:xfrm>
            <a:off x="1315243" y="1368552"/>
            <a:ext cx="343535" cy="17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BDC3C7"/>
                </a:solidFill>
                <a:latin typeface="Calibri"/>
                <a:ea typeface="Calibri"/>
                <a:cs typeface="Calibri"/>
                <a:sym typeface="Calibri"/>
              </a:rPr>
              <a:t>PM2.5</a:t>
            </a:r>
            <a:endParaRPr sz="9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4"/>
          <p:cNvSpPr txBox="1"/>
          <p:nvPr/>
        </p:nvSpPr>
        <p:spPr>
          <a:xfrm>
            <a:off x="6172200" y="1413891"/>
            <a:ext cx="1974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42%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4"/>
          <p:cNvSpPr txBox="1"/>
          <p:nvPr/>
        </p:nvSpPr>
        <p:spPr>
          <a:xfrm>
            <a:off x="1185748" y="1734311"/>
            <a:ext cx="473075" cy="17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BDC3C7"/>
                </a:solidFill>
                <a:latin typeface="Calibri"/>
                <a:ea typeface="Calibri"/>
                <a:cs typeface="Calibri"/>
                <a:sym typeface="Calibri"/>
              </a:rPr>
              <a:t>pm_ratio</a:t>
            </a:r>
            <a:endParaRPr sz="95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4" name="Google Shape;274;p14"/>
          <p:cNvGrpSpPr/>
          <p:nvPr/>
        </p:nvGrpSpPr>
        <p:grpSpPr>
          <a:xfrm>
            <a:off x="1714632" y="1709754"/>
            <a:ext cx="474903" cy="256514"/>
            <a:chOff x="1737360" y="1709927"/>
            <a:chExt cx="2926080" cy="256540"/>
          </a:xfrm>
        </p:grpSpPr>
        <p:sp>
          <p:nvSpPr>
            <p:cNvPr id="275" name="Google Shape;275;p14"/>
            <p:cNvSpPr/>
            <p:nvPr/>
          </p:nvSpPr>
          <p:spPr>
            <a:xfrm>
              <a:off x="1737360" y="1709927"/>
              <a:ext cx="2926080" cy="256540"/>
            </a:xfrm>
            <a:custGeom>
              <a:rect b="b" l="l" r="r" t="t"/>
              <a:pathLst>
                <a:path extrusionOk="0" h="256539" w="2926079">
                  <a:moveTo>
                    <a:pt x="2926079" y="256031"/>
                  </a:moveTo>
                  <a:lnTo>
                    <a:pt x="0" y="256031"/>
                  </a:lnTo>
                  <a:lnTo>
                    <a:pt x="0" y="0"/>
                  </a:lnTo>
                  <a:lnTo>
                    <a:pt x="2926079" y="0"/>
                  </a:lnTo>
                  <a:lnTo>
                    <a:pt x="2926079" y="256031"/>
                  </a:lnTo>
                  <a:close/>
                </a:path>
              </a:pathLst>
            </a:custGeom>
            <a:solidFill>
              <a:srgbClr val="E67E2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14"/>
            <p:cNvSpPr/>
            <p:nvPr/>
          </p:nvSpPr>
          <p:spPr>
            <a:xfrm>
              <a:off x="1737360" y="1709927"/>
              <a:ext cx="2926080" cy="256540"/>
            </a:xfrm>
            <a:custGeom>
              <a:rect b="b" l="l" r="r" t="t"/>
              <a:pathLst>
                <a:path extrusionOk="0" h="256539" w="2926079">
                  <a:moveTo>
                    <a:pt x="0" y="0"/>
                  </a:moveTo>
                  <a:lnTo>
                    <a:pt x="2926079" y="0"/>
                  </a:lnTo>
                  <a:lnTo>
                    <a:pt x="2926079" y="256031"/>
                  </a:lnTo>
                  <a:lnTo>
                    <a:pt x="0" y="25603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2675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7" name="Google Shape;277;p14"/>
          <p:cNvSpPr txBox="1"/>
          <p:nvPr/>
        </p:nvSpPr>
        <p:spPr>
          <a:xfrm>
            <a:off x="2368510" y="1693263"/>
            <a:ext cx="2229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4.38</a:t>
            </a: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4"/>
          <p:cNvSpPr txBox="1"/>
          <p:nvPr/>
        </p:nvSpPr>
        <p:spPr>
          <a:xfrm>
            <a:off x="1345675" y="2100072"/>
            <a:ext cx="313055" cy="17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BDC3C7"/>
                </a:solidFill>
                <a:latin typeface="Calibri"/>
                <a:ea typeface="Calibri"/>
                <a:cs typeface="Calibri"/>
                <a:sym typeface="Calibri"/>
              </a:rPr>
              <a:t>PM10</a:t>
            </a:r>
            <a:endParaRPr sz="9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4"/>
          <p:cNvSpPr txBox="1"/>
          <p:nvPr/>
        </p:nvSpPr>
        <p:spPr>
          <a:xfrm>
            <a:off x="4455078" y="2128125"/>
            <a:ext cx="5937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28.3</a:t>
            </a: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0" name="Google Shape;280;p14"/>
          <p:cNvGrpSpPr/>
          <p:nvPr/>
        </p:nvGrpSpPr>
        <p:grpSpPr>
          <a:xfrm>
            <a:off x="1737377" y="2075614"/>
            <a:ext cx="2645828" cy="256514"/>
            <a:chOff x="1737360" y="2075688"/>
            <a:chExt cx="1254125" cy="256540"/>
          </a:xfrm>
        </p:grpSpPr>
        <p:sp>
          <p:nvSpPr>
            <p:cNvPr id="281" name="Google Shape;281;p14"/>
            <p:cNvSpPr/>
            <p:nvPr/>
          </p:nvSpPr>
          <p:spPr>
            <a:xfrm>
              <a:off x="1737360" y="2075688"/>
              <a:ext cx="1254125" cy="256540"/>
            </a:xfrm>
            <a:custGeom>
              <a:rect b="b" l="l" r="r" t="t"/>
              <a:pathLst>
                <a:path extrusionOk="0" h="256539" w="1254125">
                  <a:moveTo>
                    <a:pt x="1254033" y="256031"/>
                  </a:moveTo>
                  <a:lnTo>
                    <a:pt x="0" y="256031"/>
                  </a:lnTo>
                  <a:lnTo>
                    <a:pt x="0" y="0"/>
                  </a:lnTo>
                  <a:lnTo>
                    <a:pt x="1254033" y="0"/>
                  </a:lnTo>
                  <a:lnTo>
                    <a:pt x="1254033" y="256031"/>
                  </a:lnTo>
                  <a:close/>
                </a:path>
              </a:pathLst>
            </a:custGeom>
            <a:solidFill>
              <a:srgbClr val="E67E2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4"/>
            <p:cNvSpPr/>
            <p:nvPr/>
          </p:nvSpPr>
          <p:spPr>
            <a:xfrm>
              <a:off x="1737360" y="2075688"/>
              <a:ext cx="1254125" cy="256540"/>
            </a:xfrm>
            <a:custGeom>
              <a:rect b="b" l="l" r="r" t="t"/>
              <a:pathLst>
                <a:path extrusionOk="0" h="256539" w="1254125">
                  <a:moveTo>
                    <a:pt x="0" y="0"/>
                  </a:moveTo>
                  <a:lnTo>
                    <a:pt x="1254033" y="0"/>
                  </a:lnTo>
                  <a:lnTo>
                    <a:pt x="1254033" y="256031"/>
                  </a:lnTo>
                  <a:lnTo>
                    <a:pt x="0" y="25603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2675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3" name="Google Shape;283;p14"/>
          <p:cNvSpPr txBox="1"/>
          <p:nvPr/>
        </p:nvSpPr>
        <p:spPr>
          <a:xfrm>
            <a:off x="1490184" y="2465832"/>
            <a:ext cx="168910" cy="17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BDC3C7"/>
                </a:solidFill>
                <a:latin typeface="Calibri"/>
                <a:ea typeface="Calibri"/>
                <a:cs typeface="Calibri"/>
                <a:sym typeface="Calibri"/>
              </a:rPr>
              <a:t>CO</a:t>
            </a:r>
            <a:endParaRPr sz="95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4" name="Google Shape;284;p14"/>
          <p:cNvGrpSpPr/>
          <p:nvPr/>
        </p:nvGrpSpPr>
        <p:grpSpPr>
          <a:xfrm>
            <a:off x="1737360" y="2441448"/>
            <a:ext cx="627380" cy="256540"/>
            <a:chOff x="1737360" y="2441448"/>
            <a:chExt cx="627380" cy="256540"/>
          </a:xfrm>
        </p:grpSpPr>
        <p:sp>
          <p:nvSpPr>
            <p:cNvPr id="285" name="Google Shape;285;p14"/>
            <p:cNvSpPr/>
            <p:nvPr/>
          </p:nvSpPr>
          <p:spPr>
            <a:xfrm>
              <a:off x="1737360" y="2441448"/>
              <a:ext cx="627380" cy="256540"/>
            </a:xfrm>
            <a:custGeom>
              <a:rect b="b" l="l" r="r" t="t"/>
              <a:pathLst>
                <a:path extrusionOk="0" h="256539" w="627380">
                  <a:moveTo>
                    <a:pt x="627016" y="256031"/>
                  </a:moveTo>
                  <a:lnTo>
                    <a:pt x="0" y="256031"/>
                  </a:lnTo>
                  <a:lnTo>
                    <a:pt x="0" y="0"/>
                  </a:lnTo>
                  <a:lnTo>
                    <a:pt x="627016" y="0"/>
                  </a:lnTo>
                  <a:lnTo>
                    <a:pt x="627016" y="256031"/>
                  </a:lnTo>
                  <a:close/>
                </a:path>
              </a:pathLst>
            </a:custGeom>
            <a:solidFill>
              <a:srgbClr val="F1C4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4"/>
            <p:cNvSpPr/>
            <p:nvPr/>
          </p:nvSpPr>
          <p:spPr>
            <a:xfrm>
              <a:off x="1737360" y="2441448"/>
              <a:ext cx="627380" cy="256540"/>
            </a:xfrm>
            <a:custGeom>
              <a:rect b="b" l="l" r="r" t="t"/>
              <a:pathLst>
                <a:path extrusionOk="0" h="256539" w="627380">
                  <a:moveTo>
                    <a:pt x="0" y="0"/>
                  </a:moveTo>
                  <a:lnTo>
                    <a:pt x="627016" y="0"/>
                  </a:lnTo>
                  <a:lnTo>
                    <a:pt x="627016" y="256031"/>
                  </a:lnTo>
                  <a:lnTo>
                    <a:pt x="0" y="25603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2675">
              <a:solidFill>
                <a:srgbClr val="F1C40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7" name="Google Shape;287;p14"/>
          <p:cNvSpPr txBox="1"/>
          <p:nvPr/>
        </p:nvSpPr>
        <p:spPr>
          <a:xfrm>
            <a:off x="2397397" y="2469896"/>
            <a:ext cx="165100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6%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4"/>
          <p:cNvSpPr txBox="1"/>
          <p:nvPr/>
        </p:nvSpPr>
        <p:spPr>
          <a:xfrm>
            <a:off x="983791" y="2831592"/>
            <a:ext cx="675005" cy="17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BDC3C7"/>
                </a:solidFill>
                <a:latin typeface="Calibri"/>
                <a:ea typeface="Calibri"/>
                <a:cs typeface="Calibri"/>
                <a:sym typeface="Calibri"/>
              </a:rPr>
              <a:t>co_no2_ratio</a:t>
            </a:r>
            <a:endParaRPr sz="95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9" name="Google Shape;289;p14"/>
          <p:cNvGrpSpPr/>
          <p:nvPr/>
        </p:nvGrpSpPr>
        <p:grpSpPr>
          <a:xfrm>
            <a:off x="1737360" y="2807207"/>
            <a:ext cx="418465" cy="256540"/>
            <a:chOff x="1737360" y="2807207"/>
            <a:chExt cx="418465" cy="256540"/>
          </a:xfrm>
        </p:grpSpPr>
        <p:sp>
          <p:nvSpPr>
            <p:cNvPr id="290" name="Google Shape;290;p14"/>
            <p:cNvSpPr/>
            <p:nvPr/>
          </p:nvSpPr>
          <p:spPr>
            <a:xfrm>
              <a:off x="1737360" y="2807207"/>
              <a:ext cx="418465" cy="256540"/>
            </a:xfrm>
            <a:custGeom>
              <a:rect b="b" l="l" r="r" t="t"/>
              <a:pathLst>
                <a:path extrusionOk="0" h="256539" w="418464">
                  <a:moveTo>
                    <a:pt x="418010" y="256031"/>
                  </a:moveTo>
                  <a:lnTo>
                    <a:pt x="0" y="256031"/>
                  </a:lnTo>
                  <a:lnTo>
                    <a:pt x="0" y="0"/>
                  </a:lnTo>
                  <a:lnTo>
                    <a:pt x="418010" y="0"/>
                  </a:lnTo>
                  <a:lnTo>
                    <a:pt x="418010" y="256031"/>
                  </a:lnTo>
                  <a:close/>
                </a:path>
              </a:pathLst>
            </a:custGeom>
            <a:solidFill>
              <a:srgbClr val="F1C4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4"/>
            <p:cNvSpPr/>
            <p:nvPr/>
          </p:nvSpPr>
          <p:spPr>
            <a:xfrm>
              <a:off x="1737360" y="2807207"/>
              <a:ext cx="418465" cy="256540"/>
            </a:xfrm>
            <a:custGeom>
              <a:rect b="b" l="l" r="r" t="t"/>
              <a:pathLst>
                <a:path extrusionOk="0" h="256539" w="418464">
                  <a:moveTo>
                    <a:pt x="0" y="0"/>
                  </a:moveTo>
                  <a:lnTo>
                    <a:pt x="418010" y="0"/>
                  </a:lnTo>
                  <a:lnTo>
                    <a:pt x="418010" y="256031"/>
                  </a:lnTo>
                  <a:lnTo>
                    <a:pt x="0" y="25603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2675">
              <a:solidFill>
                <a:srgbClr val="F1C40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2" name="Google Shape;292;p14"/>
          <p:cNvSpPr txBox="1"/>
          <p:nvPr/>
        </p:nvSpPr>
        <p:spPr>
          <a:xfrm>
            <a:off x="2188391" y="2835656"/>
            <a:ext cx="165100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4%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4"/>
          <p:cNvSpPr txBox="1"/>
          <p:nvPr/>
        </p:nvSpPr>
        <p:spPr>
          <a:xfrm>
            <a:off x="1065197" y="3197352"/>
            <a:ext cx="593725" cy="17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BDC3C7"/>
                </a:solidFill>
                <a:latin typeface="Calibri"/>
                <a:ea typeface="Calibri"/>
                <a:cs typeface="Calibri"/>
                <a:sym typeface="Calibri"/>
              </a:rPr>
              <a:t>oxidant_idx</a:t>
            </a:r>
            <a:endParaRPr sz="95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4" name="Google Shape;294;p14"/>
          <p:cNvGrpSpPr/>
          <p:nvPr/>
        </p:nvGrpSpPr>
        <p:grpSpPr>
          <a:xfrm>
            <a:off x="1737360" y="3172967"/>
            <a:ext cx="313690" cy="256540"/>
            <a:chOff x="1737360" y="3172967"/>
            <a:chExt cx="313690" cy="256540"/>
          </a:xfrm>
        </p:grpSpPr>
        <p:sp>
          <p:nvSpPr>
            <p:cNvPr id="295" name="Google Shape;295;p14"/>
            <p:cNvSpPr/>
            <p:nvPr/>
          </p:nvSpPr>
          <p:spPr>
            <a:xfrm>
              <a:off x="1737360" y="3172967"/>
              <a:ext cx="313690" cy="256540"/>
            </a:xfrm>
            <a:custGeom>
              <a:rect b="b" l="l" r="r" t="t"/>
              <a:pathLst>
                <a:path extrusionOk="0" h="256539" w="313689">
                  <a:moveTo>
                    <a:pt x="313508" y="256031"/>
                  </a:moveTo>
                  <a:lnTo>
                    <a:pt x="0" y="256031"/>
                  </a:lnTo>
                  <a:lnTo>
                    <a:pt x="0" y="0"/>
                  </a:lnTo>
                  <a:lnTo>
                    <a:pt x="313508" y="0"/>
                  </a:lnTo>
                  <a:lnTo>
                    <a:pt x="313508" y="256031"/>
                  </a:lnTo>
                  <a:close/>
                </a:path>
              </a:pathLst>
            </a:custGeom>
            <a:solidFill>
              <a:srgbClr val="BDC3C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14"/>
            <p:cNvSpPr/>
            <p:nvPr/>
          </p:nvSpPr>
          <p:spPr>
            <a:xfrm>
              <a:off x="1737360" y="3172967"/>
              <a:ext cx="313690" cy="256540"/>
            </a:xfrm>
            <a:custGeom>
              <a:rect b="b" l="l" r="r" t="t"/>
              <a:pathLst>
                <a:path extrusionOk="0" h="256539" w="313689">
                  <a:moveTo>
                    <a:pt x="0" y="0"/>
                  </a:moveTo>
                  <a:lnTo>
                    <a:pt x="313508" y="0"/>
                  </a:lnTo>
                  <a:lnTo>
                    <a:pt x="313508" y="256031"/>
                  </a:lnTo>
                  <a:lnTo>
                    <a:pt x="0" y="25603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2675">
              <a:solidFill>
                <a:srgbClr val="BDC3C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7" name="Google Shape;297;p14"/>
          <p:cNvSpPr txBox="1"/>
          <p:nvPr/>
        </p:nvSpPr>
        <p:spPr>
          <a:xfrm>
            <a:off x="2083889" y="3201416"/>
            <a:ext cx="165100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3%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4"/>
          <p:cNvSpPr txBox="1"/>
          <p:nvPr/>
        </p:nvSpPr>
        <p:spPr>
          <a:xfrm>
            <a:off x="1202757" y="3563111"/>
            <a:ext cx="455930" cy="17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BDC3C7"/>
                </a:solidFill>
                <a:latin typeface="Calibri"/>
                <a:ea typeface="Calibri"/>
                <a:cs typeface="Calibri"/>
                <a:sym typeface="Calibri"/>
              </a:rPr>
              <a:t>hour_sin</a:t>
            </a:r>
            <a:endParaRPr sz="95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9" name="Google Shape;299;p14"/>
          <p:cNvGrpSpPr/>
          <p:nvPr/>
        </p:nvGrpSpPr>
        <p:grpSpPr>
          <a:xfrm>
            <a:off x="1737360" y="3538727"/>
            <a:ext cx="209550" cy="256540"/>
            <a:chOff x="1737360" y="3538727"/>
            <a:chExt cx="209550" cy="256540"/>
          </a:xfrm>
        </p:grpSpPr>
        <p:sp>
          <p:nvSpPr>
            <p:cNvPr id="300" name="Google Shape;300;p14"/>
            <p:cNvSpPr/>
            <p:nvPr/>
          </p:nvSpPr>
          <p:spPr>
            <a:xfrm>
              <a:off x="1737360" y="3538727"/>
              <a:ext cx="209550" cy="256540"/>
            </a:xfrm>
            <a:custGeom>
              <a:rect b="b" l="l" r="r" t="t"/>
              <a:pathLst>
                <a:path extrusionOk="0" h="256539" w="209550">
                  <a:moveTo>
                    <a:pt x="209005" y="256031"/>
                  </a:moveTo>
                  <a:lnTo>
                    <a:pt x="0" y="256031"/>
                  </a:lnTo>
                  <a:lnTo>
                    <a:pt x="0" y="0"/>
                  </a:lnTo>
                  <a:lnTo>
                    <a:pt x="209005" y="0"/>
                  </a:lnTo>
                  <a:lnTo>
                    <a:pt x="209005" y="256031"/>
                  </a:lnTo>
                  <a:close/>
                </a:path>
              </a:pathLst>
            </a:custGeom>
            <a:solidFill>
              <a:srgbClr val="BDC3C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14"/>
            <p:cNvSpPr/>
            <p:nvPr/>
          </p:nvSpPr>
          <p:spPr>
            <a:xfrm>
              <a:off x="1737360" y="3538727"/>
              <a:ext cx="209550" cy="256540"/>
            </a:xfrm>
            <a:custGeom>
              <a:rect b="b" l="l" r="r" t="t"/>
              <a:pathLst>
                <a:path extrusionOk="0" h="256539" w="209550">
                  <a:moveTo>
                    <a:pt x="0" y="0"/>
                  </a:moveTo>
                  <a:lnTo>
                    <a:pt x="209005" y="0"/>
                  </a:lnTo>
                  <a:lnTo>
                    <a:pt x="209005" y="256031"/>
                  </a:lnTo>
                  <a:lnTo>
                    <a:pt x="0" y="25603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2675">
              <a:solidFill>
                <a:srgbClr val="BDC3C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2" name="Google Shape;302;p14"/>
          <p:cNvSpPr txBox="1"/>
          <p:nvPr/>
        </p:nvSpPr>
        <p:spPr>
          <a:xfrm>
            <a:off x="1979385" y="3567176"/>
            <a:ext cx="165100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2%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4"/>
          <p:cNvSpPr txBox="1"/>
          <p:nvPr/>
        </p:nvSpPr>
        <p:spPr>
          <a:xfrm>
            <a:off x="1414486" y="3928872"/>
            <a:ext cx="244475" cy="17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BDC3C7"/>
                </a:solidFill>
                <a:latin typeface="Calibri"/>
                <a:ea typeface="Calibri"/>
                <a:cs typeface="Calibri"/>
                <a:sym typeface="Calibri"/>
              </a:rPr>
              <a:t>NO2</a:t>
            </a:r>
            <a:endParaRPr sz="95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4" name="Google Shape;304;p14"/>
          <p:cNvGrpSpPr/>
          <p:nvPr/>
        </p:nvGrpSpPr>
        <p:grpSpPr>
          <a:xfrm>
            <a:off x="1737360" y="3904488"/>
            <a:ext cx="104775" cy="256540"/>
            <a:chOff x="1737360" y="3904488"/>
            <a:chExt cx="104775" cy="256540"/>
          </a:xfrm>
        </p:grpSpPr>
        <p:sp>
          <p:nvSpPr>
            <p:cNvPr id="305" name="Google Shape;305;p14"/>
            <p:cNvSpPr/>
            <p:nvPr/>
          </p:nvSpPr>
          <p:spPr>
            <a:xfrm>
              <a:off x="1737360" y="3904488"/>
              <a:ext cx="104775" cy="256540"/>
            </a:xfrm>
            <a:custGeom>
              <a:rect b="b" l="l" r="r" t="t"/>
              <a:pathLst>
                <a:path extrusionOk="0" h="256539" w="104775">
                  <a:moveTo>
                    <a:pt x="104502" y="256031"/>
                  </a:moveTo>
                  <a:lnTo>
                    <a:pt x="0" y="256031"/>
                  </a:lnTo>
                  <a:lnTo>
                    <a:pt x="0" y="0"/>
                  </a:lnTo>
                  <a:lnTo>
                    <a:pt x="104502" y="0"/>
                  </a:lnTo>
                  <a:lnTo>
                    <a:pt x="104502" y="256031"/>
                  </a:lnTo>
                  <a:close/>
                </a:path>
              </a:pathLst>
            </a:custGeom>
            <a:solidFill>
              <a:srgbClr val="BDC3C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4"/>
            <p:cNvSpPr/>
            <p:nvPr/>
          </p:nvSpPr>
          <p:spPr>
            <a:xfrm>
              <a:off x="1737360" y="3904488"/>
              <a:ext cx="104775" cy="256540"/>
            </a:xfrm>
            <a:custGeom>
              <a:rect b="b" l="l" r="r" t="t"/>
              <a:pathLst>
                <a:path extrusionOk="0" h="256539" w="104775">
                  <a:moveTo>
                    <a:pt x="0" y="0"/>
                  </a:moveTo>
                  <a:lnTo>
                    <a:pt x="104502" y="0"/>
                  </a:lnTo>
                  <a:lnTo>
                    <a:pt x="104502" y="256031"/>
                  </a:lnTo>
                  <a:lnTo>
                    <a:pt x="0" y="25603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2675">
              <a:solidFill>
                <a:srgbClr val="BDC3C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7" name="Google Shape;307;p14"/>
          <p:cNvSpPr txBox="1"/>
          <p:nvPr/>
        </p:nvSpPr>
        <p:spPr>
          <a:xfrm>
            <a:off x="1874883" y="3932935"/>
            <a:ext cx="165100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1%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4"/>
          <p:cNvSpPr txBox="1"/>
          <p:nvPr/>
        </p:nvSpPr>
        <p:spPr>
          <a:xfrm>
            <a:off x="5107940" y="1086611"/>
            <a:ext cx="14637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Diurnal Pollution Pattern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9" name="Google Shape;30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640" y="1646094"/>
            <a:ext cx="150099" cy="14127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14"/>
          <p:cNvSpPr txBox="1"/>
          <p:nvPr/>
        </p:nvSpPr>
        <p:spPr>
          <a:xfrm>
            <a:off x="5285306" y="1624584"/>
            <a:ext cx="808990" cy="17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C0382B"/>
                </a:solidFill>
                <a:latin typeface="Calibri"/>
                <a:ea typeface="Calibri"/>
                <a:cs typeface="Calibri"/>
                <a:sym typeface="Calibri"/>
              </a:rPr>
              <a:t>Midnight–5 AM</a:t>
            </a:r>
            <a:endParaRPr sz="95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1" name="Google Shape;311;p14"/>
          <p:cNvGrpSpPr/>
          <p:nvPr/>
        </p:nvGrpSpPr>
        <p:grpSpPr>
          <a:xfrm>
            <a:off x="4919344" y="870190"/>
            <a:ext cx="4056380" cy="4056380"/>
            <a:chOff x="4802869" y="833390"/>
            <a:chExt cx="4056380" cy="4056380"/>
          </a:xfrm>
        </p:grpSpPr>
        <p:pic>
          <p:nvPicPr>
            <p:cNvPr id="312" name="Google Shape;312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802869" y="833390"/>
              <a:ext cx="4056380" cy="40563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3" name="Google Shape;313;p14"/>
            <p:cNvSpPr/>
            <p:nvPr/>
          </p:nvSpPr>
          <p:spPr>
            <a:xfrm>
              <a:off x="4937759" y="914400"/>
              <a:ext cx="3840479" cy="3840479"/>
            </a:xfrm>
            <a:custGeom>
              <a:rect b="b" l="l" r="r" t="t"/>
              <a:pathLst>
                <a:path extrusionOk="0" h="3840479" w="3840479">
                  <a:moveTo>
                    <a:pt x="3840479" y="3840479"/>
                  </a:moveTo>
                  <a:lnTo>
                    <a:pt x="0" y="3840479"/>
                  </a:lnTo>
                  <a:lnTo>
                    <a:pt x="0" y="0"/>
                  </a:lnTo>
                  <a:lnTo>
                    <a:pt x="3840479" y="0"/>
                  </a:lnTo>
                  <a:lnTo>
                    <a:pt x="3840479" y="3840479"/>
                  </a:lnTo>
                  <a:close/>
                </a:path>
              </a:pathLst>
            </a:custGeom>
            <a:solidFill>
              <a:srgbClr val="1B2A3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4"/>
            <p:cNvSpPr/>
            <p:nvPr/>
          </p:nvSpPr>
          <p:spPr>
            <a:xfrm>
              <a:off x="4937759" y="914400"/>
              <a:ext cx="3840479" cy="3840479"/>
            </a:xfrm>
            <a:custGeom>
              <a:rect b="b" l="l" r="r" t="t"/>
              <a:pathLst>
                <a:path extrusionOk="0" h="3840479" w="3840479">
                  <a:moveTo>
                    <a:pt x="0" y="0"/>
                  </a:moveTo>
                  <a:lnTo>
                    <a:pt x="3840479" y="0"/>
                  </a:lnTo>
                  <a:lnTo>
                    <a:pt x="3840479" y="3840479"/>
                  </a:lnTo>
                  <a:lnTo>
                    <a:pt x="0" y="384047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2675">
              <a:solidFill>
                <a:srgbClr val="1B2A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5" name="Google Shape;315;p14"/>
          <p:cNvSpPr txBox="1"/>
          <p:nvPr/>
        </p:nvSpPr>
        <p:spPr>
          <a:xfrm>
            <a:off x="6662420" y="1567941"/>
            <a:ext cx="1527810" cy="2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PEAK: Atmospheric inversion traps pollutants near surface</a:t>
            </a:r>
            <a:endParaRPr sz="85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6" name="Google Shape;31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20640" y="2240454"/>
            <a:ext cx="150099" cy="14127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4"/>
          <p:cNvSpPr txBox="1"/>
          <p:nvPr/>
        </p:nvSpPr>
        <p:spPr>
          <a:xfrm>
            <a:off x="5285306" y="2218944"/>
            <a:ext cx="474980" cy="17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6–10 AM</a:t>
            </a:r>
            <a:endParaRPr sz="9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4"/>
          <p:cNvSpPr txBox="1"/>
          <p:nvPr/>
        </p:nvSpPr>
        <p:spPr>
          <a:xfrm>
            <a:off x="6662420" y="2162302"/>
            <a:ext cx="1645920" cy="2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Secondary peak: Morning traffic rush emissions</a:t>
            </a:r>
            <a:endParaRPr sz="85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9" name="Google Shape;31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20640" y="2834814"/>
            <a:ext cx="150099" cy="14127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4"/>
          <p:cNvSpPr txBox="1"/>
          <p:nvPr/>
        </p:nvSpPr>
        <p:spPr>
          <a:xfrm>
            <a:off x="5285306" y="2813304"/>
            <a:ext cx="671195" cy="17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1ABB9B"/>
                </a:solidFill>
                <a:latin typeface="Calibri"/>
                <a:ea typeface="Calibri"/>
                <a:cs typeface="Calibri"/>
                <a:sym typeface="Calibri"/>
              </a:rPr>
              <a:t>11 AM–3 PM</a:t>
            </a:r>
            <a:endParaRPr sz="9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4"/>
          <p:cNvSpPr txBox="1"/>
          <p:nvPr/>
        </p:nvSpPr>
        <p:spPr>
          <a:xfrm>
            <a:off x="6662420" y="2756662"/>
            <a:ext cx="1709420" cy="2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TROUGH: PBL deepens, dilutes surface concentrations</a:t>
            </a:r>
            <a:endParaRPr sz="85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2" name="Google Shape;32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120640" y="3429175"/>
            <a:ext cx="150099" cy="14127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14"/>
          <p:cNvSpPr txBox="1"/>
          <p:nvPr/>
        </p:nvSpPr>
        <p:spPr>
          <a:xfrm>
            <a:off x="5285306" y="3407664"/>
            <a:ext cx="404495" cy="17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F1C40F"/>
                </a:solidFill>
                <a:latin typeface="Calibri"/>
                <a:ea typeface="Calibri"/>
                <a:cs typeface="Calibri"/>
                <a:sym typeface="Calibri"/>
              </a:rPr>
              <a:t>4–8 PM</a:t>
            </a:r>
            <a:endParaRPr sz="9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 txBox="1"/>
          <p:nvPr/>
        </p:nvSpPr>
        <p:spPr>
          <a:xfrm>
            <a:off x="6662420" y="3415791"/>
            <a:ext cx="1784350" cy="154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Gradual rise: Evening traffic + cooling air</a:t>
            </a:r>
            <a:endParaRPr sz="85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5" name="Google Shape;325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120640" y="4023535"/>
            <a:ext cx="150099" cy="14127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14"/>
          <p:cNvSpPr txBox="1"/>
          <p:nvPr/>
        </p:nvSpPr>
        <p:spPr>
          <a:xfrm>
            <a:off x="5285306" y="4002023"/>
            <a:ext cx="800100" cy="17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BDC3C7"/>
                </a:solidFill>
                <a:latin typeface="Calibri"/>
                <a:ea typeface="Calibri"/>
                <a:cs typeface="Calibri"/>
                <a:sym typeface="Calibri"/>
              </a:rPr>
              <a:t>9 PM–Midnight</a:t>
            </a:r>
            <a:endParaRPr sz="9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4"/>
          <p:cNvSpPr txBox="1"/>
          <p:nvPr/>
        </p:nvSpPr>
        <p:spPr>
          <a:xfrm>
            <a:off x="6662420" y="3945382"/>
            <a:ext cx="1870710" cy="28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Rising: Nocturnal inversion begins forming again</a:t>
            </a:r>
            <a:endParaRPr sz="8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4"/>
          <p:cNvSpPr txBox="1"/>
          <p:nvPr/>
        </p:nvSpPr>
        <p:spPr>
          <a:xfrm>
            <a:off x="2437159" y="4714748"/>
            <a:ext cx="426910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F1C40F"/>
                </a:solidFill>
                <a:latin typeface="Calibri"/>
                <a:ea typeface="Calibri"/>
                <a:cs typeface="Calibri"/>
                <a:sym typeface="Calibri"/>
              </a:rPr>
              <a:t>UHI connection: Nocturnal urban warmth suppresses turbulent mixing </a:t>
            </a:r>
            <a:r>
              <a:rPr i="1" lang="en-US" sz="900">
                <a:solidFill>
                  <a:srgbClr val="F1C40F"/>
                </a:solidFill>
                <a:latin typeface="Arial"/>
                <a:ea typeface="Arial"/>
                <a:cs typeface="Arial"/>
                <a:sym typeface="Arial"/>
              </a:rPr>
              <a:t>→ </a:t>
            </a:r>
            <a:r>
              <a:rPr i="1" lang="en-US" sz="900">
                <a:solidFill>
                  <a:srgbClr val="F1C40F"/>
                </a:solidFill>
                <a:latin typeface="Calibri"/>
                <a:ea typeface="Calibri"/>
                <a:cs typeface="Calibri"/>
                <a:sym typeface="Calibri"/>
              </a:rPr>
              <a:t>pollutant trapping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333" name="Google Shape;333;p15"/>
          <p:cNvSpPr txBox="1"/>
          <p:nvPr>
            <p:ph type="title"/>
          </p:nvPr>
        </p:nvSpPr>
        <p:spPr>
          <a:xfrm>
            <a:off x="353060" y="239776"/>
            <a:ext cx="543496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 Findings &amp; Conclusions</a:t>
            </a:r>
            <a:endParaRPr/>
          </a:p>
        </p:txBody>
      </p:sp>
      <p:grpSp>
        <p:nvGrpSpPr>
          <p:cNvPr id="334" name="Google Shape;334;p15"/>
          <p:cNvGrpSpPr/>
          <p:nvPr/>
        </p:nvGrpSpPr>
        <p:grpSpPr>
          <a:xfrm>
            <a:off x="230869" y="822960"/>
            <a:ext cx="8547371" cy="2009410"/>
            <a:chOff x="230869" y="822960"/>
            <a:chExt cx="8547371" cy="2009410"/>
          </a:xfrm>
        </p:grpSpPr>
        <p:sp>
          <p:nvSpPr>
            <p:cNvPr id="335" name="Google Shape;335;p15"/>
            <p:cNvSpPr/>
            <p:nvPr/>
          </p:nvSpPr>
          <p:spPr>
            <a:xfrm>
              <a:off x="365760" y="822960"/>
              <a:ext cx="8412480" cy="27940"/>
            </a:xfrm>
            <a:custGeom>
              <a:rect b="b" l="l" r="r" t="t"/>
              <a:pathLst>
                <a:path extrusionOk="0" h="27940" w="8412480">
                  <a:moveTo>
                    <a:pt x="8412479" y="27431"/>
                  </a:moveTo>
                  <a:lnTo>
                    <a:pt x="0" y="27431"/>
                  </a:lnTo>
                  <a:lnTo>
                    <a:pt x="0" y="0"/>
                  </a:lnTo>
                  <a:lnTo>
                    <a:pt x="8412479" y="0"/>
                  </a:lnTo>
                  <a:lnTo>
                    <a:pt x="8412479" y="27431"/>
                  </a:lnTo>
                  <a:close/>
                </a:path>
              </a:pathLst>
            </a:custGeom>
            <a:solidFill>
              <a:srgbClr val="1ABB9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15"/>
            <p:cNvSpPr/>
            <p:nvPr/>
          </p:nvSpPr>
          <p:spPr>
            <a:xfrm>
              <a:off x="365760" y="822960"/>
              <a:ext cx="8412480" cy="27940"/>
            </a:xfrm>
            <a:custGeom>
              <a:rect b="b" l="l" r="r" t="t"/>
              <a:pathLst>
                <a:path extrusionOk="0" h="27940" w="8412480">
                  <a:moveTo>
                    <a:pt x="0" y="0"/>
                  </a:moveTo>
                  <a:lnTo>
                    <a:pt x="8412479" y="0"/>
                  </a:lnTo>
                  <a:lnTo>
                    <a:pt x="8412479" y="27431"/>
                  </a:lnTo>
                  <a:lnTo>
                    <a:pt x="0" y="2743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2675">
              <a:solidFill>
                <a:srgbClr val="1ABB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37" name="Google Shape;337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0869" y="879110"/>
              <a:ext cx="2913380" cy="19532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8" name="Google Shape;338;p15"/>
            <p:cNvSpPr/>
            <p:nvPr/>
          </p:nvSpPr>
          <p:spPr>
            <a:xfrm>
              <a:off x="365760" y="960120"/>
              <a:ext cx="2697480" cy="1737360"/>
            </a:xfrm>
            <a:custGeom>
              <a:rect b="b" l="l" r="r" t="t"/>
              <a:pathLst>
                <a:path extrusionOk="0" h="1737360" w="2697480">
                  <a:moveTo>
                    <a:pt x="2697479" y="1737359"/>
                  </a:moveTo>
                  <a:lnTo>
                    <a:pt x="0" y="1737359"/>
                  </a:lnTo>
                  <a:lnTo>
                    <a:pt x="0" y="0"/>
                  </a:lnTo>
                  <a:lnTo>
                    <a:pt x="2697479" y="0"/>
                  </a:lnTo>
                  <a:lnTo>
                    <a:pt x="2697479" y="1737359"/>
                  </a:lnTo>
                  <a:close/>
                </a:path>
              </a:pathLst>
            </a:custGeom>
            <a:solidFill>
              <a:srgbClr val="1B2A3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15"/>
            <p:cNvSpPr/>
            <p:nvPr/>
          </p:nvSpPr>
          <p:spPr>
            <a:xfrm>
              <a:off x="1371600" y="1051560"/>
              <a:ext cx="640080" cy="640080"/>
            </a:xfrm>
            <a:custGeom>
              <a:rect b="b" l="l" r="r" t="t"/>
              <a:pathLst>
                <a:path extrusionOk="0" h="640080" w="640080">
                  <a:moveTo>
                    <a:pt x="320039" y="640079"/>
                  </a:moveTo>
                  <a:lnTo>
                    <a:pt x="272746" y="636609"/>
                  </a:lnTo>
                  <a:lnTo>
                    <a:pt x="227608" y="626529"/>
                  </a:lnTo>
                  <a:lnTo>
                    <a:pt x="185119" y="610334"/>
                  </a:lnTo>
                  <a:lnTo>
                    <a:pt x="145774" y="588519"/>
                  </a:lnTo>
                  <a:lnTo>
                    <a:pt x="110070" y="561579"/>
                  </a:lnTo>
                  <a:lnTo>
                    <a:pt x="78500" y="530009"/>
                  </a:lnTo>
                  <a:lnTo>
                    <a:pt x="51560" y="494305"/>
                  </a:lnTo>
                  <a:lnTo>
                    <a:pt x="29745" y="454960"/>
                  </a:lnTo>
                  <a:lnTo>
                    <a:pt x="13550" y="412471"/>
                  </a:lnTo>
                  <a:lnTo>
                    <a:pt x="3470" y="367333"/>
                  </a:lnTo>
                  <a:lnTo>
                    <a:pt x="0" y="320039"/>
                  </a:lnTo>
                  <a:lnTo>
                    <a:pt x="3470" y="272746"/>
                  </a:lnTo>
                  <a:lnTo>
                    <a:pt x="13550" y="227608"/>
                  </a:lnTo>
                  <a:lnTo>
                    <a:pt x="29745" y="185119"/>
                  </a:lnTo>
                  <a:lnTo>
                    <a:pt x="51560" y="145774"/>
                  </a:lnTo>
                  <a:lnTo>
                    <a:pt x="78500" y="110070"/>
                  </a:lnTo>
                  <a:lnTo>
                    <a:pt x="110070" y="78500"/>
                  </a:lnTo>
                  <a:lnTo>
                    <a:pt x="145774" y="51560"/>
                  </a:lnTo>
                  <a:lnTo>
                    <a:pt x="185119" y="29745"/>
                  </a:lnTo>
                  <a:lnTo>
                    <a:pt x="227608" y="13550"/>
                  </a:lnTo>
                  <a:lnTo>
                    <a:pt x="272746" y="3470"/>
                  </a:lnTo>
                  <a:lnTo>
                    <a:pt x="320039" y="0"/>
                  </a:lnTo>
                  <a:lnTo>
                    <a:pt x="370407" y="3986"/>
                  </a:lnTo>
                  <a:lnTo>
                    <a:pt x="419081" y="15710"/>
                  </a:lnTo>
                  <a:lnTo>
                    <a:pt x="465201" y="34813"/>
                  </a:lnTo>
                  <a:lnTo>
                    <a:pt x="507908" y="60941"/>
                  </a:lnTo>
                  <a:lnTo>
                    <a:pt x="546342" y="93737"/>
                  </a:lnTo>
                  <a:lnTo>
                    <a:pt x="579138" y="132171"/>
                  </a:lnTo>
                  <a:lnTo>
                    <a:pt x="605266" y="174878"/>
                  </a:lnTo>
                  <a:lnTo>
                    <a:pt x="624369" y="220998"/>
                  </a:lnTo>
                  <a:lnTo>
                    <a:pt x="636093" y="269672"/>
                  </a:lnTo>
                  <a:lnTo>
                    <a:pt x="640079" y="320039"/>
                  </a:lnTo>
                  <a:lnTo>
                    <a:pt x="636609" y="367333"/>
                  </a:lnTo>
                  <a:lnTo>
                    <a:pt x="626529" y="412471"/>
                  </a:lnTo>
                  <a:lnTo>
                    <a:pt x="610334" y="454960"/>
                  </a:lnTo>
                  <a:lnTo>
                    <a:pt x="588519" y="494305"/>
                  </a:lnTo>
                  <a:lnTo>
                    <a:pt x="561579" y="530009"/>
                  </a:lnTo>
                  <a:lnTo>
                    <a:pt x="530009" y="561579"/>
                  </a:lnTo>
                  <a:lnTo>
                    <a:pt x="494305" y="588519"/>
                  </a:lnTo>
                  <a:lnTo>
                    <a:pt x="454960" y="610334"/>
                  </a:lnTo>
                  <a:lnTo>
                    <a:pt x="412471" y="626529"/>
                  </a:lnTo>
                  <a:lnTo>
                    <a:pt x="367333" y="636609"/>
                  </a:lnTo>
                  <a:lnTo>
                    <a:pt x="320039" y="640079"/>
                  </a:lnTo>
                  <a:close/>
                </a:path>
              </a:pathLst>
            </a:custGeom>
            <a:solidFill>
              <a:srgbClr val="1ABB9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15"/>
            <p:cNvSpPr/>
            <p:nvPr/>
          </p:nvSpPr>
          <p:spPr>
            <a:xfrm>
              <a:off x="1371600" y="1051560"/>
              <a:ext cx="640080" cy="640080"/>
            </a:xfrm>
            <a:custGeom>
              <a:rect b="b" l="l" r="r" t="t"/>
              <a:pathLst>
                <a:path extrusionOk="0" h="640080" w="640080">
                  <a:moveTo>
                    <a:pt x="0" y="320039"/>
                  </a:moveTo>
                  <a:lnTo>
                    <a:pt x="3470" y="272746"/>
                  </a:lnTo>
                  <a:lnTo>
                    <a:pt x="13550" y="227608"/>
                  </a:lnTo>
                  <a:lnTo>
                    <a:pt x="29745" y="185119"/>
                  </a:lnTo>
                  <a:lnTo>
                    <a:pt x="51560" y="145774"/>
                  </a:lnTo>
                  <a:lnTo>
                    <a:pt x="78500" y="110070"/>
                  </a:lnTo>
                  <a:lnTo>
                    <a:pt x="110070" y="78500"/>
                  </a:lnTo>
                  <a:lnTo>
                    <a:pt x="145774" y="51560"/>
                  </a:lnTo>
                  <a:lnTo>
                    <a:pt x="185119" y="29745"/>
                  </a:lnTo>
                  <a:lnTo>
                    <a:pt x="227608" y="13550"/>
                  </a:lnTo>
                  <a:lnTo>
                    <a:pt x="272746" y="3470"/>
                  </a:lnTo>
                  <a:lnTo>
                    <a:pt x="320039" y="0"/>
                  </a:lnTo>
                  <a:lnTo>
                    <a:pt x="370407" y="3986"/>
                  </a:lnTo>
                  <a:lnTo>
                    <a:pt x="419081" y="15710"/>
                  </a:lnTo>
                  <a:lnTo>
                    <a:pt x="465201" y="34813"/>
                  </a:lnTo>
                  <a:lnTo>
                    <a:pt x="507908" y="60941"/>
                  </a:lnTo>
                  <a:lnTo>
                    <a:pt x="546342" y="93737"/>
                  </a:lnTo>
                  <a:lnTo>
                    <a:pt x="579138" y="132171"/>
                  </a:lnTo>
                  <a:lnTo>
                    <a:pt x="605266" y="174878"/>
                  </a:lnTo>
                  <a:lnTo>
                    <a:pt x="624369" y="220998"/>
                  </a:lnTo>
                  <a:lnTo>
                    <a:pt x="636093" y="269672"/>
                  </a:lnTo>
                  <a:lnTo>
                    <a:pt x="640079" y="320039"/>
                  </a:lnTo>
                  <a:lnTo>
                    <a:pt x="636609" y="367333"/>
                  </a:lnTo>
                  <a:lnTo>
                    <a:pt x="626529" y="412471"/>
                  </a:lnTo>
                  <a:lnTo>
                    <a:pt x="610334" y="454960"/>
                  </a:lnTo>
                  <a:lnTo>
                    <a:pt x="588519" y="494305"/>
                  </a:lnTo>
                  <a:lnTo>
                    <a:pt x="561579" y="530009"/>
                  </a:lnTo>
                  <a:lnTo>
                    <a:pt x="530009" y="561579"/>
                  </a:lnTo>
                  <a:lnTo>
                    <a:pt x="494305" y="588519"/>
                  </a:lnTo>
                  <a:lnTo>
                    <a:pt x="454960" y="610334"/>
                  </a:lnTo>
                  <a:lnTo>
                    <a:pt x="412471" y="626529"/>
                  </a:lnTo>
                  <a:lnTo>
                    <a:pt x="367333" y="636609"/>
                  </a:lnTo>
                  <a:lnTo>
                    <a:pt x="320039" y="640079"/>
                  </a:lnTo>
                  <a:lnTo>
                    <a:pt x="272746" y="636609"/>
                  </a:lnTo>
                  <a:lnTo>
                    <a:pt x="227608" y="626529"/>
                  </a:lnTo>
                  <a:lnTo>
                    <a:pt x="185119" y="610334"/>
                  </a:lnTo>
                  <a:lnTo>
                    <a:pt x="145774" y="588519"/>
                  </a:lnTo>
                  <a:lnTo>
                    <a:pt x="110070" y="561579"/>
                  </a:lnTo>
                  <a:lnTo>
                    <a:pt x="78500" y="530009"/>
                  </a:lnTo>
                  <a:lnTo>
                    <a:pt x="51560" y="494305"/>
                  </a:lnTo>
                  <a:lnTo>
                    <a:pt x="29745" y="454960"/>
                  </a:lnTo>
                  <a:lnTo>
                    <a:pt x="13550" y="412471"/>
                  </a:lnTo>
                  <a:lnTo>
                    <a:pt x="3470" y="367333"/>
                  </a:lnTo>
                  <a:lnTo>
                    <a:pt x="0" y="320039"/>
                  </a:lnTo>
                  <a:close/>
                </a:path>
              </a:pathLst>
            </a:custGeom>
            <a:noFill/>
            <a:ln cap="flat" cmpd="sng" w="12675">
              <a:solidFill>
                <a:srgbClr val="1ABB9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41" name="Google Shape;341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33571" y="1227487"/>
              <a:ext cx="316136" cy="29753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2" name="Google Shape;342;p15"/>
          <p:cNvSpPr txBox="1"/>
          <p:nvPr/>
        </p:nvSpPr>
        <p:spPr>
          <a:xfrm>
            <a:off x="359409" y="953769"/>
            <a:ext cx="2710180" cy="1750060"/>
          </a:xfrm>
          <a:prstGeom prst="rect">
            <a:avLst/>
          </a:prstGeom>
          <a:noFill/>
          <a:ln cap="flat" cmpd="sng" w="9525">
            <a:solidFill>
              <a:srgbClr val="1B2A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ABB9B"/>
                </a:solidFill>
                <a:latin typeface="Calibri"/>
                <a:ea typeface="Calibri"/>
                <a:cs typeface="Calibri"/>
                <a:sym typeface="Calibri"/>
              </a:rPr>
              <a:t>Best Models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Gradient Boosting &amp; Random Forest </a:t>
            </a:r>
            <a:r>
              <a:rPr lang="en-US" sz="850">
                <a:solidFill>
                  <a:srgbClr val="ECF0F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→ </a:t>
            </a:r>
            <a:r>
              <a:rPr lang="en-US" sz="850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Perfect F1 (1.00)</a:t>
            </a:r>
            <a:endParaRPr sz="85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3" name="Google Shape;343;p15"/>
          <p:cNvGrpSpPr/>
          <p:nvPr/>
        </p:nvGrpSpPr>
        <p:grpSpPr>
          <a:xfrm>
            <a:off x="3083797" y="879110"/>
            <a:ext cx="2913380" cy="1953260"/>
            <a:chOff x="3083797" y="879110"/>
            <a:chExt cx="2913380" cy="1953260"/>
          </a:xfrm>
        </p:grpSpPr>
        <p:pic>
          <p:nvPicPr>
            <p:cNvPr id="344" name="Google Shape;344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083797" y="879110"/>
              <a:ext cx="2913380" cy="19532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15"/>
            <p:cNvSpPr/>
            <p:nvPr/>
          </p:nvSpPr>
          <p:spPr>
            <a:xfrm>
              <a:off x="3218688" y="960119"/>
              <a:ext cx="2697480" cy="1737360"/>
            </a:xfrm>
            <a:custGeom>
              <a:rect b="b" l="l" r="r" t="t"/>
              <a:pathLst>
                <a:path extrusionOk="0" h="1737360" w="2697479">
                  <a:moveTo>
                    <a:pt x="2697479" y="1737359"/>
                  </a:moveTo>
                  <a:lnTo>
                    <a:pt x="0" y="1737359"/>
                  </a:lnTo>
                  <a:lnTo>
                    <a:pt x="0" y="0"/>
                  </a:lnTo>
                  <a:lnTo>
                    <a:pt x="2697479" y="0"/>
                  </a:lnTo>
                  <a:lnTo>
                    <a:pt x="2697479" y="1737359"/>
                  </a:lnTo>
                  <a:close/>
                </a:path>
              </a:pathLst>
            </a:custGeom>
            <a:solidFill>
              <a:srgbClr val="1B2A3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15"/>
            <p:cNvSpPr/>
            <p:nvPr/>
          </p:nvSpPr>
          <p:spPr>
            <a:xfrm>
              <a:off x="4224528" y="1051559"/>
              <a:ext cx="640080" cy="640080"/>
            </a:xfrm>
            <a:custGeom>
              <a:rect b="b" l="l" r="r" t="t"/>
              <a:pathLst>
                <a:path extrusionOk="0" h="640080" w="640079">
                  <a:moveTo>
                    <a:pt x="320039" y="640079"/>
                  </a:moveTo>
                  <a:lnTo>
                    <a:pt x="272746" y="636609"/>
                  </a:lnTo>
                  <a:lnTo>
                    <a:pt x="227608" y="626529"/>
                  </a:lnTo>
                  <a:lnTo>
                    <a:pt x="185119" y="610334"/>
                  </a:lnTo>
                  <a:lnTo>
                    <a:pt x="145774" y="588519"/>
                  </a:lnTo>
                  <a:lnTo>
                    <a:pt x="110070" y="561579"/>
                  </a:lnTo>
                  <a:lnTo>
                    <a:pt x="78500" y="530009"/>
                  </a:lnTo>
                  <a:lnTo>
                    <a:pt x="51560" y="494305"/>
                  </a:lnTo>
                  <a:lnTo>
                    <a:pt x="29745" y="454960"/>
                  </a:lnTo>
                  <a:lnTo>
                    <a:pt x="13550" y="412471"/>
                  </a:lnTo>
                  <a:lnTo>
                    <a:pt x="3470" y="367333"/>
                  </a:lnTo>
                  <a:lnTo>
                    <a:pt x="0" y="320039"/>
                  </a:lnTo>
                  <a:lnTo>
                    <a:pt x="3470" y="272746"/>
                  </a:lnTo>
                  <a:lnTo>
                    <a:pt x="13550" y="227608"/>
                  </a:lnTo>
                  <a:lnTo>
                    <a:pt x="29745" y="185119"/>
                  </a:lnTo>
                  <a:lnTo>
                    <a:pt x="51560" y="145774"/>
                  </a:lnTo>
                  <a:lnTo>
                    <a:pt x="78500" y="110070"/>
                  </a:lnTo>
                  <a:lnTo>
                    <a:pt x="110070" y="78500"/>
                  </a:lnTo>
                  <a:lnTo>
                    <a:pt x="145774" y="51560"/>
                  </a:lnTo>
                  <a:lnTo>
                    <a:pt x="185119" y="29745"/>
                  </a:lnTo>
                  <a:lnTo>
                    <a:pt x="227608" y="13550"/>
                  </a:lnTo>
                  <a:lnTo>
                    <a:pt x="272746" y="3470"/>
                  </a:lnTo>
                  <a:lnTo>
                    <a:pt x="320039" y="0"/>
                  </a:lnTo>
                  <a:lnTo>
                    <a:pt x="370407" y="3986"/>
                  </a:lnTo>
                  <a:lnTo>
                    <a:pt x="419081" y="15710"/>
                  </a:lnTo>
                  <a:lnTo>
                    <a:pt x="465201" y="34813"/>
                  </a:lnTo>
                  <a:lnTo>
                    <a:pt x="507907" y="60941"/>
                  </a:lnTo>
                  <a:lnTo>
                    <a:pt x="546342" y="93737"/>
                  </a:lnTo>
                  <a:lnTo>
                    <a:pt x="579138" y="132171"/>
                  </a:lnTo>
                  <a:lnTo>
                    <a:pt x="605266" y="174878"/>
                  </a:lnTo>
                  <a:lnTo>
                    <a:pt x="624369" y="220998"/>
                  </a:lnTo>
                  <a:lnTo>
                    <a:pt x="636092" y="269672"/>
                  </a:lnTo>
                  <a:lnTo>
                    <a:pt x="640079" y="320039"/>
                  </a:lnTo>
                  <a:lnTo>
                    <a:pt x="636609" y="367333"/>
                  </a:lnTo>
                  <a:lnTo>
                    <a:pt x="626529" y="412471"/>
                  </a:lnTo>
                  <a:lnTo>
                    <a:pt x="610334" y="454960"/>
                  </a:lnTo>
                  <a:lnTo>
                    <a:pt x="588519" y="494305"/>
                  </a:lnTo>
                  <a:lnTo>
                    <a:pt x="561579" y="530009"/>
                  </a:lnTo>
                  <a:lnTo>
                    <a:pt x="530009" y="561579"/>
                  </a:lnTo>
                  <a:lnTo>
                    <a:pt x="494304" y="588519"/>
                  </a:lnTo>
                  <a:lnTo>
                    <a:pt x="454960" y="610334"/>
                  </a:lnTo>
                  <a:lnTo>
                    <a:pt x="412471" y="626529"/>
                  </a:lnTo>
                  <a:lnTo>
                    <a:pt x="367333" y="636609"/>
                  </a:lnTo>
                  <a:lnTo>
                    <a:pt x="320039" y="640079"/>
                  </a:lnTo>
                  <a:close/>
                </a:path>
              </a:pathLst>
            </a:custGeom>
            <a:solidFill>
              <a:srgbClr val="C0382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15"/>
            <p:cNvSpPr/>
            <p:nvPr/>
          </p:nvSpPr>
          <p:spPr>
            <a:xfrm>
              <a:off x="4224528" y="1051559"/>
              <a:ext cx="640080" cy="640080"/>
            </a:xfrm>
            <a:custGeom>
              <a:rect b="b" l="l" r="r" t="t"/>
              <a:pathLst>
                <a:path extrusionOk="0" h="640080" w="640079">
                  <a:moveTo>
                    <a:pt x="0" y="320039"/>
                  </a:moveTo>
                  <a:lnTo>
                    <a:pt x="3470" y="272746"/>
                  </a:lnTo>
                  <a:lnTo>
                    <a:pt x="13550" y="227608"/>
                  </a:lnTo>
                  <a:lnTo>
                    <a:pt x="29745" y="185119"/>
                  </a:lnTo>
                  <a:lnTo>
                    <a:pt x="51560" y="145774"/>
                  </a:lnTo>
                  <a:lnTo>
                    <a:pt x="78500" y="110070"/>
                  </a:lnTo>
                  <a:lnTo>
                    <a:pt x="110070" y="78500"/>
                  </a:lnTo>
                  <a:lnTo>
                    <a:pt x="145774" y="51560"/>
                  </a:lnTo>
                  <a:lnTo>
                    <a:pt x="185119" y="29745"/>
                  </a:lnTo>
                  <a:lnTo>
                    <a:pt x="227608" y="13550"/>
                  </a:lnTo>
                  <a:lnTo>
                    <a:pt x="272746" y="3470"/>
                  </a:lnTo>
                  <a:lnTo>
                    <a:pt x="320039" y="0"/>
                  </a:lnTo>
                  <a:lnTo>
                    <a:pt x="370407" y="3986"/>
                  </a:lnTo>
                  <a:lnTo>
                    <a:pt x="419081" y="15710"/>
                  </a:lnTo>
                  <a:lnTo>
                    <a:pt x="465201" y="34813"/>
                  </a:lnTo>
                  <a:lnTo>
                    <a:pt x="507907" y="60941"/>
                  </a:lnTo>
                  <a:lnTo>
                    <a:pt x="546342" y="93737"/>
                  </a:lnTo>
                  <a:lnTo>
                    <a:pt x="579138" y="132171"/>
                  </a:lnTo>
                  <a:lnTo>
                    <a:pt x="605266" y="174878"/>
                  </a:lnTo>
                  <a:lnTo>
                    <a:pt x="624369" y="220998"/>
                  </a:lnTo>
                  <a:lnTo>
                    <a:pt x="636092" y="269672"/>
                  </a:lnTo>
                  <a:lnTo>
                    <a:pt x="640079" y="320039"/>
                  </a:lnTo>
                  <a:lnTo>
                    <a:pt x="636609" y="367333"/>
                  </a:lnTo>
                  <a:lnTo>
                    <a:pt x="626529" y="412471"/>
                  </a:lnTo>
                  <a:lnTo>
                    <a:pt x="610334" y="454960"/>
                  </a:lnTo>
                  <a:lnTo>
                    <a:pt x="588519" y="494305"/>
                  </a:lnTo>
                  <a:lnTo>
                    <a:pt x="561579" y="530009"/>
                  </a:lnTo>
                  <a:lnTo>
                    <a:pt x="530009" y="561579"/>
                  </a:lnTo>
                  <a:lnTo>
                    <a:pt x="494304" y="588519"/>
                  </a:lnTo>
                  <a:lnTo>
                    <a:pt x="454960" y="610334"/>
                  </a:lnTo>
                  <a:lnTo>
                    <a:pt x="412471" y="626529"/>
                  </a:lnTo>
                  <a:lnTo>
                    <a:pt x="367333" y="636609"/>
                  </a:lnTo>
                  <a:lnTo>
                    <a:pt x="320039" y="640079"/>
                  </a:lnTo>
                  <a:lnTo>
                    <a:pt x="272746" y="636609"/>
                  </a:lnTo>
                  <a:lnTo>
                    <a:pt x="227608" y="626529"/>
                  </a:lnTo>
                  <a:lnTo>
                    <a:pt x="185119" y="610334"/>
                  </a:lnTo>
                  <a:lnTo>
                    <a:pt x="145774" y="588519"/>
                  </a:lnTo>
                  <a:lnTo>
                    <a:pt x="110070" y="561579"/>
                  </a:lnTo>
                  <a:lnTo>
                    <a:pt x="78500" y="530009"/>
                  </a:lnTo>
                  <a:lnTo>
                    <a:pt x="51560" y="494305"/>
                  </a:lnTo>
                  <a:lnTo>
                    <a:pt x="29745" y="454960"/>
                  </a:lnTo>
                  <a:lnTo>
                    <a:pt x="13550" y="412471"/>
                  </a:lnTo>
                  <a:lnTo>
                    <a:pt x="3470" y="367333"/>
                  </a:lnTo>
                  <a:lnTo>
                    <a:pt x="0" y="320039"/>
                  </a:lnTo>
                  <a:close/>
                </a:path>
              </a:pathLst>
            </a:custGeom>
            <a:noFill/>
            <a:ln cap="flat" cmpd="sng" w="12675">
              <a:solidFill>
                <a:srgbClr val="C0382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48" name="Google Shape;348;p1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386500" y="1227487"/>
              <a:ext cx="316136" cy="29753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9" name="Google Shape;349;p15"/>
          <p:cNvSpPr txBox="1"/>
          <p:nvPr/>
        </p:nvSpPr>
        <p:spPr>
          <a:xfrm>
            <a:off x="3212338" y="953769"/>
            <a:ext cx="2710180" cy="1750060"/>
          </a:xfrm>
          <a:prstGeom prst="rect">
            <a:avLst/>
          </a:prstGeom>
          <a:noFill/>
          <a:ln cap="flat" cmpd="sng" w="9525">
            <a:solidFill>
              <a:srgbClr val="1B2A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C0382B"/>
                </a:solidFill>
                <a:latin typeface="Calibri"/>
                <a:ea typeface="Calibri"/>
                <a:cs typeface="Calibri"/>
                <a:sym typeface="Calibri"/>
              </a:rPr>
              <a:t>Critical Pollutant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PM2.5 accounts for 42% of feature importance in RF</a:t>
            </a:r>
            <a:endParaRPr sz="85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0" name="Google Shape;350;p15"/>
          <p:cNvGrpSpPr/>
          <p:nvPr/>
        </p:nvGrpSpPr>
        <p:grpSpPr>
          <a:xfrm>
            <a:off x="5936725" y="879110"/>
            <a:ext cx="2913380" cy="1953260"/>
            <a:chOff x="5936725" y="879110"/>
            <a:chExt cx="2913380" cy="1953260"/>
          </a:xfrm>
        </p:grpSpPr>
        <p:pic>
          <p:nvPicPr>
            <p:cNvPr id="351" name="Google Shape;351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936725" y="879110"/>
              <a:ext cx="2913380" cy="19532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15"/>
            <p:cNvSpPr/>
            <p:nvPr/>
          </p:nvSpPr>
          <p:spPr>
            <a:xfrm>
              <a:off x="6071615" y="960119"/>
              <a:ext cx="2697480" cy="1737360"/>
            </a:xfrm>
            <a:custGeom>
              <a:rect b="b" l="l" r="r" t="t"/>
              <a:pathLst>
                <a:path extrusionOk="0" h="1737360" w="2697479">
                  <a:moveTo>
                    <a:pt x="2697479" y="1737359"/>
                  </a:moveTo>
                  <a:lnTo>
                    <a:pt x="0" y="1737359"/>
                  </a:lnTo>
                  <a:lnTo>
                    <a:pt x="0" y="0"/>
                  </a:lnTo>
                  <a:lnTo>
                    <a:pt x="2697479" y="0"/>
                  </a:lnTo>
                  <a:lnTo>
                    <a:pt x="2697479" y="1737359"/>
                  </a:lnTo>
                  <a:close/>
                </a:path>
              </a:pathLst>
            </a:custGeom>
            <a:solidFill>
              <a:srgbClr val="1B2A3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15"/>
            <p:cNvSpPr/>
            <p:nvPr/>
          </p:nvSpPr>
          <p:spPr>
            <a:xfrm>
              <a:off x="7077456" y="1051559"/>
              <a:ext cx="640080" cy="640080"/>
            </a:xfrm>
            <a:custGeom>
              <a:rect b="b" l="l" r="r" t="t"/>
              <a:pathLst>
                <a:path extrusionOk="0" h="640080" w="640079">
                  <a:moveTo>
                    <a:pt x="320039" y="640079"/>
                  </a:moveTo>
                  <a:lnTo>
                    <a:pt x="272746" y="636609"/>
                  </a:lnTo>
                  <a:lnTo>
                    <a:pt x="227608" y="626529"/>
                  </a:lnTo>
                  <a:lnTo>
                    <a:pt x="185119" y="610334"/>
                  </a:lnTo>
                  <a:lnTo>
                    <a:pt x="145774" y="588519"/>
                  </a:lnTo>
                  <a:lnTo>
                    <a:pt x="110070" y="561579"/>
                  </a:lnTo>
                  <a:lnTo>
                    <a:pt x="78500" y="530009"/>
                  </a:lnTo>
                  <a:lnTo>
                    <a:pt x="51560" y="494305"/>
                  </a:lnTo>
                  <a:lnTo>
                    <a:pt x="29745" y="454960"/>
                  </a:lnTo>
                  <a:lnTo>
                    <a:pt x="13550" y="412471"/>
                  </a:lnTo>
                  <a:lnTo>
                    <a:pt x="3470" y="367333"/>
                  </a:lnTo>
                  <a:lnTo>
                    <a:pt x="0" y="320039"/>
                  </a:lnTo>
                  <a:lnTo>
                    <a:pt x="3470" y="272746"/>
                  </a:lnTo>
                  <a:lnTo>
                    <a:pt x="13550" y="227608"/>
                  </a:lnTo>
                  <a:lnTo>
                    <a:pt x="29745" y="185119"/>
                  </a:lnTo>
                  <a:lnTo>
                    <a:pt x="51560" y="145774"/>
                  </a:lnTo>
                  <a:lnTo>
                    <a:pt x="78500" y="110070"/>
                  </a:lnTo>
                  <a:lnTo>
                    <a:pt x="110070" y="78500"/>
                  </a:lnTo>
                  <a:lnTo>
                    <a:pt x="145774" y="51560"/>
                  </a:lnTo>
                  <a:lnTo>
                    <a:pt x="185119" y="29745"/>
                  </a:lnTo>
                  <a:lnTo>
                    <a:pt x="227608" y="13550"/>
                  </a:lnTo>
                  <a:lnTo>
                    <a:pt x="272746" y="3470"/>
                  </a:lnTo>
                  <a:lnTo>
                    <a:pt x="320039" y="0"/>
                  </a:lnTo>
                  <a:lnTo>
                    <a:pt x="370407" y="3986"/>
                  </a:lnTo>
                  <a:lnTo>
                    <a:pt x="419080" y="15710"/>
                  </a:lnTo>
                  <a:lnTo>
                    <a:pt x="465201" y="34813"/>
                  </a:lnTo>
                  <a:lnTo>
                    <a:pt x="507908" y="60941"/>
                  </a:lnTo>
                  <a:lnTo>
                    <a:pt x="546342" y="93737"/>
                  </a:lnTo>
                  <a:lnTo>
                    <a:pt x="579138" y="132171"/>
                  </a:lnTo>
                  <a:lnTo>
                    <a:pt x="605266" y="174878"/>
                  </a:lnTo>
                  <a:lnTo>
                    <a:pt x="624369" y="220998"/>
                  </a:lnTo>
                  <a:lnTo>
                    <a:pt x="636092" y="269672"/>
                  </a:lnTo>
                  <a:lnTo>
                    <a:pt x="640079" y="320039"/>
                  </a:lnTo>
                  <a:lnTo>
                    <a:pt x="636609" y="367333"/>
                  </a:lnTo>
                  <a:lnTo>
                    <a:pt x="626529" y="412471"/>
                  </a:lnTo>
                  <a:lnTo>
                    <a:pt x="610334" y="454960"/>
                  </a:lnTo>
                  <a:lnTo>
                    <a:pt x="588519" y="494305"/>
                  </a:lnTo>
                  <a:lnTo>
                    <a:pt x="561579" y="530009"/>
                  </a:lnTo>
                  <a:lnTo>
                    <a:pt x="530009" y="561579"/>
                  </a:lnTo>
                  <a:lnTo>
                    <a:pt x="494304" y="588519"/>
                  </a:lnTo>
                  <a:lnTo>
                    <a:pt x="454960" y="610334"/>
                  </a:lnTo>
                  <a:lnTo>
                    <a:pt x="412471" y="626529"/>
                  </a:lnTo>
                  <a:lnTo>
                    <a:pt x="367332" y="636609"/>
                  </a:lnTo>
                  <a:lnTo>
                    <a:pt x="320039" y="640079"/>
                  </a:lnTo>
                  <a:close/>
                </a:path>
              </a:pathLst>
            </a:custGeom>
            <a:solidFill>
              <a:srgbClr val="E67E2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15"/>
            <p:cNvSpPr/>
            <p:nvPr/>
          </p:nvSpPr>
          <p:spPr>
            <a:xfrm>
              <a:off x="7077456" y="1051559"/>
              <a:ext cx="640080" cy="640080"/>
            </a:xfrm>
            <a:custGeom>
              <a:rect b="b" l="l" r="r" t="t"/>
              <a:pathLst>
                <a:path extrusionOk="0" h="640080" w="640079">
                  <a:moveTo>
                    <a:pt x="0" y="320039"/>
                  </a:moveTo>
                  <a:lnTo>
                    <a:pt x="3470" y="272746"/>
                  </a:lnTo>
                  <a:lnTo>
                    <a:pt x="13550" y="227608"/>
                  </a:lnTo>
                  <a:lnTo>
                    <a:pt x="29745" y="185119"/>
                  </a:lnTo>
                  <a:lnTo>
                    <a:pt x="51560" y="145774"/>
                  </a:lnTo>
                  <a:lnTo>
                    <a:pt x="78500" y="110070"/>
                  </a:lnTo>
                  <a:lnTo>
                    <a:pt x="110070" y="78500"/>
                  </a:lnTo>
                  <a:lnTo>
                    <a:pt x="145774" y="51560"/>
                  </a:lnTo>
                  <a:lnTo>
                    <a:pt x="185119" y="29745"/>
                  </a:lnTo>
                  <a:lnTo>
                    <a:pt x="227608" y="13550"/>
                  </a:lnTo>
                  <a:lnTo>
                    <a:pt x="272746" y="3470"/>
                  </a:lnTo>
                  <a:lnTo>
                    <a:pt x="320039" y="0"/>
                  </a:lnTo>
                  <a:lnTo>
                    <a:pt x="370407" y="3986"/>
                  </a:lnTo>
                  <a:lnTo>
                    <a:pt x="419080" y="15710"/>
                  </a:lnTo>
                  <a:lnTo>
                    <a:pt x="465201" y="34813"/>
                  </a:lnTo>
                  <a:lnTo>
                    <a:pt x="507908" y="60941"/>
                  </a:lnTo>
                  <a:lnTo>
                    <a:pt x="546342" y="93737"/>
                  </a:lnTo>
                  <a:lnTo>
                    <a:pt x="579138" y="132171"/>
                  </a:lnTo>
                  <a:lnTo>
                    <a:pt x="605266" y="174878"/>
                  </a:lnTo>
                  <a:lnTo>
                    <a:pt x="624369" y="220998"/>
                  </a:lnTo>
                  <a:lnTo>
                    <a:pt x="636092" y="269672"/>
                  </a:lnTo>
                  <a:lnTo>
                    <a:pt x="640079" y="320039"/>
                  </a:lnTo>
                  <a:lnTo>
                    <a:pt x="636609" y="367333"/>
                  </a:lnTo>
                  <a:lnTo>
                    <a:pt x="626529" y="412471"/>
                  </a:lnTo>
                  <a:lnTo>
                    <a:pt x="610334" y="454960"/>
                  </a:lnTo>
                  <a:lnTo>
                    <a:pt x="588519" y="494305"/>
                  </a:lnTo>
                  <a:lnTo>
                    <a:pt x="561579" y="530009"/>
                  </a:lnTo>
                  <a:lnTo>
                    <a:pt x="530009" y="561579"/>
                  </a:lnTo>
                  <a:lnTo>
                    <a:pt x="494304" y="588519"/>
                  </a:lnTo>
                  <a:lnTo>
                    <a:pt x="454960" y="610334"/>
                  </a:lnTo>
                  <a:lnTo>
                    <a:pt x="412471" y="626529"/>
                  </a:lnTo>
                  <a:lnTo>
                    <a:pt x="367332" y="636609"/>
                  </a:lnTo>
                  <a:lnTo>
                    <a:pt x="320039" y="640079"/>
                  </a:lnTo>
                  <a:lnTo>
                    <a:pt x="272746" y="636609"/>
                  </a:lnTo>
                  <a:lnTo>
                    <a:pt x="227608" y="626529"/>
                  </a:lnTo>
                  <a:lnTo>
                    <a:pt x="185119" y="610334"/>
                  </a:lnTo>
                  <a:lnTo>
                    <a:pt x="145774" y="588519"/>
                  </a:lnTo>
                  <a:lnTo>
                    <a:pt x="110070" y="561579"/>
                  </a:lnTo>
                  <a:lnTo>
                    <a:pt x="78500" y="530009"/>
                  </a:lnTo>
                  <a:lnTo>
                    <a:pt x="51560" y="494305"/>
                  </a:lnTo>
                  <a:lnTo>
                    <a:pt x="29745" y="454960"/>
                  </a:lnTo>
                  <a:lnTo>
                    <a:pt x="13550" y="412471"/>
                  </a:lnTo>
                  <a:lnTo>
                    <a:pt x="3470" y="367333"/>
                  </a:lnTo>
                  <a:lnTo>
                    <a:pt x="0" y="320039"/>
                  </a:lnTo>
                  <a:close/>
                </a:path>
              </a:pathLst>
            </a:custGeom>
            <a:noFill/>
            <a:ln cap="flat" cmpd="sng" w="12675">
              <a:solidFill>
                <a:srgbClr val="E67E2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55" name="Google Shape;355;p1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239428" y="1227487"/>
              <a:ext cx="316136" cy="29753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56" name="Google Shape;356;p15"/>
          <p:cNvSpPr txBox="1"/>
          <p:nvPr/>
        </p:nvSpPr>
        <p:spPr>
          <a:xfrm>
            <a:off x="6065265" y="953769"/>
            <a:ext cx="2710180" cy="1750060"/>
          </a:xfrm>
          <a:prstGeom prst="rect">
            <a:avLst/>
          </a:prstGeom>
          <a:noFill/>
          <a:ln cap="flat" cmpd="sng" w="9525">
            <a:solidFill>
              <a:srgbClr val="1B2A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Peak Pollution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02:00–05:00 AM due to nocturnal atmospheric inversion</a:t>
            </a:r>
            <a:endParaRPr sz="85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7" name="Google Shape;357;p15"/>
          <p:cNvGrpSpPr/>
          <p:nvPr/>
        </p:nvGrpSpPr>
        <p:grpSpPr>
          <a:xfrm>
            <a:off x="230869" y="2799351"/>
            <a:ext cx="2913380" cy="1953260"/>
            <a:chOff x="230869" y="2799351"/>
            <a:chExt cx="2913380" cy="1953260"/>
          </a:xfrm>
        </p:grpSpPr>
        <p:pic>
          <p:nvPicPr>
            <p:cNvPr id="358" name="Google Shape;358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30869" y="2799351"/>
              <a:ext cx="2913380" cy="19532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9" name="Google Shape;359;p15"/>
            <p:cNvSpPr/>
            <p:nvPr/>
          </p:nvSpPr>
          <p:spPr>
            <a:xfrm>
              <a:off x="365760" y="2880359"/>
              <a:ext cx="2697480" cy="1737360"/>
            </a:xfrm>
            <a:custGeom>
              <a:rect b="b" l="l" r="r" t="t"/>
              <a:pathLst>
                <a:path extrusionOk="0" h="1737360" w="2697480">
                  <a:moveTo>
                    <a:pt x="2697479" y="1737359"/>
                  </a:moveTo>
                  <a:lnTo>
                    <a:pt x="0" y="1737359"/>
                  </a:lnTo>
                  <a:lnTo>
                    <a:pt x="0" y="0"/>
                  </a:lnTo>
                  <a:lnTo>
                    <a:pt x="2697479" y="0"/>
                  </a:lnTo>
                  <a:lnTo>
                    <a:pt x="2697479" y="1737359"/>
                  </a:lnTo>
                  <a:close/>
                </a:path>
              </a:pathLst>
            </a:custGeom>
            <a:solidFill>
              <a:srgbClr val="1B2A3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15"/>
            <p:cNvSpPr/>
            <p:nvPr/>
          </p:nvSpPr>
          <p:spPr>
            <a:xfrm>
              <a:off x="1371600" y="2971799"/>
              <a:ext cx="640080" cy="640080"/>
            </a:xfrm>
            <a:custGeom>
              <a:rect b="b" l="l" r="r" t="t"/>
              <a:pathLst>
                <a:path extrusionOk="0" h="640079" w="640080">
                  <a:moveTo>
                    <a:pt x="320039" y="640079"/>
                  </a:moveTo>
                  <a:lnTo>
                    <a:pt x="272746" y="636609"/>
                  </a:lnTo>
                  <a:lnTo>
                    <a:pt x="227608" y="626529"/>
                  </a:lnTo>
                  <a:lnTo>
                    <a:pt x="185119" y="610334"/>
                  </a:lnTo>
                  <a:lnTo>
                    <a:pt x="145774" y="588519"/>
                  </a:lnTo>
                  <a:lnTo>
                    <a:pt x="110070" y="561579"/>
                  </a:lnTo>
                  <a:lnTo>
                    <a:pt x="78500" y="530009"/>
                  </a:lnTo>
                  <a:lnTo>
                    <a:pt x="51560" y="494305"/>
                  </a:lnTo>
                  <a:lnTo>
                    <a:pt x="29745" y="454960"/>
                  </a:lnTo>
                  <a:lnTo>
                    <a:pt x="13550" y="412471"/>
                  </a:lnTo>
                  <a:lnTo>
                    <a:pt x="3470" y="367333"/>
                  </a:lnTo>
                  <a:lnTo>
                    <a:pt x="0" y="320039"/>
                  </a:lnTo>
                  <a:lnTo>
                    <a:pt x="3470" y="272746"/>
                  </a:lnTo>
                  <a:lnTo>
                    <a:pt x="13550" y="227608"/>
                  </a:lnTo>
                  <a:lnTo>
                    <a:pt x="29745" y="185119"/>
                  </a:lnTo>
                  <a:lnTo>
                    <a:pt x="51560" y="145774"/>
                  </a:lnTo>
                  <a:lnTo>
                    <a:pt x="78500" y="110070"/>
                  </a:lnTo>
                  <a:lnTo>
                    <a:pt x="110070" y="78500"/>
                  </a:lnTo>
                  <a:lnTo>
                    <a:pt x="145774" y="51560"/>
                  </a:lnTo>
                  <a:lnTo>
                    <a:pt x="185119" y="29745"/>
                  </a:lnTo>
                  <a:lnTo>
                    <a:pt x="227608" y="13550"/>
                  </a:lnTo>
                  <a:lnTo>
                    <a:pt x="272746" y="3470"/>
                  </a:lnTo>
                  <a:lnTo>
                    <a:pt x="320039" y="0"/>
                  </a:lnTo>
                  <a:lnTo>
                    <a:pt x="370407" y="3986"/>
                  </a:lnTo>
                  <a:lnTo>
                    <a:pt x="419081" y="15710"/>
                  </a:lnTo>
                  <a:lnTo>
                    <a:pt x="465201" y="34813"/>
                  </a:lnTo>
                  <a:lnTo>
                    <a:pt x="507908" y="60941"/>
                  </a:lnTo>
                  <a:lnTo>
                    <a:pt x="546342" y="93737"/>
                  </a:lnTo>
                  <a:lnTo>
                    <a:pt x="579138" y="132171"/>
                  </a:lnTo>
                  <a:lnTo>
                    <a:pt x="605266" y="174878"/>
                  </a:lnTo>
                  <a:lnTo>
                    <a:pt x="624369" y="220998"/>
                  </a:lnTo>
                  <a:lnTo>
                    <a:pt x="636093" y="269672"/>
                  </a:lnTo>
                  <a:lnTo>
                    <a:pt x="640079" y="320039"/>
                  </a:lnTo>
                  <a:lnTo>
                    <a:pt x="636609" y="367333"/>
                  </a:lnTo>
                  <a:lnTo>
                    <a:pt x="626529" y="412471"/>
                  </a:lnTo>
                  <a:lnTo>
                    <a:pt x="610334" y="454960"/>
                  </a:lnTo>
                  <a:lnTo>
                    <a:pt x="588519" y="494305"/>
                  </a:lnTo>
                  <a:lnTo>
                    <a:pt x="561579" y="530009"/>
                  </a:lnTo>
                  <a:lnTo>
                    <a:pt x="530009" y="561579"/>
                  </a:lnTo>
                  <a:lnTo>
                    <a:pt x="494305" y="588519"/>
                  </a:lnTo>
                  <a:lnTo>
                    <a:pt x="454960" y="610334"/>
                  </a:lnTo>
                  <a:lnTo>
                    <a:pt x="412471" y="626529"/>
                  </a:lnTo>
                  <a:lnTo>
                    <a:pt x="367333" y="636609"/>
                  </a:lnTo>
                  <a:lnTo>
                    <a:pt x="320039" y="640079"/>
                  </a:lnTo>
                  <a:close/>
                </a:path>
              </a:pathLst>
            </a:custGeom>
            <a:solidFill>
              <a:srgbClr val="F1C40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15"/>
            <p:cNvSpPr/>
            <p:nvPr/>
          </p:nvSpPr>
          <p:spPr>
            <a:xfrm>
              <a:off x="1371600" y="2971799"/>
              <a:ext cx="640080" cy="640080"/>
            </a:xfrm>
            <a:custGeom>
              <a:rect b="b" l="l" r="r" t="t"/>
              <a:pathLst>
                <a:path extrusionOk="0" h="640079" w="640080">
                  <a:moveTo>
                    <a:pt x="0" y="320039"/>
                  </a:moveTo>
                  <a:lnTo>
                    <a:pt x="3470" y="272746"/>
                  </a:lnTo>
                  <a:lnTo>
                    <a:pt x="13550" y="227608"/>
                  </a:lnTo>
                  <a:lnTo>
                    <a:pt x="29745" y="185119"/>
                  </a:lnTo>
                  <a:lnTo>
                    <a:pt x="51560" y="145774"/>
                  </a:lnTo>
                  <a:lnTo>
                    <a:pt x="78500" y="110070"/>
                  </a:lnTo>
                  <a:lnTo>
                    <a:pt x="110070" y="78500"/>
                  </a:lnTo>
                  <a:lnTo>
                    <a:pt x="145774" y="51560"/>
                  </a:lnTo>
                  <a:lnTo>
                    <a:pt x="185119" y="29745"/>
                  </a:lnTo>
                  <a:lnTo>
                    <a:pt x="227608" y="13550"/>
                  </a:lnTo>
                  <a:lnTo>
                    <a:pt x="272746" y="3470"/>
                  </a:lnTo>
                  <a:lnTo>
                    <a:pt x="320039" y="0"/>
                  </a:lnTo>
                  <a:lnTo>
                    <a:pt x="370407" y="3986"/>
                  </a:lnTo>
                  <a:lnTo>
                    <a:pt x="419081" y="15710"/>
                  </a:lnTo>
                  <a:lnTo>
                    <a:pt x="465201" y="34813"/>
                  </a:lnTo>
                  <a:lnTo>
                    <a:pt x="507908" y="60941"/>
                  </a:lnTo>
                  <a:lnTo>
                    <a:pt x="546342" y="93737"/>
                  </a:lnTo>
                  <a:lnTo>
                    <a:pt x="579138" y="132171"/>
                  </a:lnTo>
                  <a:lnTo>
                    <a:pt x="605266" y="174878"/>
                  </a:lnTo>
                  <a:lnTo>
                    <a:pt x="624369" y="220998"/>
                  </a:lnTo>
                  <a:lnTo>
                    <a:pt x="636093" y="269672"/>
                  </a:lnTo>
                  <a:lnTo>
                    <a:pt x="640079" y="320039"/>
                  </a:lnTo>
                  <a:lnTo>
                    <a:pt x="636609" y="367333"/>
                  </a:lnTo>
                  <a:lnTo>
                    <a:pt x="626529" y="412471"/>
                  </a:lnTo>
                  <a:lnTo>
                    <a:pt x="610334" y="454960"/>
                  </a:lnTo>
                  <a:lnTo>
                    <a:pt x="588519" y="494305"/>
                  </a:lnTo>
                  <a:lnTo>
                    <a:pt x="561579" y="530009"/>
                  </a:lnTo>
                  <a:lnTo>
                    <a:pt x="530009" y="561579"/>
                  </a:lnTo>
                  <a:lnTo>
                    <a:pt x="494305" y="588519"/>
                  </a:lnTo>
                  <a:lnTo>
                    <a:pt x="454960" y="610334"/>
                  </a:lnTo>
                  <a:lnTo>
                    <a:pt x="412471" y="626529"/>
                  </a:lnTo>
                  <a:lnTo>
                    <a:pt x="367333" y="636609"/>
                  </a:lnTo>
                  <a:lnTo>
                    <a:pt x="320039" y="640079"/>
                  </a:lnTo>
                  <a:lnTo>
                    <a:pt x="272746" y="636609"/>
                  </a:lnTo>
                  <a:lnTo>
                    <a:pt x="227608" y="626529"/>
                  </a:lnTo>
                  <a:lnTo>
                    <a:pt x="185119" y="610334"/>
                  </a:lnTo>
                  <a:lnTo>
                    <a:pt x="145774" y="588519"/>
                  </a:lnTo>
                  <a:lnTo>
                    <a:pt x="110070" y="561579"/>
                  </a:lnTo>
                  <a:lnTo>
                    <a:pt x="78500" y="530009"/>
                  </a:lnTo>
                  <a:lnTo>
                    <a:pt x="51560" y="494305"/>
                  </a:lnTo>
                  <a:lnTo>
                    <a:pt x="29745" y="454960"/>
                  </a:lnTo>
                  <a:lnTo>
                    <a:pt x="13550" y="412471"/>
                  </a:lnTo>
                  <a:lnTo>
                    <a:pt x="3470" y="367333"/>
                  </a:lnTo>
                  <a:lnTo>
                    <a:pt x="0" y="320039"/>
                  </a:lnTo>
                  <a:close/>
                </a:path>
              </a:pathLst>
            </a:custGeom>
            <a:noFill/>
            <a:ln cap="flat" cmpd="sng" w="12675">
              <a:solidFill>
                <a:srgbClr val="F1C40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62" name="Google Shape;362;p1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533571" y="3147727"/>
              <a:ext cx="316136" cy="29753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3" name="Google Shape;363;p15"/>
          <p:cNvSpPr txBox="1"/>
          <p:nvPr/>
        </p:nvSpPr>
        <p:spPr>
          <a:xfrm>
            <a:off x="359409" y="2874010"/>
            <a:ext cx="2710180" cy="1750060"/>
          </a:xfrm>
          <a:prstGeom prst="rect">
            <a:avLst/>
          </a:prstGeom>
          <a:noFill/>
          <a:ln cap="flat" cmpd="sng" w="9525">
            <a:solidFill>
              <a:srgbClr val="1B2A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1C40F"/>
                </a:solidFill>
                <a:latin typeface="Calibri"/>
                <a:ea typeface="Calibri"/>
                <a:cs typeface="Calibri"/>
                <a:sym typeface="Calibri"/>
              </a:rPr>
              <a:t>Feature Engineering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405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172720" marR="16637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PM ratio &amp; oxidant index add predictive signal beyond raw data</a:t>
            </a:r>
            <a:endParaRPr sz="85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4" name="Google Shape;364;p15"/>
          <p:cNvGrpSpPr/>
          <p:nvPr/>
        </p:nvGrpSpPr>
        <p:grpSpPr>
          <a:xfrm>
            <a:off x="3083797" y="2799351"/>
            <a:ext cx="2913380" cy="1953260"/>
            <a:chOff x="3083797" y="2799351"/>
            <a:chExt cx="2913380" cy="1953260"/>
          </a:xfrm>
        </p:grpSpPr>
        <p:pic>
          <p:nvPicPr>
            <p:cNvPr id="365" name="Google Shape;365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083797" y="2799351"/>
              <a:ext cx="2913380" cy="19532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6" name="Google Shape;366;p15"/>
            <p:cNvSpPr/>
            <p:nvPr/>
          </p:nvSpPr>
          <p:spPr>
            <a:xfrm>
              <a:off x="3218688" y="2880359"/>
              <a:ext cx="2697480" cy="1737360"/>
            </a:xfrm>
            <a:custGeom>
              <a:rect b="b" l="l" r="r" t="t"/>
              <a:pathLst>
                <a:path extrusionOk="0" h="1737360" w="2697479">
                  <a:moveTo>
                    <a:pt x="2697479" y="1737359"/>
                  </a:moveTo>
                  <a:lnTo>
                    <a:pt x="0" y="1737359"/>
                  </a:lnTo>
                  <a:lnTo>
                    <a:pt x="0" y="0"/>
                  </a:lnTo>
                  <a:lnTo>
                    <a:pt x="2697479" y="0"/>
                  </a:lnTo>
                  <a:lnTo>
                    <a:pt x="2697479" y="1737359"/>
                  </a:lnTo>
                  <a:close/>
                </a:path>
              </a:pathLst>
            </a:custGeom>
            <a:solidFill>
              <a:srgbClr val="1B2A3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15"/>
            <p:cNvSpPr/>
            <p:nvPr/>
          </p:nvSpPr>
          <p:spPr>
            <a:xfrm>
              <a:off x="4224528" y="2971799"/>
              <a:ext cx="640080" cy="640080"/>
            </a:xfrm>
            <a:custGeom>
              <a:rect b="b" l="l" r="r" t="t"/>
              <a:pathLst>
                <a:path extrusionOk="0" h="640079" w="640079">
                  <a:moveTo>
                    <a:pt x="320039" y="640079"/>
                  </a:moveTo>
                  <a:lnTo>
                    <a:pt x="272746" y="636609"/>
                  </a:lnTo>
                  <a:lnTo>
                    <a:pt x="227608" y="626529"/>
                  </a:lnTo>
                  <a:lnTo>
                    <a:pt x="185119" y="610334"/>
                  </a:lnTo>
                  <a:lnTo>
                    <a:pt x="145774" y="588519"/>
                  </a:lnTo>
                  <a:lnTo>
                    <a:pt x="110070" y="561579"/>
                  </a:lnTo>
                  <a:lnTo>
                    <a:pt x="78500" y="530009"/>
                  </a:lnTo>
                  <a:lnTo>
                    <a:pt x="51560" y="494305"/>
                  </a:lnTo>
                  <a:lnTo>
                    <a:pt x="29745" y="454960"/>
                  </a:lnTo>
                  <a:lnTo>
                    <a:pt x="13550" y="412471"/>
                  </a:lnTo>
                  <a:lnTo>
                    <a:pt x="3470" y="367333"/>
                  </a:lnTo>
                  <a:lnTo>
                    <a:pt x="0" y="320039"/>
                  </a:lnTo>
                  <a:lnTo>
                    <a:pt x="3470" y="272746"/>
                  </a:lnTo>
                  <a:lnTo>
                    <a:pt x="13550" y="227608"/>
                  </a:lnTo>
                  <a:lnTo>
                    <a:pt x="29745" y="185119"/>
                  </a:lnTo>
                  <a:lnTo>
                    <a:pt x="51560" y="145774"/>
                  </a:lnTo>
                  <a:lnTo>
                    <a:pt x="78500" y="110070"/>
                  </a:lnTo>
                  <a:lnTo>
                    <a:pt x="110070" y="78500"/>
                  </a:lnTo>
                  <a:lnTo>
                    <a:pt x="145774" y="51560"/>
                  </a:lnTo>
                  <a:lnTo>
                    <a:pt x="185119" y="29745"/>
                  </a:lnTo>
                  <a:lnTo>
                    <a:pt x="227608" y="13550"/>
                  </a:lnTo>
                  <a:lnTo>
                    <a:pt x="272746" y="3470"/>
                  </a:lnTo>
                  <a:lnTo>
                    <a:pt x="320039" y="0"/>
                  </a:lnTo>
                  <a:lnTo>
                    <a:pt x="370407" y="3986"/>
                  </a:lnTo>
                  <a:lnTo>
                    <a:pt x="419081" y="15710"/>
                  </a:lnTo>
                  <a:lnTo>
                    <a:pt x="465201" y="34813"/>
                  </a:lnTo>
                  <a:lnTo>
                    <a:pt x="507907" y="60941"/>
                  </a:lnTo>
                  <a:lnTo>
                    <a:pt x="546342" y="93737"/>
                  </a:lnTo>
                  <a:lnTo>
                    <a:pt x="579138" y="132171"/>
                  </a:lnTo>
                  <a:lnTo>
                    <a:pt x="605266" y="174878"/>
                  </a:lnTo>
                  <a:lnTo>
                    <a:pt x="624369" y="220998"/>
                  </a:lnTo>
                  <a:lnTo>
                    <a:pt x="636092" y="269672"/>
                  </a:lnTo>
                  <a:lnTo>
                    <a:pt x="640079" y="320039"/>
                  </a:lnTo>
                  <a:lnTo>
                    <a:pt x="636609" y="367333"/>
                  </a:lnTo>
                  <a:lnTo>
                    <a:pt x="626529" y="412471"/>
                  </a:lnTo>
                  <a:lnTo>
                    <a:pt x="610334" y="454960"/>
                  </a:lnTo>
                  <a:lnTo>
                    <a:pt x="588519" y="494305"/>
                  </a:lnTo>
                  <a:lnTo>
                    <a:pt x="561579" y="530009"/>
                  </a:lnTo>
                  <a:lnTo>
                    <a:pt x="530009" y="561579"/>
                  </a:lnTo>
                  <a:lnTo>
                    <a:pt x="494304" y="588519"/>
                  </a:lnTo>
                  <a:lnTo>
                    <a:pt x="454960" y="610334"/>
                  </a:lnTo>
                  <a:lnTo>
                    <a:pt x="412471" y="626529"/>
                  </a:lnTo>
                  <a:lnTo>
                    <a:pt x="367333" y="636609"/>
                  </a:lnTo>
                  <a:lnTo>
                    <a:pt x="320039" y="640079"/>
                  </a:lnTo>
                  <a:close/>
                </a:path>
              </a:pathLst>
            </a:custGeom>
            <a:solidFill>
              <a:srgbClr val="8E44A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15"/>
            <p:cNvSpPr/>
            <p:nvPr/>
          </p:nvSpPr>
          <p:spPr>
            <a:xfrm>
              <a:off x="4224528" y="2971799"/>
              <a:ext cx="640080" cy="640080"/>
            </a:xfrm>
            <a:custGeom>
              <a:rect b="b" l="l" r="r" t="t"/>
              <a:pathLst>
                <a:path extrusionOk="0" h="640079" w="640079">
                  <a:moveTo>
                    <a:pt x="0" y="320039"/>
                  </a:moveTo>
                  <a:lnTo>
                    <a:pt x="3470" y="272746"/>
                  </a:lnTo>
                  <a:lnTo>
                    <a:pt x="13550" y="227608"/>
                  </a:lnTo>
                  <a:lnTo>
                    <a:pt x="29745" y="185119"/>
                  </a:lnTo>
                  <a:lnTo>
                    <a:pt x="51560" y="145774"/>
                  </a:lnTo>
                  <a:lnTo>
                    <a:pt x="78500" y="110070"/>
                  </a:lnTo>
                  <a:lnTo>
                    <a:pt x="110070" y="78500"/>
                  </a:lnTo>
                  <a:lnTo>
                    <a:pt x="145774" y="51560"/>
                  </a:lnTo>
                  <a:lnTo>
                    <a:pt x="185119" y="29745"/>
                  </a:lnTo>
                  <a:lnTo>
                    <a:pt x="227608" y="13550"/>
                  </a:lnTo>
                  <a:lnTo>
                    <a:pt x="272746" y="3470"/>
                  </a:lnTo>
                  <a:lnTo>
                    <a:pt x="320039" y="0"/>
                  </a:lnTo>
                  <a:lnTo>
                    <a:pt x="370407" y="3986"/>
                  </a:lnTo>
                  <a:lnTo>
                    <a:pt x="419081" y="15710"/>
                  </a:lnTo>
                  <a:lnTo>
                    <a:pt x="465201" y="34813"/>
                  </a:lnTo>
                  <a:lnTo>
                    <a:pt x="507907" y="60941"/>
                  </a:lnTo>
                  <a:lnTo>
                    <a:pt x="546342" y="93737"/>
                  </a:lnTo>
                  <a:lnTo>
                    <a:pt x="579138" y="132171"/>
                  </a:lnTo>
                  <a:lnTo>
                    <a:pt x="605266" y="174878"/>
                  </a:lnTo>
                  <a:lnTo>
                    <a:pt x="624369" y="220998"/>
                  </a:lnTo>
                  <a:lnTo>
                    <a:pt x="636092" y="269672"/>
                  </a:lnTo>
                  <a:lnTo>
                    <a:pt x="640079" y="320039"/>
                  </a:lnTo>
                  <a:lnTo>
                    <a:pt x="636609" y="367333"/>
                  </a:lnTo>
                  <a:lnTo>
                    <a:pt x="626529" y="412471"/>
                  </a:lnTo>
                  <a:lnTo>
                    <a:pt x="610334" y="454960"/>
                  </a:lnTo>
                  <a:lnTo>
                    <a:pt x="588519" y="494305"/>
                  </a:lnTo>
                  <a:lnTo>
                    <a:pt x="561579" y="530009"/>
                  </a:lnTo>
                  <a:lnTo>
                    <a:pt x="530009" y="561579"/>
                  </a:lnTo>
                  <a:lnTo>
                    <a:pt x="494304" y="588519"/>
                  </a:lnTo>
                  <a:lnTo>
                    <a:pt x="454960" y="610334"/>
                  </a:lnTo>
                  <a:lnTo>
                    <a:pt x="412471" y="626529"/>
                  </a:lnTo>
                  <a:lnTo>
                    <a:pt x="367333" y="636609"/>
                  </a:lnTo>
                  <a:lnTo>
                    <a:pt x="320039" y="640079"/>
                  </a:lnTo>
                  <a:lnTo>
                    <a:pt x="272746" y="636609"/>
                  </a:lnTo>
                  <a:lnTo>
                    <a:pt x="227608" y="626529"/>
                  </a:lnTo>
                  <a:lnTo>
                    <a:pt x="185119" y="610334"/>
                  </a:lnTo>
                  <a:lnTo>
                    <a:pt x="145774" y="588519"/>
                  </a:lnTo>
                  <a:lnTo>
                    <a:pt x="110070" y="561579"/>
                  </a:lnTo>
                  <a:lnTo>
                    <a:pt x="78500" y="530009"/>
                  </a:lnTo>
                  <a:lnTo>
                    <a:pt x="51560" y="494305"/>
                  </a:lnTo>
                  <a:lnTo>
                    <a:pt x="29745" y="454960"/>
                  </a:lnTo>
                  <a:lnTo>
                    <a:pt x="13550" y="412471"/>
                  </a:lnTo>
                  <a:lnTo>
                    <a:pt x="3470" y="367333"/>
                  </a:lnTo>
                  <a:lnTo>
                    <a:pt x="0" y="320039"/>
                  </a:lnTo>
                  <a:close/>
                </a:path>
              </a:pathLst>
            </a:custGeom>
            <a:noFill/>
            <a:ln cap="flat" cmpd="sng" w="12675">
              <a:solidFill>
                <a:srgbClr val="8E44A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69" name="Google Shape;369;p1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386500" y="3147727"/>
              <a:ext cx="316136" cy="29753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0" name="Google Shape;370;p15"/>
          <p:cNvSpPr txBox="1"/>
          <p:nvPr/>
        </p:nvSpPr>
        <p:spPr>
          <a:xfrm>
            <a:off x="3212338" y="2874010"/>
            <a:ext cx="2710180" cy="1750060"/>
          </a:xfrm>
          <a:prstGeom prst="rect">
            <a:avLst/>
          </a:prstGeom>
          <a:noFill/>
          <a:ln cap="flat" cmpd="sng" w="9525">
            <a:solidFill>
              <a:srgbClr val="1B2A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8E44AD"/>
                </a:solidFill>
                <a:latin typeface="Calibri"/>
                <a:ea typeface="Calibri"/>
                <a:cs typeface="Calibri"/>
                <a:sym typeface="Calibri"/>
              </a:rPr>
              <a:t>Climate Relevance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405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219710" marR="21336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UHI drives nocturnal trapping — direct link to urban climate</a:t>
            </a:r>
            <a:endParaRPr sz="85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1" name="Google Shape;371;p15"/>
          <p:cNvGrpSpPr/>
          <p:nvPr/>
        </p:nvGrpSpPr>
        <p:grpSpPr>
          <a:xfrm>
            <a:off x="5936725" y="2799351"/>
            <a:ext cx="2913380" cy="1953260"/>
            <a:chOff x="5936725" y="2799351"/>
            <a:chExt cx="2913380" cy="1953260"/>
          </a:xfrm>
        </p:grpSpPr>
        <p:pic>
          <p:nvPicPr>
            <p:cNvPr id="372" name="Google Shape;372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936725" y="2799351"/>
              <a:ext cx="2913380" cy="19532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3" name="Google Shape;373;p15"/>
            <p:cNvSpPr/>
            <p:nvPr/>
          </p:nvSpPr>
          <p:spPr>
            <a:xfrm>
              <a:off x="6071615" y="2880359"/>
              <a:ext cx="2697480" cy="1737360"/>
            </a:xfrm>
            <a:custGeom>
              <a:rect b="b" l="l" r="r" t="t"/>
              <a:pathLst>
                <a:path extrusionOk="0" h="1737360" w="2697479">
                  <a:moveTo>
                    <a:pt x="2697479" y="1737359"/>
                  </a:moveTo>
                  <a:lnTo>
                    <a:pt x="0" y="1737359"/>
                  </a:lnTo>
                  <a:lnTo>
                    <a:pt x="0" y="0"/>
                  </a:lnTo>
                  <a:lnTo>
                    <a:pt x="2697479" y="0"/>
                  </a:lnTo>
                  <a:lnTo>
                    <a:pt x="2697479" y="1737359"/>
                  </a:lnTo>
                  <a:close/>
                </a:path>
              </a:pathLst>
            </a:custGeom>
            <a:solidFill>
              <a:srgbClr val="1B2A3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15"/>
            <p:cNvSpPr/>
            <p:nvPr/>
          </p:nvSpPr>
          <p:spPr>
            <a:xfrm>
              <a:off x="7077456" y="2971799"/>
              <a:ext cx="640080" cy="640080"/>
            </a:xfrm>
            <a:custGeom>
              <a:rect b="b" l="l" r="r" t="t"/>
              <a:pathLst>
                <a:path extrusionOk="0" h="640079" w="640079">
                  <a:moveTo>
                    <a:pt x="320039" y="640079"/>
                  </a:moveTo>
                  <a:lnTo>
                    <a:pt x="272746" y="636609"/>
                  </a:lnTo>
                  <a:lnTo>
                    <a:pt x="227608" y="626529"/>
                  </a:lnTo>
                  <a:lnTo>
                    <a:pt x="185119" y="610334"/>
                  </a:lnTo>
                  <a:lnTo>
                    <a:pt x="145774" y="588519"/>
                  </a:lnTo>
                  <a:lnTo>
                    <a:pt x="110070" y="561579"/>
                  </a:lnTo>
                  <a:lnTo>
                    <a:pt x="78500" y="530009"/>
                  </a:lnTo>
                  <a:lnTo>
                    <a:pt x="51560" y="494305"/>
                  </a:lnTo>
                  <a:lnTo>
                    <a:pt x="29745" y="454960"/>
                  </a:lnTo>
                  <a:lnTo>
                    <a:pt x="13550" y="412471"/>
                  </a:lnTo>
                  <a:lnTo>
                    <a:pt x="3470" y="367333"/>
                  </a:lnTo>
                  <a:lnTo>
                    <a:pt x="0" y="320039"/>
                  </a:lnTo>
                  <a:lnTo>
                    <a:pt x="3470" y="272746"/>
                  </a:lnTo>
                  <a:lnTo>
                    <a:pt x="13550" y="227608"/>
                  </a:lnTo>
                  <a:lnTo>
                    <a:pt x="29745" y="185119"/>
                  </a:lnTo>
                  <a:lnTo>
                    <a:pt x="51560" y="145774"/>
                  </a:lnTo>
                  <a:lnTo>
                    <a:pt x="78500" y="110070"/>
                  </a:lnTo>
                  <a:lnTo>
                    <a:pt x="110070" y="78500"/>
                  </a:lnTo>
                  <a:lnTo>
                    <a:pt x="145774" y="51560"/>
                  </a:lnTo>
                  <a:lnTo>
                    <a:pt x="185119" y="29745"/>
                  </a:lnTo>
                  <a:lnTo>
                    <a:pt x="227608" y="13550"/>
                  </a:lnTo>
                  <a:lnTo>
                    <a:pt x="272746" y="3470"/>
                  </a:lnTo>
                  <a:lnTo>
                    <a:pt x="320039" y="0"/>
                  </a:lnTo>
                  <a:lnTo>
                    <a:pt x="370407" y="3986"/>
                  </a:lnTo>
                  <a:lnTo>
                    <a:pt x="419080" y="15710"/>
                  </a:lnTo>
                  <a:lnTo>
                    <a:pt x="465201" y="34813"/>
                  </a:lnTo>
                  <a:lnTo>
                    <a:pt x="507908" y="60941"/>
                  </a:lnTo>
                  <a:lnTo>
                    <a:pt x="546342" y="93737"/>
                  </a:lnTo>
                  <a:lnTo>
                    <a:pt x="579138" y="132171"/>
                  </a:lnTo>
                  <a:lnTo>
                    <a:pt x="605266" y="174878"/>
                  </a:lnTo>
                  <a:lnTo>
                    <a:pt x="624369" y="220998"/>
                  </a:lnTo>
                  <a:lnTo>
                    <a:pt x="636092" y="269672"/>
                  </a:lnTo>
                  <a:lnTo>
                    <a:pt x="640079" y="320039"/>
                  </a:lnTo>
                  <a:lnTo>
                    <a:pt x="636609" y="367333"/>
                  </a:lnTo>
                  <a:lnTo>
                    <a:pt x="626529" y="412471"/>
                  </a:lnTo>
                  <a:lnTo>
                    <a:pt x="610334" y="454960"/>
                  </a:lnTo>
                  <a:lnTo>
                    <a:pt x="588519" y="494305"/>
                  </a:lnTo>
                  <a:lnTo>
                    <a:pt x="561579" y="530009"/>
                  </a:lnTo>
                  <a:lnTo>
                    <a:pt x="530009" y="561579"/>
                  </a:lnTo>
                  <a:lnTo>
                    <a:pt x="494304" y="588519"/>
                  </a:lnTo>
                  <a:lnTo>
                    <a:pt x="454960" y="610334"/>
                  </a:lnTo>
                  <a:lnTo>
                    <a:pt x="412471" y="626529"/>
                  </a:lnTo>
                  <a:lnTo>
                    <a:pt x="367332" y="636609"/>
                  </a:lnTo>
                  <a:lnTo>
                    <a:pt x="320039" y="640079"/>
                  </a:lnTo>
                  <a:close/>
                </a:path>
              </a:pathLst>
            </a:custGeom>
            <a:solidFill>
              <a:srgbClr val="BDC3C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15"/>
            <p:cNvSpPr/>
            <p:nvPr/>
          </p:nvSpPr>
          <p:spPr>
            <a:xfrm>
              <a:off x="7077456" y="2971799"/>
              <a:ext cx="640080" cy="640080"/>
            </a:xfrm>
            <a:custGeom>
              <a:rect b="b" l="l" r="r" t="t"/>
              <a:pathLst>
                <a:path extrusionOk="0" h="640079" w="640079">
                  <a:moveTo>
                    <a:pt x="0" y="320039"/>
                  </a:moveTo>
                  <a:lnTo>
                    <a:pt x="3470" y="272746"/>
                  </a:lnTo>
                  <a:lnTo>
                    <a:pt x="13550" y="227608"/>
                  </a:lnTo>
                  <a:lnTo>
                    <a:pt x="29745" y="185119"/>
                  </a:lnTo>
                  <a:lnTo>
                    <a:pt x="51560" y="145774"/>
                  </a:lnTo>
                  <a:lnTo>
                    <a:pt x="78500" y="110070"/>
                  </a:lnTo>
                  <a:lnTo>
                    <a:pt x="110070" y="78500"/>
                  </a:lnTo>
                  <a:lnTo>
                    <a:pt x="145774" y="51560"/>
                  </a:lnTo>
                  <a:lnTo>
                    <a:pt x="185119" y="29745"/>
                  </a:lnTo>
                  <a:lnTo>
                    <a:pt x="227608" y="13550"/>
                  </a:lnTo>
                  <a:lnTo>
                    <a:pt x="272746" y="3470"/>
                  </a:lnTo>
                  <a:lnTo>
                    <a:pt x="320039" y="0"/>
                  </a:lnTo>
                  <a:lnTo>
                    <a:pt x="370407" y="3986"/>
                  </a:lnTo>
                  <a:lnTo>
                    <a:pt x="419080" y="15710"/>
                  </a:lnTo>
                  <a:lnTo>
                    <a:pt x="465201" y="34813"/>
                  </a:lnTo>
                  <a:lnTo>
                    <a:pt x="507908" y="60941"/>
                  </a:lnTo>
                  <a:lnTo>
                    <a:pt x="546342" y="93737"/>
                  </a:lnTo>
                  <a:lnTo>
                    <a:pt x="579138" y="132171"/>
                  </a:lnTo>
                  <a:lnTo>
                    <a:pt x="605266" y="174878"/>
                  </a:lnTo>
                  <a:lnTo>
                    <a:pt x="624369" y="220998"/>
                  </a:lnTo>
                  <a:lnTo>
                    <a:pt x="636092" y="269672"/>
                  </a:lnTo>
                  <a:lnTo>
                    <a:pt x="640079" y="320039"/>
                  </a:lnTo>
                  <a:lnTo>
                    <a:pt x="636609" y="367333"/>
                  </a:lnTo>
                  <a:lnTo>
                    <a:pt x="626529" y="412471"/>
                  </a:lnTo>
                  <a:lnTo>
                    <a:pt x="610334" y="454960"/>
                  </a:lnTo>
                  <a:lnTo>
                    <a:pt x="588519" y="494305"/>
                  </a:lnTo>
                  <a:lnTo>
                    <a:pt x="561579" y="530009"/>
                  </a:lnTo>
                  <a:lnTo>
                    <a:pt x="530009" y="561579"/>
                  </a:lnTo>
                  <a:lnTo>
                    <a:pt x="494304" y="588519"/>
                  </a:lnTo>
                  <a:lnTo>
                    <a:pt x="454960" y="610334"/>
                  </a:lnTo>
                  <a:lnTo>
                    <a:pt x="412471" y="626529"/>
                  </a:lnTo>
                  <a:lnTo>
                    <a:pt x="367332" y="636609"/>
                  </a:lnTo>
                  <a:lnTo>
                    <a:pt x="320039" y="640079"/>
                  </a:lnTo>
                  <a:lnTo>
                    <a:pt x="272746" y="636609"/>
                  </a:lnTo>
                  <a:lnTo>
                    <a:pt x="227608" y="626529"/>
                  </a:lnTo>
                  <a:lnTo>
                    <a:pt x="185119" y="610334"/>
                  </a:lnTo>
                  <a:lnTo>
                    <a:pt x="145774" y="588519"/>
                  </a:lnTo>
                  <a:lnTo>
                    <a:pt x="110070" y="561579"/>
                  </a:lnTo>
                  <a:lnTo>
                    <a:pt x="78500" y="530009"/>
                  </a:lnTo>
                  <a:lnTo>
                    <a:pt x="51560" y="494305"/>
                  </a:lnTo>
                  <a:lnTo>
                    <a:pt x="29745" y="454960"/>
                  </a:lnTo>
                  <a:lnTo>
                    <a:pt x="13550" y="412471"/>
                  </a:lnTo>
                  <a:lnTo>
                    <a:pt x="3470" y="367333"/>
                  </a:lnTo>
                  <a:lnTo>
                    <a:pt x="0" y="320039"/>
                  </a:lnTo>
                  <a:close/>
                </a:path>
              </a:pathLst>
            </a:custGeom>
            <a:noFill/>
            <a:ln cap="flat" cmpd="sng" w="12675">
              <a:solidFill>
                <a:srgbClr val="BDC3C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76" name="Google Shape;376;p1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239428" y="3147727"/>
              <a:ext cx="316136" cy="29753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7" name="Google Shape;377;p15"/>
          <p:cNvSpPr txBox="1"/>
          <p:nvPr/>
        </p:nvSpPr>
        <p:spPr>
          <a:xfrm>
            <a:off x="6065265" y="2874010"/>
            <a:ext cx="2710180" cy="1750060"/>
          </a:xfrm>
          <a:prstGeom prst="rect">
            <a:avLst/>
          </a:prstGeom>
          <a:noFill/>
          <a:ln cap="flat" cmpd="sng" w="9525">
            <a:solidFill>
              <a:srgbClr val="1B2A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BDC3C7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405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312420" marR="305435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ECF0F1"/>
                </a:solidFill>
                <a:latin typeface="Calibri"/>
                <a:ea typeface="Calibri"/>
                <a:cs typeface="Calibri"/>
                <a:sym typeface="Calibri"/>
              </a:rPr>
              <a:t>GEE satellite AOD integration + LSTM multi-step forecasting</a:t>
            </a:r>
            <a:endParaRPr sz="8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5"/>
          <p:cNvSpPr txBox="1"/>
          <p:nvPr/>
        </p:nvSpPr>
        <p:spPr>
          <a:xfrm>
            <a:off x="3838533" y="4744211"/>
            <a:ext cx="1466850" cy="1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ABB9B"/>
                </a:solidFill>
                <a:latin typeface="Calibri"/>
                <a:ea typeface="Calibri"/>
                <a:cs typeface="Calibri"/>
                <a:sym typeface="Calibri"/>
              </a:rPr>
              <a:t>Thank You • Questions?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